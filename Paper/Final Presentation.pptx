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34"/>
  </p:notesMasterIdLst>
  <p:sldIdLst>
    <p:sldId id="256" r:id="rId2"/>
    <p:sldId id="257" r:id="rId3"/>
    <p:sldId id="277" r:id="rId4"/>
    <p:sldId id="285" r:id="rId5"/>
    <p:sldId id="258" r:id="rId6"/>
    <p:sldId id="259" r:id="rId7"/>
    <p:sldId id="260" r:id="rId8"/>
    <p:sldId id="261" r:id="rId9"/>
    <p:sldId id="262" r:id="rId10"/>
    <p:sldId id="263" r:id="rId11"/>
    <p:sldId id="265" r:id="rId12"/>
    <p:sldId id="264" r:id="rId13"/>
    <p:sldId id="286" r:id="rId14"/>
    <p:sldId id="266" r:id="rId15"/>
    <p:sldId id="267" r:id="rId16"/>
    <p:sldId id="279" r:id="rId17"/>
    <p:sldId id="268" r:id="rId18"/>
    <p:sldId id="269" r:id="rId19"/>
    <p:sldId id="270" r:id="rId20"/>
    <p:sldId id="282" r:id="rId21"/>
    <p:sldId id="283" r:id="rId22"/>
    <p:sldId id="284" r:id="rId23"/>
    <p:sldId id="287" r:id="rId24"/>
    <p:sldId id="288" r:id="rId25"/>
    <p:sldId id="289" r:id="rId26"/>
    <p:sldId id="290" r:id="rId27"/>
    <p:sldId id="291" r:id="rId28"/>
    <p:sldId id="292" r:id="rId29"/>
    <p:sldId id="293" r:id="rId30"/>
    <p:sldId id="294" r:id="rId31"/>
    <p:sldId id="275" r:id="rId32"/>
    <p:sldId id="27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692"/>
    <p:restoredTop sz="94598"/>
  </p:normalViewPr>
  <p:slideViewPr>
    <p:cSldViewPr snapToGrid="0">
      <p:cViewPr varScale="1">
        <p:scale>
          <a:sx n="151" d="100"/>
          <a:sy n="151" d="100"/>
        </p:scale>
        <p:origin x="14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3.png"/></Relationships>
</file>

<file path=ppt/diagrams/_rels/data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3.png"/></Relationships>
</file>

<file path=ppt/diagrams/_rels/drawing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93F43C-5F64-4C72-912D-A3D1FFF4147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42F6B5D-0160-4577-AFB2-5A0FF7E3E0E0}">
      <dgm:prSet/>
      <dgm:spPr/>
      <dgm:t>
        <a:bodyPr/>
        <a:lstStyle/>
        <a:p>
          <a:r>
            <a:rPr lang="en-US" dirty="0"/>
            <a:t>Different Sharding Techniques (Previous Work)</a:t>
          </a:r>
        </a:p>
      </dgm:t>
    </dgm:pt>
    <dgm:pt modelId="{547A6CAF-2237-4AF8-A25D-B86DDE8CAA3F}" type="parTrans" cxnId="{33DDF613-3B84-4ED8-AEB0-29F7A3819E98}">
      <dgm:prSet/>
      <dgm:spPr/>
      <dgm:t>
        <a:bodyPr/>
        <a:lstStyle/>
        <a:p>
          <a:endParaRPr lang="en-US"/>
        </a:p>
      </dgm:t>
    </dgm:pt>
    <dgm:pt modelId="{0217B84B-ECB5-4090-AD98-3F66F3882DC9}" type="sibTrans" cxnId="{33DDF613-3B84-4ED8-AEB0-29F7A3819E98}">
      <dgm:prSet/>
      <dgm:spPr/>
      <dgm:t>
        <a:bodyPr/>
        <a:lstStyle/>
        <a:p>
          <a:endParaRPr lang="en-US"/>
        </a:p>
      </dgm:t>
    </dgm:pt>
    <dgm:pt modelId="{BD23E229-667D-D94C-A4BC-91F884BE48F7}">
      <dgm:prSet/>
      <dgm:spPr/>
      <dgm:t>
        <a:bodyPr/>
        <a:lstStyle/>
        <a:p>
          <a:r>
            <a:rPr lang="en-US" dirty="0"/>
            <a:t>Our Approach - Introduction</a:t>
          </a:r>
        </a:p>
      </dgm:t>
    </dgm:pt>
    <dgm:pt modelId="{AF382037-774B-CC43-BE90-7951340E2D0E}" type="parTrans" cxnId="{2A844506-17ED-D947-8240-80102E10BD0F}">
      <dgm:prSet/>
      <dgm:spPr/>
      <dgm:t>
        <a:bodyPr/>
        <a:lstStyle/>
        <a:p>
          <a:endParaRPr lang="en-US"/>
        </a:p>
      </dgm:t>
    </dgm:pt>
    <dgm:pt modelId="{077D5E88-A08A-F248-8488-A6F14D9B2B07}" type="sibTrans" cxnId="{2A844506-17ED-D947-8240-80102E10BD0F}">
      <dgm:prSet/>
      <dgm:spPr/>
      <dgm:t>
        <a:bodyPr/>
        <a:lstStyle/>
        <a:p>
          <a:endParaRPr lang="en-US"/>
        </a:p>
      </dgm:t>
    </dgm:pt>
    <dgm:pt modelId="{6CDA2974-8F3F-464C-9B81-13310352733B}">
      <dgm:prSet/>
      <dgm:spPr/>
      <dgm:t>
        <a:bodyPr/>
        <a:lstStyle/>
        <a:p>
          <a:r>
            <a:rPr lang="en-US" dirty="0"/>
            <a:t>Our Approach - Design</a:t>
          </a:r>
        </a:p>
      </dgm:t>
    </dgm:pt>
    <dgm:pt modelId="{2CD8D7C5-1ED9-274F-B765-840D62261055}" type="parTrans" cxnId="{7810C138-2361-0B42-87BC-C5FF632DD028}">
      <dgm:prSet/>
      <dgm:spPr/>
      <dgm:t>
        <a:bodyPr/>
        <a:lstStyle/>
        <a:p>
          <a:endParaRPr lang="en-US"/>
        </a:p>
      </dgm:t>
    </dgm:pt>
    <dgm:pt modelId="{874468A7-2C8A-1747-A504-EA7967D9C1F5}" type="sibTrans" cxnId="{7810C138-2361-0B42-87BC-C5FF632DD028}">
      <dgm:prSet/>
      <dgm:spPr/>
      <dgm:t>
        <a:bodyPr/>
        <a:lstStyle/>
        <a:p>
          <a:endParaRPr lang="en-US"/>
        </a:p>
      </dgm:t>
    </dgm:pt>
    <dgm:pt modelId="{A5CBE1C3-EE8B-4146-9467-B9BE339AAD78}">
      <dgm:prSet/>
      <dgm:spPr/>
      <dgm:t>
        <a:bodyPr/>
        <a:lstStyle/>
        <a:p>
          <a:r>
            <a:rPr lang="en-US" dirty="0"/>
            <a:t>Results of Simulation - MEMO Blockchain</a:t>
          </a:r>
        </a:p>
      </dgm:t>
    </dgm:pt>
    <dgm:pt modelId="{D09ED121-4A6A-064F-99AE-0B27AFD560CE}" type="parTrans" cxnId="{ADA9FE81-3FAB-F049-8B39-D7206E1D3AED}">
      <dgm:prSet/>
      <dgm:spPr/>
      <dgm:t>
        <a:bodyPr/>
        <a:lstStyle/>
        <a:p>
          <a:endParaRPr lang="en-US"/>
        </a:p>
      </dgm:t>
    </dgm:pt>
    <dgm:pt modelId="{D3AC8D48-23CB-CD4C-A8CC-D843353C02AF}" type="sibTrans" cxnId="{ADA9FE81-3FAB-F049-8B39-D7206E1D3AED}">
      <dgm:prSet/>
      <dgm:spPr/>
      <dgm:t>
        <a:bodyPr/>
        <a:lstStyle/>
        <a:p>
          <a:endParaRPr lang="en-US"/>
        </a:p>
      </dgm:t>
    </dgm:pt>
    <dgm:pt modelId="{066912EB-0EF6-6549-B831-D2A93AB03E5A}">
      <dgm:prSet/>
      <dgm:spPr/>
      <dgm:t>
        <a:bodyPr/>
        <a:lstStyle/>
        <a:p>
          <a:r>
            <a:rPr lang="en-US" dirty="0"/>
            <a:t>Future Work</a:t>
          </a:r>
        </a:p>
      </dgm:t>
    </dgm:pt>
    <dgm:pt modelId="{D6A7660C-B01E-6549-AE9E-EB3D5C540D25}" type="parTrans" cxnId="{C207D269-73E8-654E-A0A1-9AFD1C68BAE2}">
      <dgm:prSet/>
      <dgm:spPr/>
      <dgm:t>
        <a:bodyPr/>
        <a:lstStyle/>
        <a:p>
          <a:endParaRPr lang="en-US"/>
        </a:p>
      </dgm:t>
    </dgm:pt>
    <dgm:pt modelId="{51CDFE0E-FB0B-9946-9D71-7EEA1C9D9F09}" type="sibTrans" cxnId="{C207D269-73E8-654E-A0A1-9AFD1C68BAE2}">
      <dgm:prSet/>
      <dgm:spPr/>
      <dgm:t>
        <a:bodyPr/>
        <a:lstStyle/>
        <a:p>
          <a:endParaRPr lang="en-US"/>
        </a:p>
      </dgm:t>
    </dgm:pt>
    <dgm:pt modelId="{427CE78B-7A5E-7E41-B49F-DDD9A80BD488}">
      <dgm:prSet/>
      <dgm:spPr/>
      <dgm:t>
        <a:bodyPr/>
        <a:lstStyle/>
        <a:p>
          <a:r>
            <a:rPr lang="en-US" dirty="0"/>
            <a:t>What is blockchain Sharding</a:t>
          </a:r>
        </a:p>
      </dgm:t>
    </dgm:pt>
    <dgm:pt modelId="{2EA4D9EE-C543-C547-B686-797FE2136265}" type="parTrans" cxnId="{9B2636CD-5793-B340-B4E7-DFD1EDA80900}">
      <dgm:prSet/>
      <dgm:spPr/>
      <dgm:t>
        <a:bodyPr/>
        <a:lstStyle/>
        <a:p>
          <a:endParaRPr lang="en-US"/>
        </a:p>
      </dgm:t>
    </dgm:pt>
    <dgm:pt modelId="{8B34CA94-E046-074D-B057-F3E7D9BCB0F7}" type="sibTrans" cxnId="{9B2636CD-5793-B340-B4E7-DFD1EDA80900}">
      <dgm:prSet/>
      <dgm:spPr/>
      <dgm:t>
        <a:bodyPr/>
        <a:lstStyle/>
        <a:p>
          <a:endParaRPr lang="en-US"/>
        </a:p>
      </dgm:t>
    </dgm:pt>
    <dgm:pt modelId="{57E05296-32A5-154E-BFCD-827094DF3837}">
      <dgm:prSet/>
      <dgm:spPr/>
      <dgm:t>
        <a:bodyPr/>
        <a:lstStyle/>
        <a:p>
          <a:r>
            <a:rPr lang="en-US" dirty="0"/>
            <a:t>Our Approach - Tool Validation</a:t>
          </a:r>
        </a:p>
      </dgm:t>
    </dgm:pt>
    <dgm:pt modelId="{AA687259-FAD1-A542-8CB4-3CF5454E3788}" type="parTrans" cxnId="{2B5B73EA-34D1-8942-BD0C-5CC7460B743D}">
      <dgm:prSet/>
      <dgm:spPr/>
      <dgm:t>
        <a:bodyPr/>
        <a:lstStyle/>
        <a:p>
          <a:endParaRPr lang="en-US"/>
        </a:p>
      </dgm:t>
    </dgm:pt>
    <dgm:pt modelId="{FC9659B3-5E12-C741-AB6D-8236A8ABDE57}" type="sibTrans" cxnId="{2B5B73EA-34D1-8942-BD0C-5CC7460B743D}">
      <dgm:prSet/>
      <dgm:spPr/>
      <dgm:t>
        <a:bodyPr/>
        <a:lstStyle/>
        <a:p>
          <a:endParaRPr lang="en-US"/>
        </a:p>
      </dgm:t>
    </dgm:pt>
    <dgm:pt modelId="{3F22DBF4-0693-364F-97F3-742C82F954A4}">
      <dgm:prSet/>
      <dgm:spPr/>
      <dgm:t>
        <a:bodyPr/>
        <a:lstStyle/>
        <a:p>
          <a:r>
            <a:rPr lang="en-US" dirty="0"/>
            <a:t>Non-sharded Comparison</a:t>
          </a:r>
        </a:p>
      </dgm:t>
    </dgm:pt>
    <dgm:pt modelId="{F8762A7B-D8BC-6D4D-84BA-8F9E62DC6B1F}" type="parTrans" cxnId="{AE63D8E5-B4DC-9847-BCCF-AE1B2FA687B2}">
      <dgm:prSet/>
      <dgm:spPr/>
      <dgm:t>
        <a:bodyPr/>
        <a:lstStyle/>
        <a:p>
          <a:endParaRPr lang="en-US"/>
        </a:p>
      </dgm:t>
    </dgm:pt>
    <dgm:pt modelId="{EAF10CC5-0697-8A43-AADE-0FBC8623CA54}" type="sibTrans" cxnId="{AE63D8E5-B4DC-9847-BCCF-AE1B2FA687B2}">
      <dgm:prSet/>
      <dgm:spPr/>
      <dgm:t>
        <a:bodyPr/>
        <a:lstStyle/>
        <a:p>
          <a:endParaRPr lang="en-US"/>
        </a:p>
      </dgm:t>
    </dgm:pt>
    <dgm:pt modelId="{5CD69F4E-06B1-A546-875D-E25A4542421D}">
      <dgm:prSet/>
      <dgm:spPr/>
      <dgm:t>
        <a:bodyPr/>
        <a:lstStyle/>
        <a:p>
          <a:r>
            <a:rPr lang="en-US" dirty="0"/>
            <a:t>Motivation</a:t>
          </a:r>
        </a:p>
      </dgm:t>
    </dgm:pt>
    <dgm:pt modelId="{C5DD9E95-23C4-944F-B357-270F8A3D3291}" type="parTrans" cxnId="{ABE8ACA6-B846-6545-99EE-25A9263E475B}">
      <dgm:prSet/>
      <dgm:spPr/>
      <dgm:t>
        <a:bodyPr/>
        <a:lstStyle/>
        <a:p>
          <a:endParaRPr lang="en-US"/>
        </a:p>
      </dgm:t>
    </dgm:pt>
    <dgm:pt modelId="{1B01CF20-6301-4149-A607-ADDEA8A07BBB}" type="sibTrans" cxnId="{ABE8ACA6-B846-6545-99EE-25A9263E475B}">
      <dgm:prSet/>
      <dgm:spPr/>
      <dgm:t>
        <a:bodyPr/>
        <a:lstStyle/>
        <a:p>
          <a:endParaRPr lang="en-US"/>
        </a:p>
      </dgm:t>
    </dgm:pt>
    <dgm:pt modelId="{473C8123-0BBB-F14C-AC05-6D68CF9A52CB}">
      <dgm:prSet/>
      <dgm:spPr/>
      <dgm:t>
        <a:bodyPr/>
        <a:lstStyle/>
        <a:p>
          <a:r>
            <a:rPr lang="en-US" dirty="0"/>
            <a:t>Our Approach - MEMO Architecture</a:t>
          </a:r>
        </a:p>
      </dgm:t>
    </dgm:pt>
    <dgm:pt modelId="{490ADF7C-2EC6-4F4E-9E1C-571F8E0A532F}" type="parTrans" cxnId="{8FC2B926-B49E-0B4B-BD35-48A26657DB2A}">
      <dgm:prSet/>
      <dgm:spPr/>
      <dgm:t>
        <a:bodyPr/>
        <a:lstStyle/>
        <a:p>
          <a:endParaRPr lang="en-US"/>
        </a:p>
      </dgm:t>
    </dgm:pt>
    <dgm:pt modelId="{C3854F45-A9A9-4041-86EC-C90AB92F7EB7}" type="sibTrans" cxnId="{8FC2B926-B49E-0B4B-BD35-48A26657DB2A}">
      <dgm:prSet/>
      <dgm:spPr/>
      <dgm:t>
        <a:bodyPr/>
        <a:lstStyle/>
        <a:p>
          <a:endParaRPr lang="en-US"/>
        </a:p>
      </dgm:t>
    </dgm:pt>
    <dgm:pt modelId="{7CD32759-689F-8045-A8D8-22AED9CC36B7}" type="pres">
      <dgm:prSet presAssocID="{C093F43C-5F64-4C72-912D-A3D1FFF41476}" presName="linear" presStyleCnt="0">
        <dgm:presLayoutVars>
          <dgm:dir/>
          <dgm:animLvl val="lvl"/>
          <dgm:resizeHandles val="exact"/>
        </dgm:presLayoutVars>
      </dgm:prSet>
      <dgm:spPr/>
    </dgm:pt>
    <dgm:pt modelId="{3166AA76-9419-E94A-B81A-770811D8C55B}" type="pres">
      <dgm:prSet presAssocID="{5CD69F4E-06B1-A546-875D-E25A4542421D}" presName="parentLin" presStyleCnt="0"/>
      <dgm:spPr/>
    </dgm:pt>
    <dgm:pt modelId="{86AA2BF6-1F0C-CC46-9054-75742ED4305D}" type="pres">
      <dgm:prSet presAssocID="{5CD69F4E-06B1-A546-875D-E25A4542421D}" presName="parentLeftMargin" presStyleLbl="node1" presStyleIdx="0" presStyleCnt="10"/>
      <dgm:spPr/>
    </dgm:pt>
    <dgm:pt modelId="{37D73F24-C90D-B54D-8391-80471F743FD3}" type="pres">
      <dgm:prSet presAssocID="{5CD69F4E-06B1-A546-875D-E25A4542421D}" presName="parentText" presStyleLbl="node1" presStyleIdx="0" presStyleCnt="10">
        <dgm:presLayoutVars>
          <dgm:chMax val="0"/>
          <dgm:bulletEnabled val="1"/>
        </dgm:presLayoutVars>
      </dgm:prSet>
      <dgm:spPr/>
    </dgm:pt>
    <dgm:pt modelId="{0A84AAB1-CDD1-4841-8638-A4DD4290428E}" type="pres">
      <dgm:prSet presAssocID="{5CD69F4E-06B1-A546-875D-E25A4542421D}" presName="negativeSpace" presStyleCnt="0"/>
      <dgm:spPr/>
    </dgm:pt>
    <dgm:pt modelId="{C6667CAA-BBC9-3047-A150-5D2AFCF1786E}" type="pres">
      <dgm:prSet presAssocID="{5CD69F4E-06B1-A546-875D-E25A4542421D}" presName="childText" presStyleLbl="conFgAcc1" presStyleIdx="0" presStyleCnt="10">
        <dgm:presLayoutVars>
          <dgm:bulletEnabled val="1"/>
        </dgm:presLayoutVars>
      </dgm:prSet>
      <dgm:spPr/>
    </dgm:pt>
    <dgm:pt modelId="{DD0F0E40-3187-A94D-A14B-216B718C7E40}" type="pres">
      <dgm:prSet presAssocID="{1B01CF20-6301-4149-A607-ADDEA8A07BBB}" presName="spaceBetweenRectangles" presStyleCnt="0"/>
      <dgm:spPr/>
    </dgm:pt>
    <dgm:pt modelId="{BC525F6C-1E0A-3143-A80A-CD6FDCC9B3BF}" type="pres">
      <dgm:prSet presAssocID="{427CE78B-7A5E-7E41-B49F-DDD9A80BD488}" presName="parentLin" presStyleCnt="0"/>
      <dgm:spPr/>
    </dgm:pt>
    <dgm:pt modelId="{775328BE-3C9D-4849-BFC3-563F61494D82}" type="pres">
      <dgm:prSet presAssocID="{427CE78B-7A5E-7E41-B49F-DDD9A80BD488}" presName="parentLeftMargin" presStyleLbl="node1" presStyleIdx="0" presStyleCnt="10"/>
      <dgm:spPr/>
    </dgm:pt>
    <dgm:pt modelId="{E5B973E4-7C08-E14F-811D-5CCE8C5784A4}" type="pres">
      <dgm:prSet presAssocID="{427CE78B-7A5E-7E41-B49F-DDD9A80BD488}" presName="parentText" presStyleLbl="node1" presStyleIdx="1" presStyleCnt="10">
        <dgm:presLayoutVars>
          <dgm:chMax val="0"/>
          <dgm:bulletEnabled val="1"/>
        </dgm:presLayoutVars>
      </dgm:prSet>
      <dgm:spPr/>
    </dgm:pt>
    <dgm:pt modelId="{28072B63-0967-7D4C-9091-726D3EABDC78}" type="pres">
      <dgm:prSet presAssocID="{427CE78B-7A5E-7E41-B49F-DDD9A80BD488}" presName="negativeSpace" presStyleCnt="0"/>
      <dgm:spPr/>
    </dgm:pt>
    <dgm:pt modelId="{2D82CE7C-9CE4-104B-A72B-987F6DCCFF29}" type="pres">
      <dgm:prSet presAssocID="{427CE78B-7A5E-7E41-B49F-DDD9A80BD488}" presName="childText" presStyleLbl="conFgAcc1" presStyleIdx="1" presStyleCnt="10">
        <dgm:presLayoutVars>
          <dgm:bulletEnabled val="1"/>
        </dgm:presLayoutVars>
      </dgm:prSet>
      <dgm:spPr/>
    </dgm:pt>
    <dgm:pt modelId="{260C9942-44C3-4D4C-890C-BEDB50F1A6B8}" type="pres">
      <dgm:prSet presAssocID="{8B34CA94-E046-074D-B057-F3E7D9BCB0F7}" presName="spaceBetweenRectangles" presStyleCnt="0"/>
      <dgm:spPr/>
    </dgm:pt>
    <dgm:pt modelId="{5178BCCA-D460-9744-8714-0307913796FC}" type="pres">
      <dgm:prSet presAssocID="{C42F6B5D-0160-4577-AFB2-5A0FF7E3E0E0}" presName="parentLin" presStyleCnt="0"/>
      <dgm:spPr/>
    </dgm:pt>
    <dgm:pt modelId="{D24BD861-D5CE-F64C-B06D-4019F4D8EC19}" type="pres">
      <dgm:prSet presAssocID="{C42F6B5D-0160-4577-AFB2-5A0FF7E3E0E0}" presName="parentLeftMargin" presStyleLbl="node1" presStyleIdx="1" presStyleCnt="10"/>
      <dgm:spPr/>
    </dgm:pt>
    <dgm:pt modelId="{DDBC9B61-E6FA-264B-802D-343CCD9815C1}" type="pres">
      <dgm:prSet presAssocID="{C42F6B5D-0160-4577-AFB2-5A0FF7E3E0E0}" presName="parentText" presStyleLbl="node1" presStyleIdx="2" presStyleCnt="10">
        <dgm:presLayoutVars>
          <dgm:chMax val="0"/>
          <dgm:bulletEnabled val="1"/>
        </dgm:presLayoutVars>
      </dgm:prSet>
      <dgm:spPr/>
    </dgm:pt>
    <dgm:pt modelId="{6367AF1E-3F1F-C74C-BEBE-5349DF963236}" type="pres">
      <dgm:prSet presAssocID="{C42F6B5D-0160-4577-AFB2-5A0FF7E3E0E0}" presName="negativeSpace" presStyleCnt="0"/>
      <dgm:spPr/>
    </dgm:pt>
    <dgm:pt modelId="{0393A57A-D099-1747-BCDE-6B0A99DAA7A6}" type="pres">
      <dgm:prSet presAssocID="{C42F6B5D-0160-4577-AFB2-5A0FF7E3E0E0}" presName="childText" presStyleLbl="conFgAcc1" presStyleIdx="2" presStyleCnt="10">
        <dgm:presLayoutVars>
          <dgm:bulletEnabled val="1"/>
        </dgm:presLayoutVars>
      </dgm:prSet>
      <dgm:spPr/>
    </dgm:pt>
    <dgm:pt modelId="{89AB72C6-104E-F745-9AE9-32AA132E9A97}" type="pres">
      <dgm:prSet presAssocID="{0217B84B-ECB5-4090-AD98-3F66F3882DC9}" presName="spaceBetweenRectangles" presStyleCnt="0"/>
      <dgm:spPr/>
    </dgm:pt>
    <dgm:pt modelId="{36653964-1543-4947-A166-82655116863A}" type="pres">
      <dgm:prSet presAssocID="{BD23E229-667D-D94C-A4BC-91F884BE48F7}" presName="parentLin" presStyleCnt="0"/>
      <dgm:spPr/>
    </dgm:pt>
    <dgm:pt modelId="{F171E06A-879C-074C-B93D-D1D8B32D2ED8}" type="pres">
      <dgm:prSet presAssocID="{BD23E229-667D-D94C-A4BC-91F884BE48F7}" presName="parentLeftMargin" presStyleLbl="node1" presStyleIdx="2" presStyleCnt="10"/>
      <dgm:spPr/>
    </dgm:pt>
    <dgm:pt modelId="{90BE4203-01B7-F04E-9B4E-AEC1E7206DFC}" type="pres">
      <dgm:prSet presAssocID="{BD23E229-667D-D94C-A4BC-91F884BE48F7}" presName="parentText" presStyleLbl="node1" presStyleIdx="3" presStyleCnt="10">
        <dgm:presLayoutVars>
          <dgm:chMax val="0"/>
          <dgm:bulletEnabled val="1"/>
        </dgm:presLayoutVars>
      </dgm:prSet>
      <dgm:spPr/>
    </dgm:pt>
    <dgm:pt modelId="{AE8A460D-8467-A441-9033-8C0C3EA032E1}" type="pres">
      <dgm:prSet presAssocID="{BD23E229-667D-D94C-A4BC-91F884BE48F7}" presName="negativeSpace" presStyleCnt="0"/>
      <dgm:spPr/>
    </dgm:pt>
    <dgm:pt modelId="{A55422D4-2B75-D44A-87BA-18A3ECA4C122}" type="pres">
      <dgm:prSet presAssocID="{BD23E229-667D-D94C-A4BC-91F884BE48F7}" presName="childText" presStyleLbl="conFgAcc1" presStyleIdx="3" presStyleCnt="10">
        <dgm:presLayoutVars>
          <dgm:bulletEnabled val="1"/>
        </dgm:presLayoutVars>
      </dgm:prSet>
      <dgm:spPr/>
    </dgm:pt>
    <dgm:pt modelId="{28C8AAC1-71CF-FF42-BFE2-9914C90B6BAC}" type="pres">
      <dgm:prSet presAssocID="{077D5E88-A08A-F248-8488-A6F14D9B2B07}" presName="spaceBetweenRectangles" presStyleCnt="0"/>
      <dgm:spPr/>
    </dgm:pt>
    <dgm:pt modelId="{FC383904-D729-AF4B-8D6A-6301858B8B14}" type="pres">
      <dgm:prSet presAssocID="{473C8123-0BBB-F14C-AC05-6D68CF9A52CB}" presName="parentLin" presStyleCnt="0"/>
      <dgm:spPr/>
    </dgm:pt>
    <dgm:pt modelId="{61F803BF-404A-654A-871C-A6CEF8F567CD}" type="pres">
      <dgm:prSet presAssocID="{473C8123-0BBB-F14C-AC05-6D68CF9A52CB}" presName="parentLeftMargin" presStyleLbl="node1" presStyleIdx="3" presStyleCnt="10"/>
      <dgm:spPr/>
    </dgm:pt>
    <dgm:pt modelId="{7C9D58CF-9964-A342-8363-0C977A626CBB}" type="pres">
      <dgm:prSet presAssocID="{473C8123-0BBB-F14C-AC05-6D68CF9A52CB}" presName="parentText" presStyleLbl="node1" presStyleIdx="4" presStyleCnt="10">
        <dgm:presLayoutVars>
          <dgm:chMax val="0"/>
          <dgm:bulletEnabled val="1"/>
        </dgm:presLayoutVars>
      </dgm:prSet>
      <dgm:spPr/>
    </dgm:pt>
    <dgm:pt modelId="{2A409845-E79E-4B43-93CD-FC27D6708550}" type="pres">
      <dgm:prSet presAssocID="{473C8123-0BBB-F14C-AC05-6D68CF9A52CB}" presName="negativeSpace" presStyleCnt="0"/>
      <dgm:spPr/>
    </dgm:pt>
    <dgm:pt modelId="{CC6AB1C7-CC18-3643-BF5C-127B801CB3FE}" type="pres">
      <dgm:prSet presAssocID="{473C8123-0BBB-F14C-AC05-6D68CF9A52CB}" presName="childText" presStyleLbl="conFgAcc1" presStyleIdx="4" presStyleCnt="10">
        <dgm:presLayoutVars>
          <dgm:bulletEnabled val="1"/>
        </dgm:presLayoutVars>
      </dgm:prSet>
      <dgm:spPr/>
    </dgm:pt>
    <dgm:pt modelId="{8C468314-06EC-0B46-A104-CF18AAF0FC23}" type="pres">
      <dgm:prSet presAssocID="{C3854F45-A9A9-4041-86EC-C90AB92F7EB7}" presName="spaceBetweenRectangles" presStyleCnt="0"/>
      <dgm:spPr/>
    </dgm:pt>
    <dgm:pt modelId="{2D6435E3-DE84-804C-9876-75BCD8EB5922}" type="pres">
      <dgm:prSet presAssocID="{6CDA2974-8F3F-464C-9B81-13310352733B}" presName="parentLin" presStyleCnt="0"/>
      <dgm:spPr/>
    </dgm:pt>
    <dgm:pt modelId="{19FB0EDC-928B-CC47-AF1B-8F20E58031DF}" type="pres">
      <dgm:prSet presAssocID="{6CDA2974-8F3F-464C-9B81-13310352733B}" presName="parentLeftMargin" presStyleLbl="node1" presStyleIdx="4" presStyleCnt="10"/>
      <dgm:spPr/>
    </dgm:pt>
    <dgm:pt modelId="{AD55BB49-26A4-044F-8C89-E1CD7B85D027}" type="pres">
      <dgm:prSet presAssocID="{6CDA2974-8F3F-464C-9B81-13310352733B}" presName="parentText" presStyleLbl="node1" presStyleIdx="5" presStyleCnt="10">
        <dgm:presLayoutVars>
          <dgm:chMax val="0"/>
          <dgm:bulletEnabled val="1"/>
        </dgm:presLayoutVars>
      </dgm:prSet>
      <dgm:spPr/>
    </dgm:pt>
    <dgm:pt modelId="{D2953D9B-C05E-6E40-B2D7-1ACBE6B610E3}" type="pres">
      <dgm:prSet presAssocID="{6CDA2974-8F3F-464C-9B81-13310352733B}" presName="negativeSpace" presStyleCnt="0"/>
      <dgm:spPr/>
    </dgm:pt>
    <dgm:pt modelId="{76CE06D4-B8F4-654D-A376-0BA9F4A261FD}" type="pres">
      <dgm:prSet presAssocID="{6CDA2974-8F3F-464C-9B81-13310352733B}" presName="childText" presStyleLbl="conFgAcc1" presStyleIdx="5" presStyleCnt="10">
        <dgm:presLayoutVars>
          <dgm:bulletEnabled val="1"/>
        </dgm:presLayoutVars>
      </dgm:prSet>
      <dgm:spPr/>
    </dgm:pt>
    <dgm:pt modelId="{8470E169-FDF4-AD45-8178-8EAF053C9100}" type="pres">
      <dgm:prSet presAssocID="{874468A7-2C8A-1747-A504-EA7967D9C1F5}" presName="spaceBetweenRectangles" presStyleCnt="0"/>
      <dgm:spPr/>
    </dgm:pt>
    <dgm:pt modelId="{8CEC6563-523F-D548-9467-1BB1CB298A78}" type="pres">
      <dgm:prSet presAssocID="{57E05296-32A5-154E-BFCD-827094DF3837}" presName="parentLin" presStyleCnt="0"/>
      <dgm:spPr/>
    </dgm:pt>
    <dgm:pt modelId="{7C27F76F-B1C3-5F4E-8E71-6AA0D5F7860E}" type="pres">
      <dgm:prSet presAssocID="{57E05296-32A5-154E-BFCD-827094DF3837}" presName="parentLeftMargin" presStyleLbl="node1" presStyleIdx="5" presStyleCnt="10"/>
      <dgm:spPr/>
    </dgm:pt>
    <dgm:pt modelId="{3CFB4F74-570E-C149-8508-20E1E642C014}" type="pres">
      <dgm:prSet presAssocID="{57E05296-32A5-154E-BFCD-827094DF3837}" presName="parentText" presStyleLbl="node1" presStyleIdx="6" presStyleCnt="10">
        <dgm:presLayoutVars>
          <dgm:chMax val="0"/>
          <dgm:bulletEnabled val="1"/>
        </dgm:presLayoutVars>
      </dgm:prSet>
      <dgm:spPr/>
    </dgm:pt>
    <dgm:pt modelId="{EEF0D2F8-5E5A-A148-AC70-8E2B76132663}" type="pres">
      <dgm:prSet presAssocID="{57E05296-32A5-154E-BFCD-827094DF3837}" presName="negativeSpace" presStyleCnt="0"/>
      <dgm:spPr/>
    </dgm:pt>
    <dgm:pt modelId="{F6E817E7-7B80-FE44-815E-A7397D4019AF}" type="pres">
      <dgm:prSet presAssocID="{57E05296-32A5-154E-BFCD-827094DF3837}" presName="childText" presStyleLbl="conFgAcc1" presStyleIdx="6" presStyleCnt="10">
        <dgm:presLayoutVars>
          <dgm:bulletEnabled val="1"/>
        </dgm:presLayoutVars>
      </dgm:prSet>
      <dgm:spPr/>
    </dgm:pt>
    <dgm:pt modelId="{D7E0242E-7A67-EF4B-BF78-FBA296459243}" type="pres">
      <dgm:prSet presAssocID="{FC9659B3-5E12-C741-AB6D-8236A8ABDE57}" presName="spaceBetweenRectangles" presStyleCnt="0"/>
      <dgm:spPr/>
    </dgm:pt>
    <dgm:pt modelId="{4255C309-334F-C34C-81AE-399AC9E4E125}" type="pres">
      <dgm:prSet presAssocID="{3F22DBF4-0693-364F-97F3-742C82F954A4}" presName="parentLin" presStyleCnt="0"/>
      <dgm:spPr/>
    </dgm:pt>
    <dgm:pt modelId="{BAD7F5D1-5C2C-9844-B919-9BB79A88753E}" type="pres">
      <dgm:prSet presAssocID="{3F22DBF4-0693-364F-97F3-742C82F954A4}" presName="parentLeftMargin" presStyleLbl="node1" presStyleIdx="6" presStyleCnt="10"/>
      <dgm:spPr/>
    </dgm:pt>
    <dgm:pt modelId="{CC22C0E1-F879-4A4A-B411-30BB45F6D617}" type="pres">
      <dgm:prSet presAssocID="{3F22DBF4-0693-364F-97F3-742C82F954A4}" presName="parentText" presStyleLbl="node1" presStyleIdx="7" presStyleCnt="10">
        <dgm:presLayoutVars>
          <dgm:chMax val="0"/>
          <dgm:bulletEnabled val="1"/>
        </dgm:presLayoutVars>
      </dgm:prSet>
      <dgm:spPr/>
    </dgm:pt>
    <dgm:pt modelId="{BE004696-4939-6949-B309-42CCFF8467A2}" type="pres">
      <dgm:prSet presAssocID="{3F22DBF4-0693-364F-97F3-742C82F954A4}" presName="negativeSpace" presStyleCnt="0"/>
      <dgm:spPr/>
    </dgm:pt>
    <dgm:pt modelId="{79F43105-C517-6446-9E99-FCE78E92078C}" type="pres">
      <dgm:prSet presAssocID="{3F22DBF4-0693-364F-97F3-742C82F954A4}" presName="childText" presStyleLbl="conFgAcc1" presStyleIdx="7" presStyleCnt="10">
        <dgm:presLayoutVars>
          <dgm:bulletEnabled val="1"/>
        </dgm:presLayoutVars>
      </dgm:prSet>
      <dgm:spPr/>
    </dgm:pt>
    <dgm:pt modelId="{DE581A4C-007A-9847-874B-2E6C9BC58AE4}" type="pres">
      <dgm:prSet presAssocID="{EAF10CC5-0697-8A43-AADE-0FBC8623CA54}" presName="spaceBetweenRectangles" presStyleCnt="0"/>
      <dgm:spPr/>
    </dgm:pt>
    <dgm:pt modelId="{F5C4986B-16C9-8A4D-8092-F83B6AF5AF09}" type="pres">
      <dgm:prSet presAssocID="{A5CBE1C3-EE8B-4146-9467-B9BE339AAD78}" presName="parentLin" presStyleCnt="0"/>
      <dgm:spPr/>
    </dgm:pt>
    <dgm:pt modelId="{83C27CAE-248E-B048-9CE9-1D8334862316}" type="pres">
      <dgm:prSet presAssocID="{A5CBE1C3-EE8B-4146-9467-B9BE339AAD78}" presName="parentLeftMargin" presStyleLbl="node1" presStyleIdx="7" presStyleCnt="10"/>
      <dgm:spPr/>
    </dgm:pt>
    <dgm:pt modelId="{10046BD4-31BB-4643-BF16-129E42BE4668}" type="pres">
      <dgm:prSet presAssocID="{A5CBE1C3-EE8B-4146-9467-B9BE339AAD78}" presName="parentText" presStyleLbl="node1" presStyleIdx="8" presStyleCnt="10">
        <dgm:presLayoutVars>
          <dgm:chMax val="0"/>
          <dgm:bulletEnabled val="1"/>
        </dgm:presLayoutVars>
      </dgm:prSet>
      <dgm:spPr/>
    </dgm:pt>
    <dgm:pt modelId="{100AF59F-CABB-2F40-AE77-E3EE44586462}" type="pres">
      <dgm:prSet presAssocID="{A5CBE1C3-EE8B-4146-9467-B9BE339AAD78}" presName="negativeSpace" presStyleCnt="0"/>
      <dgm:spPr/>
    </dgm:pt>
    <dgm:pt modelId="{9B3A27F3-BF7A-D54E-B78D-A45A8550675C}" type="pres">
      <dgm:prSet presAssocID="{A5CBE1C3-EE8B-4146-9467-B9BE339AAD78}" presName="childText" presStyleLbl="conFgAcc1" presStyleIdx="8" presStyleCnt="10">
        <dgm:presLayoutVars>
          <dgm:bulletEnabled val="1"/>
        </dgm:presLayoutVars>
      </dgm:prSet>
      <dgm:spPr/>
    </dgm:pt>
    <dgm:pt modelId="{7F312FC1-0860-4041-BF63-C89D4068635C}" type="pres">
      <dgm:prSet presAssocID="{D3AC8D48-23CB-CD4C-A8CC-D843353C02AF}" presName="spaceBetweenRectangles" presStyleCnt="0"/>
      <dgm:spPr/>
    </dgm:pt>
    <dgm:pt modelId="{C8D0F13F-AA5B-E44F-83DA-474230AEF952}" type="pres">
      <dgm:prSet presAssocID="{066912EB-0EF6-6549-B831-D2A93AB03E5A}" presName="parentLin" presStyleCnt="0"/>
      <dgm:spPr/>
    </dgm:pt>
    <dgm:pt modelId="{560474A2-DC53-D848-BFEB-B11810C6972C}" type="pres">
      <dgm:prSet presAssocID="{066912EB-0EF6-6549-B831-D2A93AB03E5A}" presName="parentLeftMargin" presStyleLbl="node1" presStyleIdx="8" presStyleCnt="10"/>
      <dgm:spPr/>
    </dgm:pt>
    <dgm:pt modelId="{4A6B93BA-BF8D-524F-BEEA-0C08CDE8D69E}" type="pres">
      <dgm:prSet presAssocID="{066912EB-0EF6-6549-B831-D2A93AB03E5A}" presName="parentText" presStyleLbl="node1" presStyleIdx="9" presStyleCnt="10">
        <dgm:presLayoutVars>
          <dgm:chMax val="0"/>
          <dgm:bulletEnabled val="1"/>
        </dgm:presLayoutVars>
      </dgm:prSet>
      <dgm:spPr/>
    </dgm:pt>
    <dgm:pt modelId="{546FA372-65BD-DF42-880B-03F33A621B50}" type="pres">
      <dgm:prSet presAssocID="{066912EB-0EF6-6549-B831-D2A93AB03E5A}" presName="negativeSpace" presStyleCnt="0"/>
      <dgm:spPr/>
    </dgm:pt>
    <dgm:pt modelId="{ED892F40-7FD4-7C45-9334-9458ACAB793B}" type="pres">
      <dgm:prSet presAssocID="{066912EB-0EF6-6549-B831-D2A93AB03E5A}" presName="childText" presStyleLbl="conFgAcc1" presStyleIdx="9" presStyleCnt="10">
        <dgm:presLayoutVars>
          <dgm:bulletEnabled val="1"/>
        </dgm:presLayoutVars>
      </dgm:prSet>
      <dgm:spPr/>
    </dgm:pt>
  </dgm:ptLst>
  <dgm:cxnLst>
    <dgm:cxn modelId="{5561A500-0104-E144-8B64-9F209FF77E2C}" type="presOf" srcId="{427CE78B-7A5E-7E41-B49F-DDD9A80BD488}" destId="{E5B973E4-7C08-E14F-811D-5CCE8C5784A4}" srcOrd="1" destOrd="0" presId="urn:microsoft.com/office/officeart/2005/8/layout/list1"/>
    <dgm:cxn modelId="{2A844506-17ED-D947-8240-80102E10BD0F}" srcId="{C093F43C-5F64-4C72-912D-A3D1FFF41476}" destId="{BD23E229-667D-D94C-A4BC-91F884BE48F7}" srcOrd="3" destOrd="0" parTransId="{AF382037-774B-CC43-BE90-7951340E2D0E}" sibTransId="{077D5E88-A08A-F248-8488-A6F14D9B2B07}"/>
    <dgm:cxn modelId="{33DDF613-3B84-4ED8-AEB0-29F7A3819E98}" srcId="{C093F43C-5F64-4C72-912D-A3D1FFF41476}" destId="{C42F6B5D-0160-4577-AFB2-5A0FF7E3E0E0}" srcOrd="2" destOrd="0" parTransId="{547A6CAF-2237-4AF8-A25D-B86DDE8CAA3F}" sibTransId="{0217B84B-ECB5-4090-AD98-3F66F3882DC9}"/>
    <dgm:cxn modelId="{EDD1E924-1D2E-B64A-9EC8-FA64AF9B42D9}" type="presOf" srcId="{BD23E229-667D-D94C-A4BC-91F884BE48F7}" destId="{90BE4203-01B7-F04E-9B4E-AEC1E7206DFC}" srcOrd="1" destOrd="0" presId="urn:microsoft.com/office/officeart/2005/8/layout/list1"/>
    <dgm:cxn modelId="{8FC2B926-B49E-0B4B-BD35-48A26657DB2A}" srcId="{C093F43C-5F64-4C72-912D-A3D1FFF41476}" destId="{473C8123-0BBB-F14C-AC05-6D68CF9A52CB}" srcOrd="4" destOrd="0" parTransId="{490ADF7C-2EC6-4F4E-9E1C-571F8E0A532F}" sibTransId="{C3854F45-A9A9-4041-86EC-C90AB92F7EB7}"/>
    <dgm:cxn modelId="{7810C138-2361-0B42-87BC-C5FF632DD028}" srcId="{C093F43C-5F64-4C72-912D-A3D1FFF41476}" destId="{6CDA2974-8F3F-464C-9B81-13310352733B}" srcOrd="5" destOrd="0" parTransId="{2CD8D7C5-1ED9-274F-B765-840D62261055}" sibTransId="{874468A7-2C8A-1747-A504-EA7967D9C1F5}"/>
    <dgm:cxn modelId="{FD746943-4D0C-8B41-B958-325F946C1D4F}" type="presOf" srcId="{6CDA2974-8F3F-464C-9B81-13310352733B}" destId="{AD55BB49-26A4-044F-8C89-E1CD7B85D027}" srcOrd="1" destOrd="0" presId="urn:microsoft.com/office/officeart/2005/8/layout/list1"/>
    <dgm:cxn modelId="{500B5A57-2214-304C-83F5-30798B260551}" type="presOf" srcId="{5CD69F4E-06B1-A546-875D-E25A4542421D}" destId="{86AA2BF6-1F0C-CC46-9054-75742ED4305D}" srcOrd="0" destOrd="0" presId="urn:microsoft.com/office/officeart/2005/8/layout/list1"/>
    <dgm:cxn modelId="{87AAE261-5945-C945-AA77-85FF3D4F3959}" type="presOf" srcId="{A5CBE1C3-EE8B-4146-9467-B9BE339AAD78}" destId="{83C27CAE-248E-B048-9CE9-1D8334862316}" srcOrd="0" destOrd="0" presId="urn:microsoft.com/office/officeart/2005/8/layout/list1"/>
    <dgm:cxn modelId="{50559A62-FB64-134C-ADE9-3EBED1E68D4D}" type="presOf" srcId="{A5CBE1C3-EE8B-4146-9467-B9BE339AAD78}" destId="{10046BD4-31BB-4643-BF16-129E42BE4668}" srcOrd="1" destOrd="0" presId="urn:microsoft.com/office/officeart/2005/8/layout/list1"/>
    <dgm:cxn modelId="{C207D269-73E8-654E-A0A1-9AFD1C68BAE2}" srcId="{C093F43C-5F64-4C72-912D-A3D1FFF41476}" destId="{066912EB-0EF6-6549-B831-D2A93AB03E5A}" srcOrd="9" destOrd="0" parTransId="{D6A7660C-B01E-6549-AE9E-EB3D5C540D25}" sibTransId="{51CDFE0E-FB0B-9946-9D71-7EEA1C9D9F09}"/>
    <dgm:cxn modelId="{B11B2075-F628-384E-A708-902B33507CEC}" type="presOf" srcId="{066912EB-0EF6-6549-B831-D2A93AB03E5A}" destId="{4A6B93BA-BF8D-524F-BEEA-0C08CDE8D69E}" srcOrd="1" destOrd="0" presId="urn:microsoft.com/office/officeart/2005/8/layout/list1"/>
    <dgm:cxn modelId="{ADA9FE81-3FAB-F049-8B39-D7206E1D3AED}" srcId="{C093F43C-5F64-4C72-912D-A3D1FFF41476}" destId="{A5CBE1C3-EE8B-4146-9467-B9BE339AAD78}" srcOrd="8" destOrd="0" parTransId="{D09ED121-4A6A-064F-99AE-0B27AFD560CE}" sibTransId="{D3AC8D48-23CB-CD4C-A8CC-D843353C02AF}"/>
    <dgm:cxn modelId="{C4036285-F0BE-F249-A5B7-DF455B72E9D5}" type="presOf" srcId="{3F22DBF4-0693-364F-97F3-742C82F954A4}" destId="{BAD7F5D1-5C2C-9844-B919-9BB79A88753E}" srcOrd="0" destOrd="0" presId="urn:microsoft.com/office/officeart/2005/8/layout/list1"/>
    <dgm:cxn modelId="{90D2B689-2ACB-D54B-B53E-58CCB9E84340}" type="presOf" srcId="{473C8123-0BBB-F14C-AC05-6D68CF9A52CB}" destId="{7C9D58CF-9964-A342-8363-0C977A626CBB}" srcOrd="1" destOrd="0" presId="urn:microsoft.com/office/officeart/2005/8/layout/list1"/>
    <dgm:cxn modelId="{EFBDF397-888D-7C44-A88C-6DECD87BFBAF}" type="presOf" srcId="{5CD69F4E-06B1-A546-875D-E25A4542421D}" destId="{37D73F24-C90D-B54D-8391-80471F743FD3}" srcOrd="1" destOrd="0" presId="urn:microsoft.com/office/officeart/2005/8/layout/list1"/>
    <dgm:cxn modelId="{98748A9A-EA05-1647-AC14-DDC8A5DF1FB7}" type="presOf" srcId="{C42F6B5D-0160-4577-AFB2-5A0FF7E3E0E0}" destId="{DDBC9B61-E6FA-264B-802D-343CCD9815C1}" srcOrd="1" destOrd="0" presId="urn:microsoft.com/office/officeart/2005/8/layout/list1"/>
    <dgm:cxn modelId="{CF049D9B-A5FC-DE48-9D16-BE58B53E5438}" type="presOf" srcId="{57E05296-32A5-154E-BFCD-827094DF3837}" destId="{3CFB4F74-570E-C149-8508-20E1E642C014}" srcOrd="1" destOrd="0" presId="urn:microsoft.com/office/officeart/2005/8/layout/list1"/>
    <dgm:cxn modelId="{ABE8ACA6-B846-6545-99EE-25A9263E475B}" srcId="{C093F43C-5F64-4C72-912D-A3D1FFF41476}" destId="{5CD69F4E-06B1-A546-875D-E25A4542421D}" srcOrd="0" destOrd="0" parTransId="{C5DD9E95-23C4-944F-B357-270F8A3D3291}" sibTransId="{1B01CF20-6301-4149-A607-ADDEA8A07BBB}"/>
    <dgm:cxn modelId="{634DB1B0-B3C3-544D-87F7-6A24A4172F54}" type="presOf" srcId="{3F22DBF4-0693-364F-97F3-742C82F954A4}" destId="{CC22C0E1-F879-4A4A-B411-30BB45F6D617}" srcOrd="1" destOrd="0" presId="urn:microsoft.com/office/officeart/2005/8/layout/list1"/>
    <dgm:cxn modelId="{E92E58B1-AE7D-9549-8C5E-2759A4E13D37}" type="presOf" srcId="{427CE78B-7A5E-7E41-B49F-DDD9A80BD488}" destId="{775328BE-3C9D-4849-BFC3-563F61494D82}" srcOrd="0" destOrd="0" presId="urn:microsoft.com/office/officeart/2005/8/layout/list1"/>
    <dgm:cxn modelId="{BEA2BABB-9688-6B4E-BB77-A92B6B1E084C}" type="presOf" srcId="{C093F43C-5F64-4C72-912D-A3D1FFF41476}" destId="{7CD32759-689F-8045-A8D8-22AED9CC36B7}" srcOrd="0" destOrd="0" presId="urn:microsoft.com/office/officeart/2005/8/layout/list1"/>
    <dgm:cxn modelId="{C98F3BC3-E38A-BF4D-AB9E-1CC577E58F05}" type="presOf" srcId="{473C8123-0BBB-F14C-AC05-6D68CF9A52CB}" destId="{61F803BF-404A-654A-871C-A6CEF8F567CD}" srcOrd="0" destOrd="0" presId="urn:microsoft.com/office/officeart/2005/8/layout/list1"/>
    <dgm:cxn modelId="{9B2636CD-5793-B340-B4E7-DFD1EDA80900}" srcId="{C093F43C-5F64-4C72-912D-A3D1FFF41476}" destId="{427CE78B-7A5E-7E41-B49F-DDD9A80BD488}" srcOrd="1" destOrd="0" parTransId="{2EA4D9EE-C543-C547-B686-797FE2136265}" sibTransId="{8B34CA94-E046-074D-B057-F3E7D9BCB0F7}"/>
    <dgm:cxn modelId="{42E3A4D4-9A1E-B049-B38C-954E7F6C7D21}" type="presOf" srcId="{57E05296-32A5-154E-BFCD-827094DF3837}" destId="{7C27F76F-B1C3-5F4E-8E71-6AA0D5F7860E}" srcOrd="0" destOrd="0" presId="urn:microsoft.com/office/officeart/2005/8/layout/list1"/>
    <dgm:cxn modelId="{4C32C4D8-6258-0E4B-ACB8-1020057D1B1A}" type="presOf" srcId="{066912EB-0EF6-6549-B831-D2A93AB03E5A}" destId="{560474A2-DC53-D848-BFEB-B11810C6972C}" srcOrd="0" destOrd="0" presId="urn:microsoft.com/office/officeart/2005/8/layout/list1"/>
    <dgm:cxn modelId="{6229C3E2-6E77-954F-9B8A-34250674CC48}" type="presOf" srcId="{6CDA2974-8F3F-464C-9B81-13310352733B}" destId="{19FB0EDC-928B-CC47-AF1B-8F20E58031DF}" srcOrd="0" destOrd="0" presId="urn:microsoft.com/office/officeart/2005/8/layout/list1"/>
    <dgm:cxn modelId="{AE63D8E5-B4DC-9847-BCCF-AE1B2FA687B2}" srcId="{C093F43C-5F64-4C72-912D-A3D1FFF41476}" destId="{3F22DBF4-0693-364F-97F3-742C82F954A4}" srcOrd="7" destOrd="0" parTransId="{F8762A7B-D8BC-6D4D-84BA-8F9E62DC6B1F}" sibTransId="{EAF10CC5-0697-8A43-AADE-0FBC8623CA54}"/>
    <dgm:cxn modelId="{2B5B73EA-34D1-8942-BD0C-5CC7460B743D}" srcId="{C093F43C-5F64-4C72-912D-A3D1FFF41476}" destId="{57E05296-32A5-154E-BFCD-827094DF3837}" srcOrd="6" destOrd="0" parTransId="{AA687259-FAD1-A542-8CB4-3CF5454E3788}" sibTransId="{FC9659B3-5E12-C741-AB6D-8236A8ABDE57}"/>
    <dgm:cxn modelId="{2FAE3EF2-5A3E-4D45-B5E6-BDF4FB8C61D8}" type="presOf" srcId="{C42F6B5D-0160-4577-AFB2-5A0FF7E3E0E0}" destId="{D24BD861-D5CE-F64C-B06D-4019F4D8EC19}" srcOrd="0" destOrd="0" presId="urn:microsoft.com/office/officeart/2005/8/layout/list1"/>
    <dgm:cxn modelId="{33450EF7-9C52-6E42-B4D2-58E4446C1374}" type="presOf" srcId="{BD23E229-667D-D94C-A4BC-91F884BE48F7}" destId="{F171E06A-879C-074C-B93D-D1D8B32D2ED8}" srcOrd="0" destOrd="0" presId="urn:microsoft.com/office/officeart/2005/8/layout/list1"/>
    <dgm:cxn modelId="{C9E0E4B1-FEC2-B24C-B5F4-FD734D1C2DFC}" type="presParOf" srcId="{7CD32759-689F-8045-A8D8-22AED9CC36B7}" destId="{3166AA76-9419-E94A-B81A-770811D8C55B}" srcOrd="0" destOrd="0" presId="urn:microsoft.com/office/officeart/2005/8/layout/list1"/>
    <dgm:cxn modelId="{2D2252A0-264D-6E45-9E18-5F743BB2450D}" type="presParOf" srcId="{3166AA76-9419-E94A-B81A-770811D8C55B}" destId="{86AA2BF6-1F0C-CC46-9054-75742ED4305D}" srcOrd="0" destOrd="0" presId="urn:microsoft.com/office/officeart/2005/8/layout/list1"/>
    <dgm:cxn modelId="{026109F2-14A7-6048-B012-FDF6C1A23029}" type="presParOf" srcId="{3166AA76-9419-E94A-B81A-770811D8C55B}" destId="{37D73F24-C90D-B54D-8391-80471F743FD3}" srcOrd="1" destOrd="0" presId="urn:microsoft.com/office/officeart/2005/8/layout/list1"/>
    <dgm:cxn modelId="{DD84BB2C-C552-1745-BC97-C90EFCDF89D0}" type="presParOf" srcId="{7CD32759-689F-8045-A8D8-22AED9CC36B7}" destId="{0A84AAB1-CDD1-4841-8638-A4DD4290428E}" srcOrd="1" destOrd="0" presId="urn:microsoft.com/office/officeart/2005/8/layout/list1"/>
    <dgm:cxn modelId="{20232F40-BBEC-D74B-80D9-02EF39347668}" type="presParOf" srcId="{7CD32759-689F-8045-A8D8-22AED9CC36B7}" destId="{C6667CAA-BBC9-3047-A150-5D2AFCF1786E}" srcOrd="2" destOrd="0" presId="urn:microsoft.com/office/officeart/2005/8/layout/list1"/>
    <dgm:cxn modelId="{5E5CDEFD-726A-F549-971B-AF55701C1834}" type="presParOf" srcId="{7CD32759-689F-8045-A8D8-22AED9CC36B7}" destId="{DD0F0E40-3187-A94D-A14B-216B718C7E40}" srcOrd="3" destOrd="0" presId="urn:microsoft.com/office/officeart/2005/8/layout/list1"/>
    <dgm:cxn modelId="{7F785E4A-F441-7A4D-BF02-CA149F9A1BA4}" type="presParOf" srcId="{7CD32759-689F-8045-A8D8-22AED9CC36B7}" destId="{BC525F6C-1E0A-3143-A80A-CD6FDCC9B3BF}" srcOrd="4" destOrd="0" presId="urn:microsoft.com/office/officeart/2005/8/layout/list1"/>
    <dgm:cxn modelId="{6BA6A72E-4799-D040-9B12-15D136B42E57}" type="presParOf" srcId="{BC525F6C-1E0A-3143-A80A-CD6FDCC9B3BF}" destId="{775328BE-3C9D-4849-BFC3-563F61494D82}" srcOrd="0" destOrd="0" presId="urn:microsoft.com/office/officeart/2005/8/layout/list1"/>
    <dgm:cxn modelId="{7531FD2F-26E6-704C-9AEA-D71D78BDC179}" type="presParOf" srcId="{BC525F6C-1E0A-3143-A80A-CD6FDCC9B3BF}" destId="{E5B973E4-7C08-E14F-811D-5CCE8C5784A4}" srcOrd="1" destOrd="0" presId="urn:microsoft.com/office/officeart/2005/8/layout/list1"/>
    <dgm:cxn modelId="{524FB9B1-DF57-1B48-9CF2-863E2387B133}" type="presParOf" srcId="{7CD32759-689F-8045-A8D8-22AED9CC36B7}" destId="{28072B63-0967-7D4C-9091-726D3EABDC78}" srcOrd="5" destOrd="0" presId="urn:microsoft.com/office/officeart/2005/8/layout/list1"/>
    <dgm:cxn modelId="{5555D383-333A-F844-A467-3E95F673571B}" type="presParOf" srcId="{7CD32759-689F-8045-A8D8-22AED9CC36B7}" destId="{2D82CE7C-9CE4-104B-A72B-987F6DCCFF29}" srcOrd="6" destOrd="0" presId="urn:microsoft.com/office/officeart/2005/8/layout/list1"/>
    <dgm:cxn modelId="{E52B33A6-9782-BB43-988D-86BC2A264B39}" type="presParOf" srcId="{7CD32759-689F-8045-A8D8-22AED9CC36B7}" destId="{260C9942-44C3-4D4C-890C-BEDB50F1A6B8}" srcOrd="7" destOrd="0" presId="urn:microsoft.com/office/officeart/2005/8/layout/list1"/>
    <dgm:cxn modelId="{29A2CC77-02EF-BD4B-B42C-D26E0E9477D6}" type="presParOf" srcId="{7CD32759-689F-8045-A8D8-22AED9CC36B7}" destId="{5178BCCA-D460-9744-8714-0307913796FC}" srcOrd="8" destOrd="0" presId="urn:microsoft.com/office/officeart/2005/8/layout/list1"/>
    <dgm:cxn modelId="{75BDD8AF-97CF-F443-AD78-630792BA42A5}" type="presParOf" srcId="{5178BCCA-D460-9744-8714-0307913796FC}" destId="{D24BD861-D5CE-F64C-B06D-4019F4D8EC19}" srcOrd="0" destOrd="0" presId="urn:microsoft.com/office/officeart/2005/8/layout/list1"/>
    <dgm:cxn modelId="{B6AEAA66-77E9-C94F-85EB-F0968575CB1A}" type="presParOf" srcId="{5178BCCA-D460-9744-8714-0307913796FC}" destId="{DDBC9B61-E6FA-264B-802D-343CCD9815C1}" srcOrd="1" destOrd="0" presId="urn:microsoft.com/office/officeart/2005/8/layout/list1"/>
    <dgm:cxn modelId="{C97EB705-2F88-0A45-B85D-36302F79036D}" type="presParOf" srcId="{7CD32759-689F-8045-A8D8-22AED9CC36B7}" destId="{6367AF1E-3F1F-C74C-BEBE-5349DF963236}" srcOrd="9" destOrd="0" presId="urn:microsoft.com/office/officeart/2005/8/layout/list1"/>
    <dgm:cxn modelId="{3AE0F257-3D58-3840-97C6-CD2F44757159}" type="presParOf" srcId="{7CD32759-689F-8045-A8D8-22AED9CC36B7}" destId="{0393A57A-D099-1747-BCDE-6B0A99DAA7A6}" srcOrd="10" destOrd="0" presId="urn:microsoft.com/office/officeart/2005/8/layout/list1"/>
    <dgm:cxn modelId="{7B0A40AB-0B3A-8443-A52A-CE27EB833E88}" type="presParOf" srcId="{7CD32759-689F-8045-A8D8-22AED9CC36B7}" destId="{89AB72C6-104E-F745-9AE9-32AA132E9A97}" srcOrd="11" destOrd="0" presId="urn:microsoft.com/office/officeart/2005/8/layout/list1"/>
    <dgm:cxn modelId="{0801B246-F7C9-144A-8CAC-17CC775EB786}" type="presParOf" srcId="{7CD32759-689F-8045-A8D8-22AED9CC36B7}" destId="{36653964-1543-4947-A166-82655116863A}" srcOrd="12" destOrd="0" presId="urn:microsoft.com/office/officeart/2005/8/layout/list1"/>
    <dgm:cxn modelId="{3923F3D2-E7FF-EB45-89A1-98F35BD30769}" type="presParOf" srcId="{36653964-1543-4947-A166-82655116863A}" destId="{F171E06A-879C-074C-B93D-D1D8B32D2ED8}" srcOrd="0" destOrd="0" presId="urn:microsoft.com/office/officeart/2005/8/layout/list1"/>
    <dgm:cxn modelId="{1CD705BE-2961-F34C-8E2F-C78CCC8B0AA6}" type="presParOf" srcId="{36653964-1543-4947-A166-82655116863A}" destId="{90BE4203-01B7-F04E-9B4E-AEC1E7206DFC}" srcOrd="1" destOrd="0" presId="urn:microsoft.com/office/officeart/2005/8/layout/list1"/>
    <dgm:cxn modelId="{1443FC4F-412E-D744-A09C-7E905106404E}" type="presParOf" srcId="{7CD32759-689F-8045-A8D8-22AED9CC36B7}" destId="{AE8A460D-8467-A441-9033-8C0C3EA032E1}" srcOrd="13" destOrd="0" presId="urn:microsoft.com/office/officeart/2005/8/layout/list1"/>
    <dgm:cxn modelId="{8AF7096F-6D78-F34F-96A4-DF36F5C9D8E4}" type="presParOf" srcId="{7CD32759-689F-8045-A8D8-22AED9CC36B7}" destId="{A55422D4-2B75-D44A-87BA-18A3ECA4C122}" srcOrd="14" destOrd="0" presId="urn:microsoft.com/office/officeart/2005/8/layout/list1"/>
    <dgm:cxn modelId="{FA7F575C-D001-FB44-BE19-63031384985E}" type="presParOf" srcId="{7CD32759-689F-8045-A8D8-22AED9CC36B7}" destId="{28C8AAC1-71CF-FF42-BFE2-9914C90B6BAC}" srcOrd="15" destOrd="0" presId="urn:microsoft.com/office/officeart/2005/8/layout/list1"/>
    <dgm:cxn modelId="{ABFBA3CC-0590-7540-8901-7E5B86E3693A}" type="presParOf" srcId="{7CD32759-689F-8045-A8D8-22AED9CC36B7}" destId="{FC383904-D729-AF4B-8D6A-6301858B8B14}" srcOrd="16" destOrd="0" presId="urn:microsoft.com/office/officeart/2005/8/layout/list1"/>
    <dgm:cxn modelId="{3C3399C9-BCA6-0348-9131-DC196CAC5E2D}" type="presParOf" srcId="{FC383904-D729-AF4B-8D6A-6301858B8B14}" destId="{61F803BF-404A-654A-871C-A6CEF8F567CD}" srcOrd="0" destOrd="0" presId="urn:microsoft.com/office/officeart/2005/8/layout/list1"/>
    <dgm:cxn modelId="{4CAA9042-8B3B-E14A-8C6D-54FCB334FEBB}" type="presParOf" srcId="{FC383904-D729-AF4B-8D6A-6301858B8B14}" destId="{7C9D58CF-9964-A342-8363-0C977A626CBB}" srcOrd="1" destOrd="0" presId="urn:microsoft.com/office/officeart/2005/8/layout/list1"/>
    <dgm:cxn modelId="{AB39210A-84EB-F349-B7BA-51056E05A2A0}" type="presParOf" srcId="{7CD32759-689F-8045-A8D8-22AED9CC36B7}" destId="{2A409845-E79E-4B43-93CD-FC27D6708550}" srcOrd="17" destOrd="0" presId="urn:microsoft.com/office/officeart/2005/8/layout/list1"/>
    <dgm:cxn modelId="{0DCB4D26-8A6D-5347-A678-51F8C1A85F52}" type="presParOf" srcId="{7CD32759-689F-8045-A8D8-22AED9CC36B7}" destId="{CC6AB1C7-CC18-3643-BF5C-127B801CB3FE}" srcOrd="18" destOrd="0" presId="urn:microsoft.com/office/officeart/2005/8/layout/list1"/>
    <dgm:cxn modelId="{2684E86F-AD5B-C747-BA3F-00A665CA35DE}" type="presParOf" srcId="{7CD32759-689F-8045-A8D8-22AED9CC36B7}" destId="{8C468314-06EC-0B46-A104-CF18AAF0FC23}" srcOrd="19" destOrd="0" presId="urn:microsoft.com/office/officeart/2005/8/layout/list1"/>
    <dgm:cxn modelId="{E97EC285-3746-F147-BDA4-4E616C02FB67}" type="presParOf" srcId="{7CD32759-689F-8045-A8D8-22AED9CC36B7}" destId="{2D6435E3-DE84-804C-9876-75BCD8EB5922}" srcOrd="20" destOrd="0" presId="urn:microsoft.com/office/officeart/2005/8/layout/list1"/>
    <dgm:cxn modelId="{FDE6A186-1090-AD45-AB5D-2CE232BCAA77}" type="presParOf" srcId="{2D6435E3-DE84-804C-9876-75BCD8EB5922}" destId="{19FB0EDC-928B-CC47-AF1B-8F20E58031DF}" srcOrd="0" destOrd="0" presId="urn:microsoft.com/office/officeart/2005/8/layout/list1"/>
    <dgm:cxn modelId="{8A4956EC-20E9-F249-BF64-2265AE6E75E7}" type="presParOf" srcId="{2D6435E3-DE84-804C-9876-75BCD8EB5922}" destId="{AD55BB49-26A4-044F-8C89-E1CD7B85D027}" srcOrd="1" destOrd="0" presId="urn:microsoft.com/office/officeart/2005/8/layout/list1"/>
    <dgm:cxn modelId="{91A4EB9B-3923-F94A-A3F8-DC99279FA12F}" type="presParOf" srcId="{7CD32759-689F-8045-A8D8-22AED9CC36B7}" destId="{D2953D9B-C05E-6E40-B2D7-1ACBE6B610E3}" srcOrd="21" destOrd="0" presId="urn:microsoft.com/office/officeart/2005/8/layout/list1"/>
    <dgm:cxn modelId="{C67BB411-1A2F-1849-9011-EE55A4635968}" type="presParOf" srcId="{7CD32759-689F-8045-A8D8-22AED9CC36B7}" destId="{76CE06D4-B8F4-654D-A376-0BA9F4A261FD}" srcOrd="22" destOrd="0" presId="urn:microsoft.com/office/officeart/2005/8/layout/list1"/>
    <dgm:cxn modelId="{0EB3646A-AD0E-9B46-BD24-89F0103C4740}" type="presParOf" srcId="{7CD32759-689F-8045-A8D8-22AED9CC36B7}" destId="{8470E169-FDF4-AD45-8178-8EAF053C9100}" srcOrd="23" destOrd="0" presId="urn:microsoft.com/office/officeart/2005/8/layout/list1"/>
    <dgm:cxn modelId="{86127F4F-F651-B248-B1DE-04CB9E894D8B}" type="presParOf" srcId="{7CD32759-689F-8045-A8D8-22AED9CC36B7}" destId="{8CEC6563-523F-D548-9467-1BB1CB298A78}" srcOrd="24" destOrd="0" presId="urn:microsoft.com/office/officeart/2005/8/layout/list1"/>
    <dgm:cxn modelId="{2D6DAC11-2658-C242-A8B3-F99C5AFB5CBD}" type="presParOf" srcId="{8CEC6563-523F-D548-9467-1BB1CB298A78}" destId="{7C27F76F-B1C3-5F4E-8E71-6AA0D5F7860E}" srcOrd="0" destOrd="0" presId="urn:microsoft.com/office/officeart/2005/8/layout/list1"/>
    <dgm:cxn modelId="{8A500E6E-1CC7-2A42-9F96-CD133FBFB713}" type="presParOf" srcId="{8CEC6563-523F-D548-9467-1BB1CB298A78}" destId="{3CFB4F74-570E-C149-8508-20E1E642C014}" srcOrd="1" destOrd="0" presId="urn:microsoft.com/office/officeart/2005/8/layout/list1"/>
    <dgm:cxn modelId="{166EC3B1-3BCD-A24E-9CF1-FC2630881FC4}" type="presParOf" srcId="{7CD32759-689F-8045-A8D8-22AED9CC36B7}" destId="{EEF0D2F8-5E5A-A148-AC70-8E2B76132663}" srcOrd="25" destOrd="0" presId="urn:microsoft.com/office/officeart/2005/8/layout/list1"/>
    <dgm:cxn modelId="{8B5CFCA2-0B7E-6C4D-9FFF-8CC4509892BE}" type="presParOf" srcId="{7CD32759-689F-8045-A8D8-22AED9CC36B7}" destId="{F6E817E7-7B80-FE44-815E-A7397D4019AF}" srcOrd="26" destOrd="0" presId="urn:microsoft.com/office/officeart/2005/8/layout/list1"/>
    <dgm:cxn modelId="{F2B41893-81E4-6D43-A226-ADE07849EEF8}" type="presParOf" srcId="{7CD32759-689F-8045-A8D8-22AED9CC36B7}" destId="{D7E0242E-7A67-EF4B-BF78-FBA296459243}" srcOrd="27" destOrd="0" presId="urn:microsoft.com/office/officeart/2005/8/layout/list1"/>
    <dgm:cxn modelId="{5890C265-439D-DA47-9C77-5CCCE0D1560B}" type="presParOf" srcId="{7CD32759-689F-8045-A8D8-22AED9CC36B7}" destId="{4255C309-334F-C34C-81AE-399AC9E4E125}" srcOrd="28" destOrd="0" presId="urn:microsoft.com/office/officeart/2005/8/layout/list1"/>
    <dgm:cxn modelId="{5655415C-E8C9-C547-87B0-D14B5F54A810}" type="presParOf" srcId="{4255C309-334F-C34C-81AE-399AC9E4E125}" destId="{BAD7F5D1-5C2C-9844-B919-9BB79A88753E}" srcOrd="0" destOrd="0" presId="urn:microsoft.com/office/officeart/2005/8/layout/list1"/>
    <dgm:cxn modelId="{421FD6C3-2AAA-3346-B873-A2C4E7770C41}" type="presParOf" srcId="{4255C309-334F-C34C-81AE-399AC9E4E125}" destId="{CC22C0E1-F879-4A4A-B411-30BB45F6D617}" srcOrd="1" destOrd="0" presId="urn:microsoft.com/office/officeart/2005/8/layout/list1"/>
    <dgm:cxn modelId="{8A2D6D8D-400E-1E49-B12E-570C3000BB7C}" type="presParOf" srcId="{7CD32759-689F-8045-A8D8-22AED9CC36B7}" destId="{BE004696-4939-6949-B309-42CCFF8467A2}" srcOrd="29" destOrd="0" presId="urn:microsoft.com/office/officeart/2005/8/layout/list1"/>
    <dgm:cxn modelId="{E2D4B408-519B-9143-805D-40E48DCE35C5}" type="presParOf" srcId="{7CD32759-689F-8045-A8D8-22AED9CC36B7}" destId="{79F43105-C517-6446-9E99-FCE78E92078C}" srcOrd="30" destOrd="0" presId="urn:microsoft.com/office/officeart/2005/8/layout/list1"/>
    <dgm:cxn modelId="{21BCA60E-2CEA-F443-8101-7958776D1848}" type="presParOf" srcId="{7CD32759-689F-8045-A8D8-22AED9CC36B7}" destId="{DE581A4C-007A-9847-874B-2E6C9BC58AE4}" srcOrd="31" destOrd="0" presId="urn:microsoft.com/office/officeart/2005/8/layout/list1"/>
    <dgm:cxn modelId="{FD3BADEA-46F1-AC49-8808-B93C2125E40D}" type="presParOf" srcId="{7CD32759-689F-8045-A8D8-22AED9CC36B7}" destId="{F5C4986B-16C9-8A4D-8092-F83B6AF5AF09}" srcOrd="32" destOrd="0" presId="urn:microsoft.com/office/officeart/2005/8/layout/list1"/>
    <dgm:cxn modelId="{3BB64E2A-52A1-EE4A-A5A3-924BC6780EB7}" type="presParOf" srcId="{F5C4986B-16C9-8A4D-8092-F83B6AF5AF09}" destId="{83C27CAE-248E-B048-9CE9-1D8334862316}" srcOrd="0" destOrd="0" presId="urn:microsoft.com/office/officeart/2005/8/layout/list1"/>
    <dgm:cxn modelId="{B3E3789A-A99C-2D44-819C-0914D46C61AE}" type="presParOf" srcId="{F5C4986B-16C9-8A4D-8092-F83B6AF5AF09}" destId="{10046BD4-31BB-4643-BF16-129E42BE4668}" srcOrd="1" destOrd="0" presId="urn:microsoft.com/office/officeart/2005/8/layout/list1"/>
    <dgm:cxn modelId="{4EF93B02-07AE-584E-AEC4-1D508A675262}" type="presParOf" srcId="{7CD32759-689F-8045-A8D8-22AED9CC36B7}" destId="{100AF59F-CABB-2F40-AE77-E3EE44586462}" srcOrd="33" destOrd="0" presId="urn:microsoft.com/office/officeart/2005/8/layout/list1"/>
    <dgm:cxn modelId="{E5439B7F-BC98-374B-9188-168D7AC84E96}" type="presParOf" srcId="{7CD32759-689F-8045-A8D8-22AED9CC36B7}" destId="{9B3A27F3-BF7A-D54E-B78D-A45A8550675C}" srcOrd="34" destOrd="0" presId="urn:microsoft.com/office/officeart/2005/8/layout/list1"/>
    <dgm:cxn modelId="{CB209A4C-0808-BB47-9DDB-34AB04BD2848}" type="presParOf" srcId="{7CD32759-689F-8045-A8D8-22AED9CC36B7}" destId="{7F312FC1-0860-4041-BF63-C89D4068635C}" srcOrd="35" destOrd="0" presId="urn:microsoft.com/office/officeart/2005/8/layout/list1"/>
    <dgm:cxn modelId="{26145C4E-36BB-BF4A-99B1-B05CEB1B09FD}" type="presParOf" srcId="{7CD32759-689F-8045-A8D8-22AED9CC36B7}" destId="{C8D0F13F-AA5B-E44F-83DA-474230AEF952}" srcOrd="36" destOrd="0" presId="urn:microsoft.com/office/officeart/2005/8/layout/list1"/>
    <dgm:cxn modelId="{5AAA454E-E9CF-0E45-A6BF-5778443D393B}" type="presParOf" srcId="{C8D0F13F-AA5B-E44F-83DA-474230AEF952}" destId="{560474A2-DC53-D848-BFEB-B11810C6972C}" srcOrd="0" destOrd="0" presId="urn:microsoft.com/office/officeart/2005/8/layout/list1"/>
    <dgm:cxn modelId="{96744863-D898-C648-A5C3-8461A45627C6}" type="presParOf" srcId="{C8D0F13F-AA5B-E44F-83DA-474230AEF952}" destId="{4A6B93BA-BF8D-524F-BEEA-0C08CDE8D69E}" srcOrd="1" destOrd="0" presId="urn:microsoft.com/office/officeart/2005/8/layout/list1"/>
    <dgm:cxn modelId="{24B92F17-0EFA-2D4E-8A0C-B1CB7BDE0DC5}" type="presParOf" srcId="{7CD32759-689F-8045-A8D8-22AED9CC36B7}" destId="{546FA372-65BD-DF42-880B-03F33A621B50}" srcOrd="37" destOrd="0" presId="urn:microsoft.com/office/officeart/2005/8/layout/list1"/>
    <dgm:cxn modelId="{6508240F-3121-D34F-8D5E-866DAAB6751D}" type="presParOf" srcId="{7CD32759-689F-8045-A8D8-22AED9CC36B7}" destId="{ED892F40-7FD4-7C45-9334-9458ACAB793B}" srcOrd="3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DEAB1A-7698-4060-BA8A-8FF63DB0D40E}" type="doc">
      <dgm:prSet loTypeId="urn:microsoft.com/office/officeart/2018/2/layout/IconVerticalSolidList" loCatId="icon" qsTypeId="urn:microsoft.com/office/officeart/2005/8/quickstyle/simple1" qsCatId="simple" csTypeId="urn:microsoft.com/office/officeart/2018/5/colors/Iconchunking_neutralicontext_colorful5" csCatId="colorful" phldr="1"/>
      <dgm:spPr/>
      <dgm:t>
        <a:bodyPr/>
        <a:lstStyle/>
        <a:p>
          <a:endParaRPr lang="en-US"/>
        </a:p>
      </dgm:t>
    </dgm:pt>
    <dgm:pt modelId="{4D79273B-4005-4099-95C4-A8C7B3E7E495}">
      <dgm:prSet/>
      <dgm:spPr/>
      <dgm:t>
        <a:bodyPr/>
        <a:lstStyle/>
        <a:p>
          <a:pPr>
            <a:lnSpc>
              <a:spcPct val="100000"/>
            </a:lnSpc>
          </a:pPr>
          <a:r>
            <a:rPr lang="en-US" b="0" i="0" baseline="0"/>
            <a:t>Current single-chain designs cap throughput as demand surges.</a:t>
          </a:r>
          <a:endParaRPr lang="en-US"/>
        </a:p>
      </dgm:t>
    </dgm:pt>
    <dgm:pt modelId="{4D45AFB3-9692-4368-B5F2-81EE83E05953}" type="parTrans" cxnId="{F8C746AC-AE3D-401A-89F5-BB78453D8C69}">
      <dgm:prSet/>
      <dgm:spPr/>
      <dgm:t>
        <a:bodyPr/>
        <a:lstStyle/>
        <a:p>
          <a:endParaRPr lang="en-US"/>
        </a:p>
      </dgm:t>
    </dgm:pt>
    <dgm:pt modelId="{EF2BBFB7-B169-4564-9F68-2E5C20B7BD3B}" type="sibTrans" cxnId="{F8C746AC-AE3D-401A-89F5-BB78453D8C69}">
      <dgm:prSet/>
      <dgm:spPr/>
      <dgm:t>
        <a:bodyPr/>
        <a:lstStyle/>
        <a:p>
          <a:endParaRPr lang="en-US"/>
        </a:p>
      </dgm:t>
    </dgm:pt>
    <dgm:pt modelId="{D27141F4-405A-49ED-B61C-467B084FF648}">
      <dgm:prSet/>
      <dgm:spPr/>
      <dgm:t>
        <a:bodyPr/>
        <a:lstStyle/>
        <a:p>
          <a:pPr>
            <a:lnSpc>
              <a:spcPct val="100000"/>
            </a:lnSpc>
          </a:pPr>
          <a:r>
            <a:rPr lang="en-US" b="0" i="0" baseline="0"/>
            <a:t>We aim to scale TPS via sharding without increasing user-visible latency.</a:t>
          </a:r>
          <a:endParaRPr lang="en-US"/>
        </a:p>
      </dgm:t>
    </dgm:pt>
    <dgm:pt modelId="{2AB02756-DE14-40D5-BE9C-22FB19D6A06E}" type="parTrans" cxnId="{1E3E67A1-0AC6-49EA-9AC4-0ED298F084EB}">
      <dgm:prSet/>
      <dgm:spPr/>
      <dgm:t>
        <a:bodyPr/>
        <a:lstStyle/>
        <a:p>
          <a:endParaRPr lang="en-US"/>
        </a:p>
      </dgm:t>
    </dgm:pt>
    <dgm:pt modelId="{66069FD4-A337-47D8-B442-5414B2613544}" type="sibTrans" cxnId="{1E3E67A1-0AC6-49EA-9AC4-0ED298F084EB}">
      <dgm:prSet/>
      <dgm:spPr/>
      <dgm:t>
        <a:bodyPr/>
        <a:lstStyle/>
        <a:p>
          <a:endParaRPr lang="en-US"/>
        </a:p>
      </dgm:t>
    </dgm:pt>
    <dgm:pt modelId="{3611455F-C14F-4C4D-B2B3-0BB1FC477D21}">
      <dgm:prSet/>
      <dgm:spPr/>
      <dgm:t>
        <a:bodyPr/>
        <a:lstStyle/>
        <a:p>
          <a:pPr>
            <a:lnSpc>
              <a:spcPct val="100000"/>
            </a:lnSpc>
          </a:pPr>
          <a:r>
            <a:rPr lang="en-US" b="0" i="0" baseline="0"/>
            <a:t>Security must remain constant (no weaker committees/assumptions).</a:t>
          </a:r>
          <a:endParaRPr lang="en-US"/>
        </a:p>
      </dgm:t>
    </dgm:pt>
    <dgm:pt modelId="{DE2C1C01-00BD-42F4-AEBC-70845B35DB89}" type="parTrans" cxnId="{5ABC385E-269D-45C9-9EA8-FEE00E205EDE}">
      <dgm:prSet/>
      <dgm:spPr/>
      <dgm:t>
        <a:bodyPr/>
        <a:lstStyle/>
        <a:p>
          <a:endParaRPr lang="en-US"/>
        </a:p>
      </dgm:t>
    </dgm:pt>
    <dgm:pt modelId="{E9B4E4C6-9F86-443D-9431-F9F34A06341E}" type="sibTrans" cxnId="{5ABC385E-269D-45C9-9EA8-FEE00E205EDE}">
      <dgm:prSet/>
      <dgm:spPr/>
      <dgm:t>
        <a:bodyPr/>
        <a:lstStyle/>
        <a:p>
          <a:endParaRPr lang="en-US"/>
        </a:p>
      </dgm:t>
    </dgm:pt>
    <dgm:pt modelId="{C33D3991-F881-4616-BA52-EDAC8214C6AE}">
      <dgm:prSet/>
      <dgm:spPr/>
      <dgm:t>
        <a:bodyPr/>
        <a:lstStyle/>
        <a:p>
          <a:pPr>
            <a:lnSpc>
              <a:spcPct val="100000"/>
            </a:lnSpc>
          </a:pPr>
          <a:r>
            <a:rPr lang="en-US" b="0" i="0" baseline="0"/>
            <a:t>Cross-shard messaging overhead may erase scaling gains as shards grow.</a:t>
          </a:r>
          <a:endParaRPr lang="en-US"/>
        </a:p>
      </dgm:t>
    </dgm:pt>
    <dgm:pt modelId="{D61F8D84-F584-4100-970A-ADEAD5FBD3B4}" type="parTrans" cxnId="{88CE8E7D-9267-40FD-8DC2-59CBC190A871}">
      <dgm:prSet/>
      <dgm:spPr/>
      <dgm:t>
        <a:bodyPr/>
        <a:lstStyle/>
        <a:p>
          <a:endParaRPr lang="en-US"/>
        </a:p>
      </dgm:t>
    </dgm:pt>
    <dgm:pt modelId="{E38C65F3-3032-492E-8641-BD7DA9557A1A}" type="sibTrans" cxnId="{88CE8E7D-9267-40FD-8DC2-59CBC190A871}">
      <dgm:prSet/>
      <dgm:spPr/>
      <dgm:t>
        <a:bodyPr/>
        <a:lstStyle/>
        <a:p>
          <a:endParaRPr lang="en-US"/>
        </a:p>
      </dgm:t>
    </dgm:pt>
    <dgm:pt modelId="{2097D89A-A022-41A1-B741-9C3ECB151E7F}">
      <dgm:prSet/>
      <dgm:spPr/>
      <dgm:t>
        <a:bodyPr/>
        <a:lstStyle/>
        <a:p>
          <a:pPr>
            <a:lnSpc>
              <a:spcPct val="100000"/>
            </a:lnSpc>
          </a:pPr>
          <a:r>
            <a:rPr lang="en-US" b="0" i="0" baseline="0"/>
            <a:t>Problem: determine the shard count that maximizes TPS under fixed latency and security budgets.</a:t>
          </a:r>
          <a:endParaRPr lang="en-US"/>
        </a:p>
      </dgm:t>
    </dgm:pt>
    <dgm:pt modelId="{3949082E-9334-4D73-934F-D9A196B8B0BC}" type="parTrans" cxnId="{A985F6E4-857B-435C-95D3-F2B654ACC5EB}">
      <dgm:prSet/>
      <dgm:spPr/>
      <dgm:t>
        <a:bodyPr/>
        <a:lstStyle/>
        <a:p>
          <a:endParaRPr lang="en-US"/>
        </a:p>
      </dgm:t>
    </dgm:pt>
    <dgm:pt modelId="{82D371C5-C0EA-4066-828E-1822DA44FB3A}" type="sibTrans" cxnId="{A985F6E4-857B-435C-95D3-F2B654ACC5EB}">
      <dgm:prSet/>
      <dgm:spPr/>
      <dgm:t>
        <a:bodyPr/>
        <a:lstStyle/>
        <a:p>
          <a:endParaRPr lang="en-US"/>
        </a:p>
      </dgm:t>
    </dgm:pt>
    <dgm:pt modelId="{9A8B4606-3574-4E4E-9D65-26ADD251E51B}" type="pres">
      <dgm:prSet presAssocID="{21DEAB1A-7698-4060-BA8A-8FF63DB0D40E}" presName="root" presStyleCnt="0">
        <dgm:presLayoutVars>
          <dgm:dir/>
          <dgm:resizeHandles val="exact"/>
        </dgm:presLayoutVars>
      </dgm:prSet>
      <dgm:spPr/>
    </dgm:pt>
    <dgm:pt modelId="{75BF26E9-BFF7-48F2-95F8-6980D715CA61}" type="pres">
      <dgm:prSet presAssocID="{4D79273B-4005-4099-95C4-A8C7B3E7E495}" presName="compNode" presStyleCnt="0"/>
      <dgm:spPr/>
    </dgm:pt>
    <dgm:pt modelId="{C4F1D9E3-14DB-4A33-9FA6-D8AE12785F4D}" type="pres">
      <dgm:prSet presAssocID="{4D79273B-4005-4099-95C4-A8C7B3E7E495}" presName="bgRect" presStyleLbl="bgShp" presStyleIdx="0" presStyleCnt="5"/>
      <dgm:spPr/>
    </dgm:pt>
    <dgm:pt modelId="{723600A9-E643-4C4B-AC00-10B392D949FC}" type="pres">
      <dgm:prSet presAssocID="{4D79273B-4005-4099-95C4-A8C7B3E7E49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icopter"/>
        </a:ext>
      </dgm:extLst>
    </dgm:pt>
    <dgm:pt modelId="{6019C27E-C3FF-4A4D-AD53-5F889CDCAFCE}" type="pres">
      <dgm:prSet presAssocID="{4D79273B-4005-4099-95C4-A8C7B3E7E495}" presName="spaceRect" presStyleCnt="0"/>
      <dgm:spPr/>
    </dgm:pt>
    <dgm:pt modelId="{F16172B1-4F4D-41D6-8FE7-E914563641F1}" type="pres">
      <dgm:prSet presAssocID="{4D79273B-4005-4099-95C4-A8C7B3E7E495}" presName="parTx" presStyleLbl="revTx" presStyleIdx="0" presStyleCnt="5">
        <dgm:presLayoutVars>
          <dgm:chMax val="0"/>
          <dgm:chPref val="0"/>
        </dgm:presLayoutVars>
      </dgm:prSet>
      <dgm:spPr/>
    </dgm:pt>
    <dgm:pt modelId="{3651206E-3B04-4B88-9781-67D81588989E}" type="pres">
      <dgm:prSet presAssocID="{EF2BBFB7-B169-4564-9F68-2E5C20B7BD3B}" presName="sibTrans" presStyleCnt="0"/>
      <dgm:spPr/>
    </dgm:pt>
    <dgm:pt modelId="{C99F794C-EA1C-4382-926A-C584A1A5585D}" type="pres">
      <dgm:prSet presAssocID="{D27141F4-405A-49ED-B61C-467B084FF648}" presName="compNode" presStyleCnt="0"/>
      <dgm:spPr/>
    </dgm:pt>
    <dgm:pt modelId="{37913D28-F096-4FA4-A61F-E50D2C7FDAEB}" type="pres">
      <dgm:prSet presAssocID="{D27141F4-405A-49ED-B61C-467B084FF648}" presName="bgRect" presStyleLbl="bgShp" presStyleIdx="1" presStyleCnt="5"/>
      <dgm:spPr/>
    </dgm:pt>
    <dgm:pt modelId="{8D7365B3-15C2-4831-AB94-BD4ACA1F048A}" type="pres">
      <dgm:prSet presAssocID="{D27141F4-405A-49ED-B61C-467B084FF64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rt Organ"/>
        </a:ext>
      </dgm:extLst>
    </dgm:pt>
    <dgm:pt modelId="{5C985F59-93E6-4233-8AFC-28DBF71C959B}" type="pres">
      <dgm:prSet presAssocID="{D27141F4-405A-49ED-B61C-467B084FF648}" presName="spaceRect" presStyleCnt="0"/>
      <dgm:spPr/>
    </dgm:pt>
    <dgm:pt modelId="{5CAED671-0E37-4003-8966-174AA4BEF5F9}" type="pres">
      <dgm:prSet presAssocID="{D27141F4-405A-49ED-B61C-467B084FF648}" presName="parTx" presStyleLbl="revTx" presStyleIdx="1" presStyleCnt="5">
        <dgm:presLayoutVars>
          <dgm:chMax val="0"/>
          <dgm:chPref val="0"/>
        </dgm:presLayoutVars>
      </dgm:prSet>
      <dgm:spPr/>
    </dgm:pt>
    <dgm:pt modelId="{D99038FA-3A8A-471F-B085-A533ED1A2510}" type="pres">
      <dgm:prSet presAssocID="{66069FD4-A337-47D8-B442-5414B2613544}" presName="sibTrans" presStyleCnt="0"/>
      <dgm:spPr/>
    </dgm:pt>
    <dgm:pt modelId="{DF117C58-0100-48C2-80D7-A362FBE3A93E}" type="pres">
      <dgm:prSet presAssocID="{3611455F-C14F-4C4D-B2B3-0BB1FC477D21}" presName="compNode" presStyleCnt="0"/>
      <dgm:spPr/>
    </dgm:pt>
    <dgm:pt modelId="{780B81C9-918B-4880-8D44-4C21A4ADB868}" type="pres">
      <dgm:prSet presAssocID="{3611455F-C14F-4C4D-B2B3-0BB1FC477D21}" presName="bgRect" presStyleLbl="bgShp" presStyleIdx="2" presStyleCnt="5"/>
      <dgm:spPr/>
    </dgm:pt>
    <dgm:pt modelId="{C7F71039-30AE-45C0-BF50-F3CED8503C19}" type="pres">
      <dgm:prSet presAssocID="{3611455F-C14F-4C4D-B2B3-0BB1FC477D2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677FDCFF-9306-430F-987F-4353651965A4}" type="pres">
      <dgm:prSet presAssocID="{3611455F-C14F-4C4D-B2B3-0BB1FC477D21}" presName="spaceRect" presStyleCnt="0"/>
      <dgm:spPr/>
    </dgm:pt>
    <dgm:pt modelId="{BC82ABCB-6811-420F-A9E6-7B8ADD8B0DEC}" type="pres">
      <dgm:prSet presAssocID="{3611455F-C14F-4C4D-B2B3-0BB1FC477D21}" presName="parTx" presStyleLbl="revTx" presStyleIdx="2" presStyleCnt="5">
        <dgm:presLayoutVars>
          <dgm:chMax val="0"/>
          <dgm:chPref val="0"/>
        </dgm:presLayoutVars>
      </dgm:prSet>
      <dgm:spPr/>
    </dgm:pt>
    <dgm:pt modelId="{E344FE0B-4F52-4381-AFE3-880D178A3DF9}" type="pres">
      <dgm:prSet presAssocID="{E9B4E4C6-9F86-443D-9431-F9F34A06341E}" presName="sibTrans" presStyleCnt="0"/>
      <dgm:spPr/>
    </dgm:pt>
    <dgm:pt modelId="{38CFE739-3321-46F5-9968-A9F60857CEE7}" type="pres">
      <dgm:prSet presAssocID="{C33D3991-F881-4616-BA52-EDAC8214C6AE}" presName="compNode" presStyleCnt="0"/>
      <dgm:spPr/>
    </dgm:pt>
    <dgm:pt modelId="{F6BDA916-CAF6-45D2-891C-53CD016E6D9D}" type="pres">
      <dgm:prSet presAssocID="{C33D3991-F881-4616-BA52-EDAC8214C6AE}" presName="bgRect" presStyleLbl="bgShp" presStyleIdx="3" presStyleCnt="5"/>
      <dgm:spPr/>
    </dgm:pt>
    <dgm:pt modelId="{15E42FC0-F519-49DB-8A8A-DE981CB43E0F}" type="pres">
      <dgm:prSet presAssocID="{C33D3991-F881-4616-BA52-EDAC8214C6A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raser"/>
        </a:ext>
      </dgm:extLst>
    </dgm:pt>
    <dgm:pt modelId="{087568DB-0473-4086-8F26-0BC8279C18BA}" type="pres">
      <dgm:prSet presAssocID="{C33D3991-F881-4616-BA52-EDAC8214C6AE}" presName="spaceRect" presStyleCnt="0"/>
      <dgm:spPr/>
    </dgm:pt>
    <dgm:pt modelId="{8353B102-EEF8-4239-AF6A-2288B733FED3}" type="pres">
      <dgm:prSet presAssocID="{C33D3991-F881-4616-BA52-EDAC8214C6AE}" presName="parTx" presStyleLbl="revTx" presStyleIdx="3" presStyleCnt="5">
        <dgm:presLayoutVars>
          <dgm:chMax val="0"/>
          <dgm:chPref val="0"/>
        </dgm:presLayoutVars>
      </dgm:prSet>
      <dgm:spPr/>
    </dgm:pt>
    <dgm:pt modelId="{40D021F8-5AD2-4B2D-8FB1-6AFEF1B6BCBB}" type="pres">
      <dgm:prSet presAssocID="{E38C65F3-3032-492E-8641-BD7DA9557A1A}" presName="sibTrans" presStyleCnt="0"/>
      <dgm:spPr/>
    </dgm:pt>
    <dgm:pt modelId="{F3F54BE1-D9AB-43D0-BEA4-C65A04FDAF5D}" type="pres">
      <dgm:prSet presAssocID="{2097D89A-A022-41A1-B741-9C3ECB151E7F}" presName="compNode" presStyleCnt="0"/>
      <dgm:spPr/>
    </dgm:pt>
    <dgm:pt modelId="{6CEE1C5A-D67C-4430-B968-DF42CF1A59EF}" type="pres">
      <dgm:prSet presAssocID="{2097D89A-A022-41A1-B741-9C3ECB151E7F}" presName="bgRect" presStyleLbl="bgShp" presStyleIdx="4" presStyleCnt="5"/>
      <dgm:spPr/>
    </dgm:pt>
    <dgm:pt modelId="{55987CA5-D84A-4053-9CC7-285983B5B7BB}" type="pres">
      <dgm:prSet presAssocID="{2097D89A-A022-41A1-B741-9C3ECB151E7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4B2E5B64-1C0C-42C0-91B1-95F81E364ED7}" type="pres">
      <dgm:prSet presAssocID="{2097D89A-A022-41A1-B741-9C3ECB151E7F}" presName="spaceRect" presStyleCnt="0"/>
      <dgm:spPr/>
    </dgm:pt>
    <dgm:pt modelId="{2A91D299-C5BB-45BE-82DC-5F2B105DE7C9}" type="pres">
      <dgm:prSet presAssocID="{2097D89A-A022-41A1-B741-9C3ECB151E7F}" presName="parTx" presStyleLbl="revTx" presStyleIdx="4" presStyleCnt="5">
        <dgm:presLayoutVars>
          <dgm:chMax val="0"/>
          <dgm:chPref val="0"/>
        </dgm:presLayoutVars>
      </dgm:prSet>
      <dgm:spPr/>
    </dgm:pt>
  </dgm:ptLst>
  <dgm:cxnLst>
    <dgm:cxn modelId="{8E117547-4434-294D-B8FE-ABDC6990B148}" type="presOf" srcId="{D27141F4-405A-49ED-B61C-467B084FF648}" destId="{5CAED671-0E37-4003-8966-174AA4BEF5F9}" srcOrd="0" destOrd="0" presId="urn:microsoft.com/office/officeart/2018/2/layout/IconVerticalSolidList"/>
    <dgm:cxn modelId="{5ABC385E-269D-45C9-9EA8-FEE00E205EDE}" srcId="{21DEAB1A-7698-4060-BA8A-8FF63DB0D40E}" destId="{3611455F-C14F-4C4D-B2B3-0BB1FC477D21}" srcOrd="2" destOrd="0" parTransId="{DE2C1C01-00BD-42F4-AEBC-70845B35DB89}" sibTransId="{E9B4E4C6-9F86-443D-9431-F9F34A06341E}"/>
    <dgm:cxn modelId="{20B0646D-7B6A-9A41-9073-3606F9FB6177}" type="presOf" srcId="{3611455F-C14F-4C4D-B2B3-0BB1FC477D21}" destId="{BC82ABCB-6811-420F-A9E6-7B8ADD8B0DEC}" srcOrd="0" destOrd="0" presId="urn:microsoft.com/office/officeart/2018/2/layout/IconVerticalSolidList"/>
    <dgm:cxn modelId="{88CE8E7D-9267-40FD-8DC2-59CBC190A871}" srcId="{21DEAB1A-7698-4060-BA8A-8FF63DB0D40E}" destId="{C33D3991-F881-4616-BA52-EDAC8214C6AE}" srcOrd="3" destOrd="0" parTransId="{D61F8D84-F584-4100-970A-ADEAD5FBD3B4}" sibTransId="{E38C65F3-3032-492E-8641-BD7DA9557A1A}"/>
    <dgm:cxn modelId="{64C6B187-B125-7D45-BAEE-717F57041C31}" type="presOf" srcId="{21DEAB1A-7698-4060-BA8A-8FF63DB0D40E}" destId="{9A8B4606-3574-4E4E-9D65-26ADD251E51B}" srcOrd="0" destOrd="0" presId="urn:microsoft.com/office/officeart/2018/2/layout/IconVerticalSolidList"/>
    <dgm:cxn modelId="{1E3E67A1-0AC6-49EA-9AC4-0ED298F084EB}" srcId="{21DEAB1A-7698-4060-BA8A-8FF63DB0D40E}" destId="{D27141F4-405A-49ED-B61C-467B084FF648}" srcOrd="1" destOrd="0" parTransId="{2AB02756-DE14-40D5-BE9C-22FB19D6A06E}" sibTransId="{66069FD4-A337-47D8-B442-5414B2613544}"/>
    <dgm:cxn modelId="{A9C8B2AB-8376-E447-B967-0EBE7687E40C}" type="presOf" srcId="{C33D3991-F881-4616-BA52-EDAC8214C6AE}" destId="{8353B102-EEF8-4239-AF6A-2288B733FED3}" srcOrd="0" destOrd="0" presId="urn:microsoft.com/office/officeart/2018/2/layout/IconVerticalSolidList"/>
    <dgm:cxn modelId="{F8C746AC-AE3D-401A-89F5-BB78453D8C69}" srcId="{21DEAB1A-7698-4060-BA8A-8FF63DB0D40E}" destId="{4D79273B-4005-4099-95C4-A8C7B3E7E495}" srcOrd="0" destOrd="0" parTransId="{4D45AFB3-9692-4368-B5F2-81EE83E05953}" sibTransId="{EF2BBFB7-B169-4564-9F68-2E5C20B7BD3B}"/>
    <dgm:cxn modelId="{A5E6E8B8-447B-0645-8755-00B0750EECBA}" type="presOf" srcId="{4D79273B-4005-4099-95C4-A8C7B3E7E495}" destId="{F16172B1-4F4D-41D6-8FE7-E914563641F1}" srcOrd="0" destOrd="0" presId="urn:microsoft.com/office/officeart/2018/2/layout/IconVerticalSolidList"/>
    <dgm:cxn modelId="{E1615CE1-F2AC-8843-997E-47CC27CA22B1}" type="presOf" srcId="{2097D89A-A022-41A1-B741-9C3ECB151E7F}" destId="{2A91D299-C5BB-45BE-82DC-5F2B105DE7C9}" srcOrd="0" destOrd="0" presId="urn:microsoft.com/office/officeart/2018/2/layout/IconVerticalSolidList"/>
    <dgm:cxn modelId="{A985F6E4-857B-435C-95D3-F2B654ACC5EB}" srcId="{21DEAB1A-7698-4060-BA8A-8FF63DB0D40E}" destId="{2097D89A-A022-41A1-B741-9C3ECB151E7F}" srcOrd="4" destOrd="0" parTransId="{3949082E-9334-4D73-934F-D9A196B8B0BC}" sibTransId="{82D371C5-C0EA-4066-828E-1822DA44FB3A}"/>
    <dgm:cxn modelId="{4E445EFF-DB62-444A-B03C-521B16D285DB}" type="presParOf" srcId="{9A8B4606-3574-4E4E-9D65-26ADD251E51B}" destId="{75BF26E9-BFF7-48F2-95F8-6980D715CA61}" srcOrd="0" destOrd="0" presId="urn:microsoft.com/office/officeart/2018/2/layout/IconVerticalSolidList"/>
    <dgm:cxn modelId="{796FEEA6-9794-5545-8880-B97B090C131E}" type="presParOf" srcId="{75BF26E9-BFF7-48F2-95F8-6980D715CA61}" destId="{C4F1D9E3-14DB-4A33-9FA6-D8AE12785F4D}" srcOrd="0" destOrd="0" presId="urn:microsoft.com/office/officeart/2018/2/layout/IconVerticalSolidList"/>
    <dgm:cxn modelId="{18CAC981-430C-044A-85A3-6F26772800BE}" type="presParOf" srcId="{75BF26E9-BFF7-48F2-95F8-6980D715CA61}" destId="{723600A9-E643-4C4B-AC00-10B392D949FC}" srcOrd="1" destOrd="0" presId="urn:microsoft.com/office/officeart/2018/2/layout/IconVerticalSolidList"/>
    <dgm:cxn modelId="{EEF0809E-7B69-0C43-9218-6C6FF7910978}" type="presParOf" srcId="{75BF26E9-BFF7-48F2-95F8-6980D715CA61}" destId="{6019C27E-C3FF-4A4D-AD53-5F889CDCAFCE}" srcOrd="2" destOrd="0" presId="urn:microsoft.com/office/officeart/2018/2/layout/IconVerticalSolidList"/>
    <dgm:cxn modelId="{AC7EA809-9782-6846-9B79-89BC5B2137AE}" type="presParOf" srcId="{75BF26E9-BFF7-48F2-95F8-6980D715CA61}" destId="{F16172B1-4F4D-41D6-8FE7-E914563641F1}" srcOrd="3" destOrd="0" presId="urn:microsoft.com/office/officeart/2018/2/layout/IconVerticalSolidList"/>
    <dgm:cxn modelId="{30C70EA4-DFC7-0540-8AB0-64BEB68B7D71}" type="presParOf" srcId="{9A8B4606-3574-4E4E-9D65-26ADD251E51B}" destId="{3651206E-3B04-4B88-9781-67D81588989E}" srcOrd="1" destOrd="0" presId="urn:microsoft.com/office/officeart/2018/2/layout/IconVerticalSolidList"/>
    <dgm:cxn modelId="{5279D661-88BE-F24F-801E-F1CC228C25AE}" type="presParOf" srcId="{9A8B4606-3574-4E4E-9D65-26ADD251E51B}" destId="{C99F794C-EA1C-4382-926A-C584A1A5585D}" srcOrd="2" destOrd="0" presId="urn:microsoft.com/office/officeart/2018/2/layout/IconVerticalSolidList"/>
    <dgm:cxn modelId="{3054DF9F-177F-504D-9059-11A19E72FA31}" type="presParOf" srcId="{C99F794C-EA1C-4382-926A-C584A1A5585D}" destId="{37913D28-F096-4FA4-A61F-E50D2C7FDAEB}" srcOrd="0" destOrd="0" presId="urn:microsoft.com/office/officeart/2018/2/layout/IconVerticalSolidList"/>
    <dgm:cxn modelId="{9B098A43-8DE1-4E49-88E5-29413C5CC219}" type="presParOf" srcId="{C99F794C-EA1C-4382-926A-C584A1A5585D}" destId="{8D7365B3-15C2-4831-AB94-BD4ACA1F048A}" srcOrd="1" destOrd="0" presId="urn:microsoft.com/office/officeart/2018/2/layout/IconVerticalSolidList"/>
    <dgm:cxn modelId="{3CE03E29-92FB-E147-8E2F-D300104590E9}" type="presParOf" srcId="{C99F794C-EA1C-4382-926A-C584A1A5585D}" destId="{5C985F59-93E6-4233-8AFC-28DBF71C959B}" srcOrd="2" destOrd="0" presId="urn:microsoft.com/office/officeart/2018/2/layout/IconVerticalSolidList"/>
    <dgm:cxn modelId="{69607F90-5095-6B4C-B654-6DBB6670F474}" type="presParOf" srcId="{C99F794C-EA1C-4382-926A-C584A1A5585D}" destId="{5CAED671-0E37-4003-8966-174AA4BEF5F9}" srcOrd="3" destOrd="0" presId="urn:microsoft.com/office/officeart/2018/2/layout/IconVerticalSolidList"/>
    <dgm:cxn modelId="{D1DB4C74-E1CE-3E42-88C8-6F2B2F772787}" type="presParOf" srcId="{9A8B4606-3574-4E4E-9D65-26ADD251E51B}" destId="{D99038FA-3A8A-471F-B085-A533ED1A2510}" srcOrd="3" destOrd="0" presId="urn:microsoft.com/office/officeart/2018/2/layout/IconVerticalSolidList"/>
    <dgm:cxn modelId="{32459099-2B87-864B-BA98-AB006B9DE652}" type="presParOf" srcId="{9A8B4606-3574-4E4E-9D65-26ADD251E51B}" destId="{DF117C58-0100-48C2-80D7-A362FBE3A93E}" srcOrd="4" destOrd="0" presId="urn:microsoft.com/office/officeart/2018/2/layout/IconVerticalSolidList"/>
    <dgm:cxn modelId="{599A1E18-B710-AF40-81D1-669683AB5FD3}" type="presParOf" srcId="{DF117C58-0100-48C2-80D7-A362FBE3A93E}" destId="{780B81C9-918B-4880-8D44-4C21A4ADB868}" srcOrd="0" destOrd="0" presId="urn:microsoft.com/office/officeart/2018/2/layout/IconVerticalSolidList"/>
    <dgm:cxn modelId="{60686C82-1310-D949-B4DD-1BBD201F3F68}" type="presParOf" srcId="{DF117C58-0100-48C2-80D7-A362FBE3A93E}" destId="{C7F71039-30AE-45C0-BF50-F3CED8503C19}" srcOrd="1" destOrd="0" presId="urn:microsoft.com/office/officeart/2018/2/layout/IconVerticalSolidList"/>
    <dgm:cxn modelId="{5253BCC8-6784-BE4C-B1BD-0E00B0634519}" type="presParOf" srcId="{DF117C58-0100-48C2-80D7-A362FBE3A93E}" destId="{677FDCFF-9306-430F-987F-4353651965A4}" srcOrd="2" destOrd="0" presId="urn:microsoft.com/office/officeart/2018/2/layout/IconVerticalSolidList"/>
    <dgm:cxn modelId="{28DE12FC-E462-0A4A-8BF0-A0E180C43ED1}" type="presParOf" srcId="{DF117C58-0100-48C2-80D7-A362FBE3A93E}" destId="{BC82ABCB-6811-420F-A9E6-7B8ADD8B0DEC}" srcOrd="3" destOrd="0" presId="urn:microsoft.com/office/officeart/2018/2/layout/IconVerticalSolidList"/>
    <dgm:cxn modelId="{E3B6B759-7B3D-E74F-BB1D-16DF8A650AEC}" type="presParOf" srcId="{9A8B4606-3574-4E4E-9D65-26ADD251E51B}" destId="{E344FE0B-4F52-4381-AFE3-880D178A3DF9}" srcOrd="5" destOrd="0" presId="urn:microsoft.com/office/officeart/2018/2/layout/IconVerticalSolidList"/>
    <dgm:cxn modelId="{64404ED7-BB83-574D-8BC0-F31E67773F3F}" type="presParOf" srcId="{9A8B4606-3574-4E4E-9D65-26ADD251E51B}" destId="{38CFE739-3321-46F5-9968-A9F60857CEE7}" srcOrd="6" destOrd="0" presId="urn:microsoft.com/office/officeart/2018/2/layout/IconVerticalSolidList"/>
    <dgm:cxn modelId="{54B3A1C6-1013-F347-9733-D51EC4DBC213}" type="presParOf" srcId="{38CFE739-3321-46F5-9968-A9F60857CEE7}" destId="{F6BDA916-CAF6-45D2-891C-53CD016E6D9D}" srcOrd="0" destOrd="0" presId="urn:microsoft.com/office/officeart/2018/2/layout/IconVerticalSolidList"/>
    <dgm:cxn modelId="{82A05527-277D-B748-9295-7996D098D134}" type="presParOf" srcId="{38CFE739-3321-46F5-9968-A9F60857CEE7}" destId="{15E42FC0-F519-49DB-8A8A-DE981CB43E0F}" srcOrd="1" destOrd="0" presId="urn:microsoft.com/office/officeart/2018/2/layout/IconVerticalSolidList"/>
    <dgm:cxn modelId="{60A2201A-3AC9-F34A-8B44-770EA1C33E7E}" type="presParOf" srcId="{38CFE739-3321-46F5-9968-A9F60857CEE7}" destId="{087568DB-0473-4086-8F26-0BC8279C18BA}" srcOrd="2" destOrd="0" presId="urn:microsoft.com/office/officeart/2018/2/layout/IconVerticalSolidList"/>
    <dgm:cxn modelId="{27370DF9-8F9B-5D42-8B80-262A07B6BA4B}" type="presParOf" srcId="{38CFE739-3321-46F5-9968-A9F60857CEE7}" destId="{8353B102-EEF8-4239-AF6A-2288B733FED3}" srcOrd="3" destOrd="0" presId="urn:microsoft.com/office/officeart/2018/2/layout/IconVerticalSolidList"/>
    <dgm:cxn modelId="{4A44FDC4-773A-FB46-BF4C-CFF3F2D43BFE}" type="presParOf" srcId="{9A8B4606-3574-4E4E-9D65-26ADD251E51B}" destId="{40D021F8-5AD2-4B2D-8FB1-6AFEF1B6BCBB}" srcOrd="7" destOrd="0" presId="urn:microsoft.com/office/officeart/2018/2/layout/IconVerticalSolidList"/>
    <dgm:cxn modelId="{4775C996-33A6-5940-846C-A34E9E0BE440}" type="presParOf" srcId="{9A8B4606-3574-4E4E-9D65-26ADD251E51B}" destId="{F3F54BE1-D9AB-43D0-BEA4-C65A04FDAF5D}" srcOrd="8" destOrd="0" presId="urn:microsoft.com/office/officeart/2018/2/layout/IconVerticalSolidList"/>
    <dgm:cxn modelId="{DE1613F7-73BB-7940-83A1-946EAF331E80}" type="presParOf" srcId="{F3F54BE1-D9AB-43D0-BEA4-C65A04FDAF5D}" destId="{6CEE1C5A-D67C-4430-B968-DF42CF1A59EF}" srcOrd="0" destOrd="0" presId="urn:microsoft.com/office/officeart/2018/2/layout/IconVerticalSolidList"/>
    <dgm:cxn modelId="{F3D84C69-FC9F-8B49-9F6C-C5C1ED3E5401}" type="presParOf" srcId="{F3F54BE1-D9AB-43D0-BEA4-C65A04FDAF5D}" destId="{55987CA5-D84A-4053-9CC7-285983B5B7BB}" srcOrd="1" destOrd="0" presId="urn:microsoft.com/office/officeart/2018/2/layout/IconVerticalSolidList"/>
    <dgm:cxn modelId="{18498298-48E2-484D-8E2A-7EFE343B0603}" type="presParOf" srcId="{F3F54BE1-D9AB-43D0-BEA4-C65A04FDAF5D}" destId="{4B2E5B64-1C0C-42C0-91B1-95F81E364ED7}" srcOrd="2" destOrd="0" presId="urn:microsoft.com/office/officeart/2018/2/layout/IconVerticalSolidList"/>
    <dgm:cxn modelId="{571406C0-730F-974C-8CE6-62896FB065CA}" type="presParOf" srcId="{F3F54BE1-D9AB-43D0-BEA4-C65A04FDAF5D}" destId="{2A91D299-C5BB-45BE-82DC-5F2B105DE7C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DEAB1A-7698-4060-BA8A-8FF63DB0D40E}" type="doc">
      <dgm:prSet loTypeId="urn:microsoft.com/office/officeart/2018/2/layout/IconVerticalSolidList" loCatId="icon" qsTypeId="urn:microsoft.com/office/officeart/2005/8/quickstyle/simple1" qsCatId="simple" csTypeId="urn:microsoft.com/office/officeart/2018/5/colors/Iconchunking_neutralicontext_accent3_2" csCatId="accent3" phldr="1"/>
      <dgm:spPr/>
      <dgm:t>
        <a:bodyPr/>
        <a:lstStyle/>
        <a:p>
          <a:endParaRPr lang="en-US"/>
        </a:p>
      </dgm:t>
    </dgm:pt>
    <dgm:pt modelId="{4D79273B-4005-4099-95C4-A8C7B3E7E495}">
      <dgm:prSet/>
      <dgm:spPr/>
      <dgm:t>
        <a:bodyPr/>
        <a:lstStyle/>
        <a:p>
          <a:r>
            <a:rPr lang="en-US" b="0" i="0" baseline="0" dirty="0"/>
            <a:t>Even if we increase the block size or decrease the block time, still the TPS can be scaled to 3500 in bitcoin.</a:t>
          </a:r>
          <a:endParaRPr lang="en-US" dirty="0"/>
        </a:p>
      </dgm:t>
    </dgm:pt>
    <dgm:pt modelId="{4D45AFB3-9692-4368-B5F2-81EE83E05953}" type="parTrans" cxnId="{F8C746AC-AE3D-401A-89F5-BB78453D8C69}">
      <dgm:prSet/>
      <dgm:spPr/>
      <dgm:t>
        <a:bodyPr/>
        <a:lstStyle/>
        <a:p>
          <a:endParaRPr lang="en-US"/>
        </a:p>
      </dgm:t>
    </dgm:pt>
    <dgm:pt modelId="{EF2BBFB7-B169-4564-9F68-2E5C20B7BD3B}" type="sibTrans" cxnId="{F8C746AC-AE3D-401A-89F5-BB78453D8C69}">
      <dgm:prSet/>
      <dgm:spPr/>
      <dgm:t>
        <a:bodyPr/>
        <a:lstStyle/>
        <a:p>
          <a:endParaRPr lang="en-US"/>
        </a:p>
      </dgm:t>
    </dgm:pt>
    <dgm:pt modelId="{9A8B4606-3574-4E4E-9D65-26ADD251E51B}" type="pres">
      <dgm:prSet presAssocID="{21DEAB1A-7698-4060-BA8A-8FF63DB0D40E}" presName="root" presStyleCnt="0">
        <dgm:presLayoutVars>
          <dgm:dir/>
          <dgm:resizeHandles val="exact"/>
        </dgm:presLayoutVars>
      </dgm:prSet>
      <dgm:spPr/>
    </dgm:pt>
    <dgm:pt modelId="{75BF26E9-BFF7-48F2-95F8-6980D715CA61}" type="pres">
      <dgm:prSet presAssocID="{4D79273B-4005-4099-95C4-A8C7B3E7E495}" presName="compNode" presStyleCnt="0"/>
      <dgm:spPr/>
    </dgm:pt>
    <dgm:pt modelId="{C4F1D9E3-14DB-4A33-9FA6-D8AE12785F4D}" type="pres">
      <dgm:prSet presAssocID="{4D79273B-4005-4099-95C4-A8C7B3E7E495}" presName="bgRect" presStyleLbl="bgShp" presStyleIdx="0" presStyleCnt="1"/>
      <dgm:spPr/>
    </dgm:pt>
    <dgm:pt modelId="{723600A9-E643-4C4B-AC00-10B392D949FC}" type="pres">
      <dgm:prSet presAssocID="{4D79273B-4005-4099-95C4-A8C7B3E7E495}"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icopter"/>
        </a:ext>
      </dgm:extLst>
    </dgm:pt>
    <dgm:pt modelId="{6019C27E-C3FF-4A4D-AD53-5F889CDCAFCE}" type="pres">
      <dgm:prSet presAssocID="{4D79273B-4005-4099-95C4-A8C7B3E7E495}" presName="spaceRect" presStyleCnt="0"/>
      <dgm:spPr/>
    </dgm:pt>
    <dgm:pt modelId="{F16172B1-4F4D-41D6-8FE7-E914563641F1}" type="pres">
      <dgm:prSet presAssocID="{4D79273B-4005-4099-95C4-A8C7B3E7E495}" presName="parTx" presStyleLbl="revTx" presStyleIdx="0" presStyleCnt="1">
        <dgm:presLayoutVars>
          <dgm:chMax val="0"/>
          <dgm:chPref val="0"/>
        </dgm:presLayoutVars>
      </dgm:prSet>
      <dgm:spPr/>
    </dgm:pt>
  </dgm:ptLst>
  <dgm:cxnLst>
    <dgm:cxn modelId="{64C6B187-B125-7D45-BAEE-717F57041C31}" type="presOf" srcId="{21DEAB1A-7698-4060-BA8A-8FF63DB0D40E}" destId="{9A8B4606-3574-4E4E-9D65-26ADD251E51B}" srcOrd="0" destOrd="0" presId="urn:microsoft.com/office/officeart/2018/2/layout/IconVerticalSolidList"/>
    <dgm:cxn modelId="{F8C746AC-AE3D-401A-89F5-BB78453D8C69}" srcId="{21DEAB1A-7698-4060-BA8A-8FF63DB0D40E}" destId="{4D79273B-4005-4099-95C4-A8C7B3E7E495}" srcOrd="0" destOrd="0" parTransId="{4D45AFB3-9692-4368-B5F2-81EE83E05953}" sibTransId="{EF2BBFB7-B169-4564-9F68-2E5C20B7BD3B}"/>
    <dgm:cxn modelId="{A5E6E8B8-447B-0645-8755-00B0750EECBA}" type="presOf" srcId="{4D79273B-4005-4099-95C4-A8C7B3E7E495}" destId="{F16172B1-4F4D-41D6-8FE7-E914563641F1}" srcOrd="0" destOrd="0" presId="urn:microsoft.com/office/officeart/2018/2/layout/IconVerticalSolidList"/>
    <dgm:cxn modelId="{4E445EFF-DB62-444A-B03C-521B16D285DB}" type="presParOf" srcId="{9A8B4606-3574-4E4E-9D65-26ADD251E51B}" destId="{75BF26E9-BFF7-48F2-95F8-6980D715CA61}" srcOrd="0" destOrd="0" presId="urn:microsoft.com/office/officeart/2018/2/layout/IconVerticalSolidList"/>
    <dgm:cxn modelId="{796FEEA6-9794-5545-8880-B97B090C131E}" type="presParOf" srcId="{75BF26E9-BFF7-48F2-95F8-6980D715CA61}" destId="{C4F1D9E3-14DB-4A33-9FA6-D8AE12785F4D}" srcOrd="0" destOrd="0" presId="urn:microsoft.com/office/officeart/2018/2/layout/IconVerticalSolidList"/>
    <dgm:cxn modelId="{18CAC981-430C-044A-85A3-6F26772800BE}" type="presParOf" srcId="{75BF26E9-BFF7-48F2-95F8-6980D715CA61}" destId="{723600A9-E643-4C4B-AC00-10B392D949FC}" srcOrd="1" destOrd="0" presId="urn:microsoft.com/office/officeart/2018/2/layout/IconVerticalSolidList"/>
    <dgm:cxn modelId="{EEF0809E-7B69-0C43-9218-6C6FF7910978}" type="presParOf" srcId="{75BF26E9-BFF7-48F2-95F8-6980D715CA61}" destId="{6019C27E-C3FF-4A4D-AD53-5F889CDCAFCE}" srcOrd="2" destOrd="0" presId="urn:microsoft.com/office/officeart/2018/2/layout/IconVerticalSolidList"/>
    <dgm:cxn modelId="{AC7EA809-9782-6846-9B79-89BC5B2137AE}" type="presParOf" srcId="{75BF26E9-BFF7-48F2-95F8-6980D715CA61}" destId="{F16172B1-4F4D-41D6-8FE7-E914563641F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BEA7AC-28D1-4A0D-B657-609DE1CF3DD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EAF5C62-FC41-4858-A160-43BED64968C7}">
      <dgm:prSet/>
      <dgm:spPr/>
      <dgm:t>
        <a:bodyPr/>
        <a:lstStyle/>
        <a:p>
          <a:r>
            <a:rPr lang="en-US"/>
            <a:t>Single-leader block assembly bottlenecks throughput and raises latency.</a:t>
          </a:r>
        </a:p>
      </dgm:t>
    </dgm:pt>
    <dgm:pt modelId="{6D3C05AC-20E4-4A39-ADCD-3A586FABF47D}" type="parTrans" cxnId="{A6731F93-E45A-4E92-A714-5E7DD2D52EB1}">
      <dgm:prSet/>
      <dgm:spPr/>
      <dgm:t>
        <a:bodyPr/>
        <a:lstStyle/>
        <a:p>
          <a:endParaRPr lang="en-US"/>
        </a:p>
      </dgm:t>
    </dgm:pt>
    <dgm:pt modelId="{908B4091-1D80-4E4E-90F1-F5BC567A80E4}" type="sibTrans" cxnId="{A6731F93-E45A-4E92-A714-5E7DD2D52EB1}">
      <dgm:prSet/>
      <dgm:spPr/>
      <dgm:t>
        <a:bodyPr/>
        <a:lstStyle/>
        <a:p>
          <a:endParaRPr lang="en-US"/>
        </a:p>
      </dgm:t>
    </dgm:pt>
    <dgm:pt modelId="{2423AB3F-95E7-41DF-B2A1-96DD972A1331}">
      <dgm:prSet/>
      <dgm:spPr/>
      <dgm:t>
        <a:bodyPr/>
        <a:lstStyle/>
        <a:p>
          <a:r>
            <a:rPr lang="en-US"/>
            <a:t>Our approach lets multiple miners to win per round and then contribute towards building a block in parallel.</a:t>
          </a:r>
        </a:p>
      </dgm:t>
    </dgm:pt>
    <dgm:pt modelId="{D6322742-FB94-452F-9D5D-F393A35A469B}" type="parTrans" cxnId="{E0CD1CDD-83EB-4BC3-9B13-4E76BCC8DBA9}">
      <dgm:prSet/>
      <dgm:spPr/>
      <dgm:t>
        <a:bodyPr/>
        <a:lstStyle/>
        <a:p>
          <a:endParaRPr lang="en-US"/>
        </a:p>
      </dgm:t>
    </dgm:pt>
    <dgm:pt modelId="{8D1F152A-4115-4C70-A485-68491C642866}" type="sibTrans" cxnId="{E0CD1CDD-83EB-4BC3-9B13-4E76BCC8DBA9}">
      <dgm:prSet/>
      <dgm:spPr/>
      <dgm:t>
        <a:bodyPr/>
        <a:lstStyle/>
        <a:p>
          <a:endParaRPr lang="en-US"/>
        </a:p>
      </dgm:t>
    </dgm:pt>
    <dgm:pt modelId="{B794EA1B-23E2-4219-BE7B-B0A20D7C1209}">
      <dgm:prSet/>
      <dgm:spPr/>
      <dgm:t>
        <a:bodyPr/>
        <a:lstStyle/>
        <a:p>
          <a:r>
            <a:rPr lang="en-US"/>
            <a:t>Each winner assembles a shard, where shard headers are coordinated and ordered deterministically to form a block.</a:t>
          </a:r>
        </a:p>
      </dgm:t>
    </dgm:pt>
    <dgm:pt modelId="{2A439DA4-FB1C-4C46-9F8E-4A40D7663053}" type="parTrans" cxnId="{6242814A-67FC-4DB2-BB6D-D7FD29B58A3F}">
      <dgm:prSet/>
      <dgm:spPr/>
      <dgm:t>
        <a:bodyPr/>
        <a:lstStyle/>
        <a:p>
          <a:endParaRPr lang="en-US"/>
        </a:p>
      </dgm:t>
    </dgm:pt>
    <dgm:pt modelId="{9743AA34-C791-47DD-A54C-683F73069A56}" type="sibTrans" cxnId="{6242814A-67FC-4DB2-BB6D-D7FD29B58A3F}">
      <dgm:prSet/>
      <dgm:spPr/>
      <dgm:t>
        <a:bodyPr/>
        <a:lstStyle/>
        <a:p>
          <a:endParaRPr lang="en-US"/>
        </a:p>
      </dgm:t>
    </dgm:pt>
    <dgm:pt modelId="{414846CE-B929-49D7-A0A0-5FA394C7DBA2}">
      <dgm:prSet/>
      <dgm:spPr/>
      <dgm:t>
        <a:bodyPr/>
        <a:lstStyle/>
        <a:p>
          <a:r>
            <a:rPr lang="en-US"/>
            <a:t>This would help us benchmark and determine that at how many shards do we get the best throughput while maintaining a stable latency over the network.</a:t>
          </a:r>
        </a:p>
      </dgm:t>
    </dgm:pt>
    <dgm:pt modelId="{9BCB737D-928C-4635-9DCF-263667BF7862}" type="parTrans" cxnId="{DD5D8578-378B-43D5-BFC7-A00F5F4C538C}">
      <dgm:prSet/>
      <dgm:spPr/>
      <dgm:t>
        <a:bodyPr/>
        <a:lstStyle/>
        <a:p>
          <a:endParaRPr lang="en-US"/>
        </a:p>
      </dgm:t>
    </dgm:pt>
    <dgm:pt modelId="{4E6C8CFC-83A3-439E-B6AC-272DEB18A310}" type="sibTrans" cxnId="{DD5D8578-378B-43D5-BFC7-A00F5F4C538C}">
      <dgm:prSet/>
      <dgm:spPr/>
      <dgm:t>
        <a:bodyPr/>
        <a:lstStyle/>
        <a:p>
          <a:endParaRPr lang="en-US"/>
        </a:p>
      </dgm:t>
    </dgm:pt>
    <dgm:pt modelId="{516F432A-3D05-A844-809F-4929CE39D4FC}" type="pres">
      <dgm:prSet presAssocID="{89BEA7AC-28D1-4A0D-B657-609DE1CF3DD2}" presName="linear" presStyleCnt="0">
        <dgm:presLayoutVars>
          <dgm:animLvl val="lvl"/>
          <dgm:resizeHandles val="exact"/>
        </dgm:presLayoutVars>
      </dgm:prSet>
      <dgm:spPr/>
    </dgm:pt>
    <dgm:pt modelId="{BC83371C-6554-B842-B6B7-6C4F3FC78EF4}" type="pres">
      <dgm:prSet presAssocID="{BEAF5C62-FC41-4858-A160-43BED64968C7}" presName="parentText" presStyleLbl="node1" presStyleIdx="0" presStyleCnt="4">
        <dgm:presLayoutVars>
          <dgm:chMax val="0"/>
          <dgm:bulletEnabled val="1"/>
        </dgm:presLayoutVars>
      </dgm:prSet>
      <dgm:spPr/>
    </dgm:pt>
    <dgm:pt modelId="{0C8A492E-A5A8-B348-B0E6-32F167200762}" type="pres">
      <dgm:prSet presAssocID="{908B4091-1D80-4E4E-90F1-F5BC567A80E4}" presName="spacer" presStyleCnt="0"/>
      <dgm:spPr/>
    </dgm:pt>
    <dgm:pt modelId="{4670B83A-6534-934D-9DB0-F2F3081A7FF3}" type="pres">
      <dgm:prSet presAssocID="{2423AB3F-95E7-41DF-B2A1-96DD972A1331}" presName="parentText" presStyleLbl="node1" presStyleIdx="1" presStyleCnt="4">
        <dgm:presLayoutVars>
          <dgm:chMax val="0"/>
          <dgm:bulletEnabled val="1"/>
        </dgm:presLayoutVars>
      </dgm:prSet>
      <dgm:spPr/>
    </dgm:pt>
    <dgm:pt modelId="{3EF65363-0D7E-DA49-8ECF-81AD3C66D65A}" type="pres">
      <dgm:prSet presAssocID="{8D1F152A-4115-4C70-A485-68491C642866}" presName="spacer" presStyleCnt="0"/>
      <dgm:spPr/>
    </dgm:pt>
    <dgm:pt modelId="{BA6BEF41-9328-2347-8C46-7E24767BCF16}" type="pres">
      <dgm:prSet presAssocID="{B794EA1B-23E2-4219-BE7B-B0A20D7C1209}" presName="parentText" presStyleLbl="node1" presStyleIdx="2" presStyleCnt="4">
        <dgm:presLayoutVars>
          <dgm:chMax val="0"/>
          <dgm:bulletEnabled val="1"/>
        </dgm:presLayoutVars>
      </dgm:prSet>
      <dgm:spPr/>
    </dgm:pt>
    <dgm:pt modelId="{92443ACD-32A5-B648-BFE7-D27444BB720E}" type="pres">
      <dgm:prSet presAssocID="{9743AA34-C791-47DD-A54C-683F73069A56}" presName="spacer" presStyleCnt="0"/>
      <dgm:spPr/>
    </dgm:pt>
    <dgm:pt modelId="{1F82082B-DA70-F14C-A3F9-C2C1A7530721}" type="pres">
      <dgm:prSet presAssocID="{414846CE-B929-49D7-A0A0-5FA394C7DBA2}" presName="parentText" presStyleLbl="node1" presStyleIdx="3" presStyleCnt="4">
        <dgm:presLayoutVars>
          <dgm:chMax val="0"/>
          <dgm:bulletEnabled val="1"/>
        </dgm:presLayoutVars>
      </dgm:prSet>
      <dgm:spPr/>
    </dgm:pt>
  </dgm:ptLst>
  <dgm:cxnLst>
    <dgm:cxn modelId="{6242814A-67FC-4DB2-BB6D-D7FD29B58A3F}" srcId="{89BEA7AC-28D1-4A0D-B657-609DE1CF3DD2}" destId="{B794EA1B-23E2-4219-BE7B-B0A20D7C1209}" srcOrd="2" destOrd="0" parTransId="{2A439DA4-FB1C-4C46-9F8E-4A40D7663053}" sibTransId="{9743AA34-C791-47DD-A54C-683F73069A56}"/>
    <dgm:cxn modelId="{76B6C159-34E8-334B-912A-65DE8C14AC13}" type="presOf" srcId="{BEAF5C62-FC41-4858-A160-43BED64968C7}" destId="{BC83371C-6554-B842-B6B7-6C4F3FC78EF4}" srcOrd="0" destOrd="0" presId="urn:microsoft.com/office/officeart/2005/8/layout/vList2"/>
    <dgm:cxn modelId="{9EAEED5E-AFB4-BA40-874B-80B7BECAF31C}" type="presOf" srcId="{414846CE-B929-49D7-A0A0-5FA394C7DBA2}" destId="{1F82082B-DA70-F14C-A3F9-C2C1A7530721}" srcOrd="0" destOrd="0" presId="urn:microsoft.com/office/officeart/2005/8/layout/vList2"/>
    <dgm:cxn modelId="{83E75E75-FD82-384B-B71C-59B985F50ABE}" type="presOf" srcId="{2423AB3F-95E7-41DF-B2A1-96DD972A1331}" destId="{4670B83A-6534-934D-9DB0-F2F3081A7FF3}" srcOrd="0" destOrd="0" presId="urn:microsoft.com/office/officeart/2005/8/layout/vList2"/>
    <dgm:cxn modelId="{DD5D8578-378B-43D5-BFC7-A00F5F4C538C}" srcId="{89BEA7AC-28D1-4A0D-B657-609DE1CF3DD2}" destId="{414846CE-B929-49D7-A0A0-5FA394C7DBA2}" srcOrd="3" destOrd="0" parTransId="{9BCB737D-928C-4635-9DCF-263667BF7862}" sibTransId="{4E6C8CFC-83A3-439E-B6AC-272DEB18A310}"/>
    <dgm:cxn modelId="{A6731F93-E45A-4E92-A714-5E7DD2D52EB1}" srcId="{89BEA7AC-28D1-4A0D-B657-609DE1CF3DD2}" destId="{BEAF5C62-FC41-4858-A160-43BED64968C7}" srcOrd="0" destOrd="0" parTransId="{6D3C05AC-20E4-4A39-ADCD-3A586FABF47D}" sibTransId="{908B4091-1D80-4E4E-90F1-F5BC567A80E4}"/>
    <dgm:cxn modelId="{0A961FA8-93D7-D846-AE86-448FAE9C8551}" type="presOf" srcId="{B794EA1B-23E2-4219-BE7B-B0A20D7C1209}" destId="{BA6BEF41-9328-2347-8C46-7E24767BCF16}" srcOrd="0" destOrd="0" presId="urn:microsoft.com/office/officeart/2005/8/layout/vList2"/>
    <dgm:cxn modelId="{9D9801A9-569D-2946-A562-B6E80D76B3A4}" type="presOf" srcId="{89BEA7AC-28D1-4A0D-B657-609DE1CF3DD2}" destId="{516F432A-3D05-A844-809F-4929CE39D4FC}" srcOrd="0" destOrd="0" presId="urn:microsoft.com/office/officeart/2005/8/layout/vList2"/>
    <dgm:cxn modelId="{E0CD1CDD-83EB-4BC3-9B13-4E76BCC8DBA9}" srcId="{89BEA7AC-28D1-4A0D-B657-609DE1CF3DD2}" destId="{2423AB3F-95E7-41DF-B2A1-96DD972A1331}" srcOrd="1" destOrd="0" parTransId="{D6322742-FB94-452F-9D5D-F393A35A469B}" sibTransId="{8D1F152A-4115-4C70-A485-68491C642866}"/>
    <dgm:cxn modelId="{530BC797-8221-6B4F-8922-72DFB7735541}" type="presParOf" srcId="{516F432A-3D05-A844-809F-4929CE39D4FC}" destId="{BC83371C-6554-B842-B6B7-6C4F3FC78EF4}" srcOrd="0" destOrd="0" presId="urn:microsoft.com/office/officeart/2005/8/layout/vList2"/>
    <dgm:cxn modelId="{89486ED2-9A41-D64A-985C-391243BF0AF5}" type="presParOf" srcId="{516F432A-3D05-A844-809F-4929CE39D4FC}" destId="{0C8A492E-A5A8-B348-B0E6-32F167200762}" srcOrd="1" destOrd="0" presId="urn:microsoft.com/office/officeart/2005/8/layout/vList2"/>
    <dgm:cxn modelId="{2714F6E1-AA15-2847-82C7-FE073ADED72B}" type="presParOf" srcId="{516F432A-3D05-A844-809F-4929CE39D4FC}" destId="{4670B83A-6534-934D-9DB0-F2F3081A7FF3}" srcOrd="2" destOrd="0" presId="urn:microsoft.com/office/officeart/2005/8/layout/vList2"/>
    <dgm:cxn modelId="{68430889-F2EA-5642-8528-A3119889768B}" type="presParOf" srcId="{516F432A-3D05-A844-809F-4929CE39D4FC}" destId="{3EF65363-0D7E-DA49-8ECF-81AD3C66D65A}" srcOrd="3" destOrd="0" presId="urn:microsoft.com/office/officeart/2005/8/layout/vList2"/>
    <dgm:cxn modelId="{CA61F1DC-6BE6-774B-B506-7C664024D525}" type="presParOf" srcId="{516F432A-3D05-A844-809F-4929CE39D4FC}" destId="{BA6BEF41-9328-2347-8C46-7E24767BCF16}" srcOrd="4" destOrd="0" presId="urn:microsoft.com/office/officeart/2005/8/layout/vList2"/>
    <dgm:cxn modelId="{D5E46290-F9CF-2149-89F4-BD47DE889056}" type="presParOf" srcId="{516F432A-3D05-A844-809F-4929CE39D4FC}" destId="{92443ACD-32A5-B648-BFE7-D27444BB720E}" srcOrd="5" destOrd="0" presId="urn:microsoft.com/office/officeart/2005/8/layout/vList2"/>
    <dgm:cxn modelId="{2C437F0F-FC99-EE4D-A006-1C07EF759DEE}" type="presParOf" srcId="{516F432A-3D05-A844-809F-4929CE39D4FC}" destId="{1F82082B-DA70-F14C-A3F9-C2C1A753072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51355F-9411-4F3B-B258-9EF66ADFD6BC}"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EBA2E775-1F29-4FD9-BB3A-114D16F08E88}">
      <dgm:prSet/>
      <dgm:spPr/>
      <dgm:t>
        <a:bodyPr/>
        <a:lstStyle/>
        <a:p>
          <a:r>
            <a:rPr lang="en-US"/>
            <a:t>Many participants run the consensus mechanism.</a:t>
          </a:r>
        </a:p>
      </dgm:t>
    </dgm:pt>
    <dgm:pt modelId="{3EB37BD8-801D-4547-8D66-32FD385CA1B1}" type="parTrans" cxnId="{7081C8F4-0909-4D9F-B955-DE40742D8C6D}">
      <dgm:prSet/>
      <dgm:spPr/>
      <dgm:t>
        <a:bodyPr/>
        <a:lstStyle/>
        <a:p>
          <a:endParaRPr lang="en-US"/>
        </a:p>
      </dgm:t>
    </dgm:pt>
    <dgm:pt modelId="{559F0E5E-6929-496F-9222-D3DA0E57B893}" type="sibTrans" cxnId="{7081C8F4-0909-4D9F-B955-DE40742D8C6D}">
      <dgm:prSet/>
      <dgm:spPr/>
      <dgm:t>
        <a:bodyPr/>
        <a:lstStyle/>
        <a:p>
          <a:endParaRPr lang="en-US"/>
        </a:p>
      </dgm:t>
    </dgm:pt>
    <dgm:pt modelId="{50DD3B39-0D8E-4069-A0B1-C3C6EE805B43}">
      <dgm:prSet/>
      <dgm:spPr/>
      <dgm:t>
        <a:bodyPr/>
        <a:lstStyle/>
        <a:p>
          <a:r>
            <a:rPr lang="en-US"/>
            <a:t>Let’s say after that we have multiple winners for that round based on the difficulty and mechanism, each winner will be counted as a single shard in that case.</a:t>
          </a:r>
        </a:p>
      </dgm:t>
    </dgm:pt>
    <dgm:pt modelId="{5F91E326-0AA6-4E6A-9B8F-7895B3B6746C}" type="parTrans" cxnId="{51204189-780F-48DC-AC6F-A6A096D35421}">
      <dgm:prSet/>
      <dgm:spPr/>
      <dgm:t>
        <a:bodyPr/>
        <a:lstStyle/>
        <a:p>
          <a:endParaRPr lang="en-US"/>
        </a:p>
      </dgm:t>
    </dgm:pt>
    <dgm:pt modelId="{B8F2D5C6-415E-478C-AC29-025F4636294B}" type="sibTrans" cxnId="{51204189-780F-48DC-AC6F-A6A096D35421}">
      <dgm:prSet/>
      <dgm:spPr/>
      <dgm:t>
        <a:bodyPr/>
        <a:lstStyle/>
        <a:p>
          <a:endParaRPr lang="en-US"/>
        </a:p>
      </dgm:t>
    </dgm:pt>
    <dgm:pt modelId="{A3FD5C15-F3B8-4314-864E-7FC9C839ADDF}">
      <dgm:prSet/>
      <dgm:spPr/>
      <dgm:t>
        <a:bodyPr/>
        <a:lstStyle/>
        <a:p>
          <a:r>
            <a:rPr lang="en-US"/>
            <a:t>Each shard or the winner would have their own disjoint subset of state and transactions.</a:t>
          </a:r>
        </a:p>
      </dgm:t>
    </dgm:pt>
    <dgm:pt modelId="{2007328E-34DC-4A54-9658-C095012910CB}" type="parTrans" cxnId="{03BB153A-757C-4756-8B10-7722579E5748}">
      <dgm:prSet/>
      <dgm:spPr/>
      <dgm:t>
        <a:bodyPr/>
        <a:lstStyle/>
        <a:p>
          <a:endParaRPr lang="en-US"/>
        </a:p>
      </dgm:t>
    </dgm:pt>
    <dgm:pt modelId="{6E9B7E65-D6BC-4152-B7F3-C2A8E27D52BF}" type="sibTrans" cxnId="{03BB153A-757C-4756-8B10-7722579E5748}">
      <dgm:prSet/>
      <dgm:spPr/>
      <dgm:t>
        <a:bodyPr/>
        <a:lstStyle/>
        <a:p>
          <a:endParaRPr lang="en-US"/>
        </a:p>
      </dgm:t>
    </dgm:pt>
    <dgm:pt modelId="{57D864D7-2BA7-49DD-89BB-5ECFF69CBD76}">
      <dgm:prSet/>
      <dgm:spPr/>
      <dgm:t>
        <a:bodyPr/>
        <a:lstStyle/>
        <a:p>
          <a:r>
            <a:rPr lang="en-US"/>
            <a:t>Winners would execute the transactions for their shard and produce the shard output.</a:t>
          </a:r>
        </a:p>
      </dgm:t>
    </dgm:pt>
    <dgm:pt modelId="{C215144B-AE61-47F2-B1EF-C5E9FD8FD283}" type="parTrans" cxnId="{8A073B5A-FB3C-4CCB-9872-29B889060F61}">
      <dgm:prSet/>
      <dgm:spPr/>
      <dgm:t>
        <a:bodyPr/>
        <a:lstStyle/>
        <a:p>
          <a:endParaRPr lang="en-US"/>
        </a:p>
      </dgm:t>
    </dgm:pt>
    <dgm:pt modelId="{2CEC0C7C-1BB1-4153-9395-65C8AF5B8543}" type="sibTrans" cxnId="{8A073B5A-FB3C-4CCB-9872-29B889060F61}">
      <dgm:prSet/>
      <dgm:spPr/>
      <dgm:t>
        <a:bodyPr/>
        <a:lstStyle/>
        <a:p>
          <a:endParaRPr lang="en-US"/>
        </a:p>
      </dgm:t>
    </dgm:pt>
    <dgm:pt modelId="{8F256DD6-7CB1-4B86-8A2D-B1E19EC0849E}">
      <dgm:prSet/>
      <dgm:spPr/>
      <dgm:t>
        <a:bodyPr/>
        <a:lstStyle/>
        <a:p>
          <a:r>
            <a:rPr lang="en-US"/>
            <a:t>The shard then communicates among themselves or the metronome node to form the block.</a:t>
          </a:r>
        </a:p>
      </dgm:t>
    </dgm:pt>
    <dgm:pt modelId="{FFC8B5A7-0D35-4079-9A82-DE52444C702E}" type="parTrans" cxnId="{56065263-48F4-49FA-930F-E7EBD0CBA105}">
      <dgm:prSet/>
      <dgm:spPr/>
      <dgm:t>
        <a:bodyPr/>
        <a:lstStyle/>
        <a:p>
          <a:endParaRPr lang="en-US"/>
        </a:p>
      </dgm:t>
    </dgm:pt>
    <dgm:pt modelId="{6FE3560B-B3E8-40DC-81E0-38F425A02D4F}" type="sibTrans" cxnId="{56065263-48F4-49FA-930F-E7EBD0CBA105}">
      <dgm:prSet/>
      <dgm:spPr/>
      <dgm:t>
        <a:bodyPr/>
        <a:lstStyle/>
        <a:p>
          <a:endParaRPr lang="en-US"/>
        </a:p>
      </dgm:t>
    </dgm:pt>
    <dgm:pt modelId="{1BB810BD-2005-4724-A7D5-8DCE7C9321D2}">
      <dgm:prSet/>
      <dgm:spPr/>
      <dgm:t>
        <a:bodyPr/>
        <a:lstStyle/>
        <a:p>
          <a:r>
            <a:rPr lang="en-US"/>
            <a:t>The metronome would also verify the transactions and the entire block itself and then the block will be published to the blockchain and then it will be broadcasted to all the miners, and the process begins again.</a:t>
          </a:r>
        </a:p>
      </dgm:t>
    </dgm:pt>
    <dgm:pt modelId="{615A3F5E-4431-4F57-ACC3-6652D9325CCB}" type="parTrans" cxnId="{6B2223D5-4418-4333-B520-362BA99FA296}">
      <dgm:prSet/>
      <dgm:spPr/>
      <dgm:t>
        <a:bodyPr/>
        <a:lstStyle/>
        <a:p>
          <a:endParaRPr lang="en-US"/>
        </a:p>
      </dgm:t>
    </dgm:pt>
    <dgm:pt modelId="{091C9D67-75DD-4DAB-87AF-F45450AF5EDE}" type="sibTrans" cxnId="{6B2223D5-4418-4333-B520-362BA99FA296}">
      <dgm:prSet/>
      <dgm:spPr/>
      <dgm:t>
        <a:bodyPr/>
        <a:lstStyle/>
        <a:p>
          <a:endParaRPr lang="en-US"/>
        </a:p>
      </dgm:t>
    </dgm:pt>
    <dgm:pt modelId="{7D50ADCB-EAAC-7C4D-A986-7DA564873FDB}" type="pres">
      <dgm:prSet presAssocID="{D551355F-9411-4F3B-B258-9EF66ADFD6BC}" presName="diagram" presStyleCnt="0">
        <dgm:presLayoutVars>
          <dgm:dir/>
          <dgm:resizeHandles val="exact"/>
        </dgm:presLayoutVars>
      </dgm:prSet>
      <dgm:spPr/>
    </dgm:pt>
    <dgm:pt modelId="{D6D01DC1-3FCF-BA41-85F7-7D77E8CEC2F7}" type="pres">
      <dgm:prSet presAssocID="{EBA2E775-1F29-4FD9-BB3A-114D16F08E88}" presName="node" presStyleLbl="node1" presStyleIdx="0" presStyleCnt="6">
        <dgm:presLayoutVars>
          <dgm:bulletEnabled val="1"/>
        </dgm:presLayoutVars>
      </dgm:prSet>
      <dgm:spPr/>
    </dgm:pt>
    <dgm:pt modelId="{16DE87E2-AF68-C348-9FD9-E9B58B005B85}" type="pres">
      <dgm:prSet presAssocID="{559F0E5E-6929-496F-9222-D3DA0E57B893}" presName="sibTrans" presStyleCnt="0"/>
      <dgm:spPr/>
    </dgm:pt>
    <dgm:pt modelId="{D0F66E32-718B-B545-81C2-CF3B24912411}" type="pres">
      <dgm:prSet presAssocID="{50DD3B39-0D8E-4069-A0B1-C3C6EE805B43}" presName="node" presStyleLbl="node1" presStyleIdx="1" presStyleCnt="6">
        <dgm:presLayoutVars>
          <dgm:bulletEnabled val="1"/>
        </dgm:presLayoutVars>
      </dgm:prSet>
      <dgm:spPr/>
    </dgm:pt>
    <dgm:pt modelId="{15163BB3-6443-8949-9585-CDDB7C4F88B1}" type="pres">
      <dgm:prSet presAssocID="{B8F2D5C6-415E-478C-AC29-025F4636294B}" presName="sibTrans" presStyleCnt="0"/>
      <dgm:spPr/>
    </dgm:pt>
    <dgm:pt modelId="{6D10EA0C-C3D4-BB47-B5F0-0EF10C6B2D2C}" type="pres">
      <dgm:prSet presAssocID="{A3FD5C15-F3B8-4314-864E-7FC9C839ADDF}" presName="node" presStyleLbl="node1" presStyleIdx="2" presStyleCnt="6">
        <dgm:presLayoutVars>
          <dgm:bulletEnabled val="1"/>
        </dgm:presLayoutVars>
      </dgm:prSet>
      <dgm:spPr/>
    </dgm:pt>
    <dgm:pt modelId="{883F5EAC-BD45-FE4C-8259-3FB55DCDAB2B}" type="pres">
      <dgm:prSet presAssocID="{6E9B7E65-D6BC-4152-B7F3-C2A8E27D52BF}" presName="sibTrans" presStyleCnt="0"/>
      <dgm:spPr/>
    </dgm:pt>
    <dgm:pt modelId="{D1D6D8CF-C2FC-E840-8C79-573F8F3D6301}" type="pres">
      <dgm:prSet presAssocID="{57D864D7-2BA7-49DD-89BB-5ECFF69CBD76}" presName="node" presStyleLbl="node1" presStyleIdx="3" presStyleCnt="6">
        <dgm:presLayoutVars>
          <dgm:bulletEnabled val="1"/>
        </dgm:presLayoutVars>
      </dgm:prSet>
      <dgm:spPr/>
    </dgm:pt>
    <dgm:pt modelId="{8A5B3EDF-EA9C-EF4C-95D7-069FB5C25AF3}" type="pres">
      <dgm:prSet presAssocID="{2CEC0C7C-1BB1-4153-9395-65C8AF5B8543}" presName="sibTrans" presStyleCnt="0"/>
      <dgm:spPr/>
    </dgm:pt>
    <dgm:pt modelId="{B02954F0-A8A7-4140-9E54-517B14B8BE5E}" type="pres">
      <dgm:prSet presAssocID="{8F256DD6-7CB1-4B86-8A2D-B1E19EC0849E}" presName="node" presStyleLbl="node1" presStyleIdx="4" presStyleCnt="6">
        <dgm:presLayoutVars>
          <dgm:bulletEnabled val="1"/>
        </dgm:presLayoutVars>
      </dgm:prSet>
      <dgm:spPr/>
    </dgm:pt>
    <dgm:pt modelId="{17B5B391-8071-3542-8A2E-3966216FCEF7}" type="pres">
      <dgm:prSet presAssocID="{6FE3560B-B3E8-40DC-81E0-38F425A02D4F}" presName="sibTrans" presStyleCnt="0"/>
      <dgm:spPr/>
    </dgm:pt>
    <dgm:pt modelId="{6BC2865A-A44A-7E44-B551-EE3B8723D2C8}" type="pres">
      <dgm:prSet presAssocID="{1BB810BD-2005-4724-A7D5-8DCE7C9321D2}" presName="node" presStyleLbl="node1" presStyleIdx="5" presStyleCnt="6">
        <dgm:presLayoutVars>
          <dgm:bulletEnabled val="1"/>
        </dgm:presLayoutVars>
      </dgm:prSet>
      <dgm:spPr/>
    </dgm:pt>
  </dgm:ptLst>
  <dgm:cxnLst>
    <dgm:cxn modelId="{3CA8880B-A128-354F-ACDC-D0D0304414DF}" type="presOf" srcId="{8F256DD6-7CB1-4B86-8A2D-B1E19EC0849E}" destId="{B02954F0-A8A7-4140-9E54-517B14B8BE5E}" srcOrd="0" destOrd="0" presId="urn:microsoft.com/office/officeart/2005/8/layout/default"/>
    <dgm:cxn modelId="{DA77511B-D430-634C-B0C8-294F126BB93D}" type="presOf" srcId="{D551355F-9411-4F3B-B258-9EF66ADFD6BC}" destId="{7D50ADCB-EAAC-7C4D-A986-7DA564873FDB}" srcOrd="0" destOrd="0" presId="urn:microsoft.com/office/officeart/2005/8/layout/default"/>
    <dgm:cxn modelId="{BD3D611D-C446-464D-8B60-9A4C12D3BC40}" type="presOf" srcId="{57D864D7-2BA7-49DD-89BB-5ECFF69CBD76}" destId="{D1D6D8CF-C2FC-E840-8C79-573F8F3D6301}" srcOrd="0" destOrd="0" presId="urn:microsoft.com/office/officeart/2005/8/layout/default"/>
    <dgm:cxn modelId="{03BB153A-757C-4756-8B10-7722579E5748}" srcId="{D551355F-9411-4F3B-B258-9EF66ADFD6BC}" destId="{A3FD5C15-F3B8-4314-864E-7FC9C839ADDF}" srcOrd="2" destOrd="0" parTransId="{2007328E-34DC-4A54-9658-C095012910CB}" sibTransId="{6E9B7E65-D6BC-4152-B7F3-C2A8E27D52BF}"/>
    <dgm:cxn modelId="{F0CC994E-5B5D-634A-BF5B-6865BC67FE62}" type="presOf" srcId="{50DD3B39-0D8E-4069-A0B1-C3C6EE805B43}" destId="{D0F66E32-718B-B545-81C2-CF3B24912411}" srcOrd="0" destOrd="0" presId="urn:microsoft.com/office/officeart/2005/8/layout/default"/>
    <dgm:cxn modelId="{8A073B5A-FB3C-4CCB-9872-29B889060F61}" srcId="{D551355F-9411-4F3B-B258-9EF66ADFD6BC}" destId="{57D864D7-2BA7-49DD-89BB-5ECFF69CBD76}" srcOrd="3" destOrd="0" parTransId="{C215144B-AE61-47F2-B1EF-C5E9FD8FD283}" sibTransId="{2CEC0C7C-1BB1-4153-9395-65C8AF5B8543}"/>
    <dgm:cxn modelId="{56065263-48F4-49FA-930F-E7EBD0CBA105}" srcId="{D551355F-9411-4F3B-B258-9EF66ADFD6BC}" destId="{8F256DD6-7CB1-4B86-8A2D-B1E19EC0849E}" srcOrd="4" destOrd="0" parTransId="{FFC8B5A7-0D35-4079-9A82-DE52444C702E}" sibTransId="{6FE3560B-B3E8-40DC-81E0-38F425A02D4F}"/>
    <dgm:cxn modelId="{3708DE67-BED1-F144-A72F-EDBD4877AB50}" type="presOf" srcId="{EBA2E775-1F29-4FD9-BB3A-114D16F08E88}" destId="{D6D01DC1-3FCF-BA41-85F7-7D77E8CEC2F7}" srcOrd="0" destOrd="0" presId="urn:microsoft.com/office/officeart/2005/8/layout/default"/>
    <dgm:cxn modelId="{51204189-780F-48DC-AC6F-A6A096D35421}" srcId="{D551355F-9411-4F3B-B258-9EF66ADFD6BC}" destId="{50DD3B39-0D8E-4069-A0B1-C3C6EE805B43}" srcOrd="1" destOrd="0" parTransId="{5F91E326-0AA6-4E6A-9B8F-7895B3B6746C}" sibTransId="{B8F2D5C6-415E-478C-AC29-025F4636294B}"/>
    <dgm:cxn modelId="{669C94AD-FBA3-5F44-A2C0-1E487E5FD643}" type="presOf" srcId="{A3FD5C15-F3B8-4314-864E-7FC9C839ADDF}" destId="{6D10EA0C-C3D4-BB47-B5F0-0EF10C6B2D2C}" srcOrd="0" destOrd="0" presId="urn:microsoft.com/office/officeart/2005/8/layout/default"/>
    <dgm:cxn modelId="{6B2223D5-4418-4333-B520-362BA99FA296}" srcId="{D551355F-9411-4F3B-B258-9EF66ADFD6BC}" destId="{1BB810BD-2005-4724-A7D5-8DCE7C9321D2}" srcOrd="5" destOrd="0" parTransId="{615A3F5E-4431-4F57-ACC3-6652D9325CCB}" sibTransId="{091C9D67-75DD-4DAB-87AF-F45450AF5EDE}"/>
    <dgm:cxn modelId="{029408E9-732A-7D4D-9758-C1364A5BC8B0}" type="presOf" srcId="{1BB810BD-2005-4724-A7D5-8DCE7C9321D2}" destId="{6BC2865A-A44A-7E44-B551-EE3B8723D2C8}" srcOrd="0" destOrd="0" presId="urn:microsoft.com/office/officeart/2005/8/layout/default"/>
    <dgm:cxn modelId="{7081C8F4-0909-4D9F-B955-DE40742D8C6D}" srcId="{D551355F-9411-4F3B-B258-9EF66ADFD6BC}" destId="{EBA2E775-1F29-4FD9-BB3A-114D16F08E88}" srcOrd="0" destOrd="0" parTransId="{3EB37BD8-801D-4547-8D66-32FD385CA1B1}" sibTransId="{559F0E5E-6929-496F-9222-D3DA0E57B893}"/>
    <dgm:cxn modelId="{02A3503E-ADA5-624E-AE8E-F7B7BDC12927}" type="presParOf" srcId="{7D50ADCB-EAAC-7C4D-A986-7DA564873FDB}" destId="{D6D01DC1-3FCF-BA41-85F7-7D77E8CEC2F7}" srcOrd="0" destOrd="0" presId="urn:microsoft.com/office/officeart/2005/8/layout/default"/>
    <dgm:cxn modelId="{4355F0B5-2989-A44E-A835-B1005B2D744A}" type="presParOf" srcId="{7D50ADCB-EAAC-7C4D-A986-7DA564873FDB}" destId="{16DE87E2-AF68-C348-9FD9-E9B58B005B85}" srcOrd="1" destOrd="0" presId="urn:microsoft.com/office/officeart/2005/8/layout/default"/>
    <dgm:cxn modelId="{A26A165E-C9A3-7B41-AEA4-BF95CD7D004F}" type="presParOf" srcId="{7D50ADCB-EAAC-7C4D-A986-7DA564873FDB}" destId="{D0F66E32-718B-B545-81C2-CF3B24912411}" srcOrd="2" destOrd="0" presId="urn:microsoft.com/office/officeart/2005/8/layout/default"/>
    <dgm:cxn modelId="{F71A8D30-D067-414E-A956-2F72CC7B0D8D}" type="presParOf" srcId="{7D50ADCB-EAAC-7C4D-A986-7DA564873FDB}" destId="{15163BB3-6443-8949-9585-CDDB7C4F88B1}" srcOrd="3" destOrd="0" presId="urn:microsoft.com/office/officeart/2005/8/layout/default"/>
    <dgm:cxn modelId="{F7846B3C-39E6-3D4F-9C45-FA20B9532024}" type="presParOf" srcId="{7D50ADCB-EAAC-7C4D-A986-7DA564873FDB}" destId="{6D10EA0C-C3D4-BB47-B5F0-0EF10C6B2D2C}" srcOrd="4" destOrd="0" presId="urn:microsoft.com/office/officeart/2005/8/layout/default"/>
    <dgm:cxn modelId="{7CF85D76-FF92-ED46-AE6D-9483EED4E8B9}" type="presParOf" srcId="{7D50ADCB-EAAC-7C4D-A986-7DA564873FDB}" destId="{883F5EAC-BD45-FE4C-8259-3FB55DCDAB2B}" srcOrd="5" destOrd="0" presId="urn:microsoft.com/office/officeart/2005/8/layout/default"/>
    <dgm:cxn modelId="{7B47168E-AB34-1A45-9C55-58F924CC5D90}" type="presParOf" srcId="{7D50ADCB-EAAC-7C4D-A986-7DA564873FDB}" destId="{D1D6D8CF-C2FC-E840-8C79-573F8F3D6301}" srcOrd="6" destOrd="0" presId="urn:microsoft.com/office/officeart/2005/8/layout/default"/>
    <dgm:cxn modelId="{3E299571-61C5-F44C-AEF2-D8BAE6594E0A}" type="presParOf" srcId="{7D50ADCB-EAAC-7C4D-A986-7DA564873FDB}" destId="{8A5B3EDF-EA9C-EF4C-95D7-069FB5C25AF3}" srcOrd="7" destOrd="0" presId="urn:microsoft.com/office/officeart/2005/8/layout/default"/>
    <dgm:cxn modelId="{0453E7F5-8D34-B84D-B3CF-10EEE176BB58}" type="presParOf" srcId="{7D50ADCB-EAAC-7C4D-A986-7DA564873FDB}" destId="{B02954F0-A8A7-4140-9E54-517B14B8BE5E}" srcOrd="8" destOrd="0" presId="urn:microsoft.com/office/officeart/2005/8/layout/default"/>
    <dgm:cxn modelId="{2262BEB9-2124-6B4D-BEAA-E883B5607A29}" type="presParOf" srcId="{7D50ADCB-EAAC-7C4D-A986-7DA564873FDB}" destId="{17B5B391-8071-3542-8A2E-3966216FCEF7}" srcOrd="9" destOrd="0" presId="urn:microsoft.com/office/officeart/2005/8/layout/default"/>
    <dgm:cxn modelId="{FA0AF343-4108-CA4B-9F4E-87677F366673}" type="presParOf" srcId="{7D50ADCB-EAAC-7C4D-A986-7DA564873FDB}" destId="{6BC2865A-A44A-7E44-B551-EE3B8723D2C8}"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5BA56E-7447-426A-B35B-70471069E03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001FDE5-F61E-4FE5-A4E8-0105E8426E76}">
      <dgm:prSet/>
      <dgm:spPr/>
      <dgm:t>
        <a:bodyPr/>
        <a:lstStyle/>
        <a:p>
          <a:r>
            <a:rPr lang="en-US"/>
            <a:t>Shards or the winners firstly communicate among themselves to form the block.</a:t>
          </a:r>
        </a:p>
      </dgm:t>
    </dgm:pt>
    <dgm:pt modelId="{D88A6E01-1093-4407-A142-A13A9255F09A}" type="parTrans" cxnId="{9603D4C1-D8FA-4139-86C7-ED78E74D7368}">
      <dgm:prSet/>
      <dgm:spPr/>
      <dgm:t>
        <a:bodyPr/>
        <a:lstStyle/>
        <a:p>
          <a:endParaRPr lang="en-US"/>
        </a:p>
      </dgm:t>
    </dgm:pt>
    <dgm:pt modelId="{EDFA62D7-DF69-48A2-93AA-FD852E26397B}" type="sibTrans" cxnId="{9603D4C1-D8FA-4139-86C7-ED78E74D7368}">
      <dgm:prSet/>
      <dgm:spPr/>
      <dgm:t>
        <a:bodyPr/>
        <a:lstStyle/>
        <a:p>
          <a:endParaRPr lang="en-US"/>
        </a:p>
      </dgm:t>
    </dgm:pt>
    <dgm:pt modelId="{2EE1E91F-D3E1-4ED3-9F3E-F2CE578A9F28}">
      <dgm:prSet/>
      <dgm:spPr/>
      <dgm:t>
        <a:bodyPr/>
        <a:lstStyle/>
        <a:p>
          <a:r>
            <a:rPr lang="en-US" dirty="0"/>
            <a:t>In another approach, the leader metronome communicates with these shards to form the block.</a:t>
          </a:r>
        </a:p>
      </dgm:t>
    </dgm:pt>
    <dgm:pt modelId="{F9EC382B-65BB-4C4D-8CA7-C329ECB0207E}" type="parTrans" cxnId="{0FAFCB03-016E-41E6-8EED-A5A44011B302}">
      <dgm:prSet/>
      <dgm:spPr/>
      <dgm:t>
        <a:bodyPr/>
        <a:lstStyle/>
        <a:p>
          <a:endParaRPr lang="en-US"/>
        </a:p>
      </dgm:t>
    </dgm:pt>
    <dgm:pt modelId="{CF885EC2-EC12-4FBF-B40A-6D0FED7D5D7A}" type="sibTrans" cxnId="{0FAFCB03-016E-41E6-8EED-A5A44011B302}">
      <dgm:prSet/>
      <dgm:spPr/>
      <dgm:t>
        <a:bodyPr/>
        <a:lstStyle/>
        <a:p>
          <a:endParaRPr lang="en-US"/>
        </a:p>
      </dgm:t>
    </dgm:pt>
    <dgm:pt modelId="{69A70170-B005-4CE3-B7B9-30602A4BCECE}">
      <dgm:prSet/>
      <dgm:spPr/>
      <dgm:t>
        <a:bodyPr/>
        <a:lstStyle/>
        <a:p>
          <a:r>
            <a:rPr lang="en-US"/>
            <a:t>After that the metronome will publish the block to the blockchain and then will broadcast that to all the miners itself.</a:t>
          </a:r>
        </a:p>
      </dgm:t>
    </dgm:pt>
    <dgm:pt modelId="{BE1F54E4-11E4-4B61-84BD-8B32AC55EFE1}" type="parTrans" cxnId="{97F78CCB-91B9-4B1B-8321-B5C6B0BB8044}">
      <dgm:prSet/>
      <dgm:spPr/>
      <dgm:t>
        <a:bodyPr/>
        <a:lstStyle/>
        <a:p>
          <a:endParaRPr lang="en-US"/>
        </a:p>
      </dgm:t>
    </dgm:pt>
    <dgm:pt modelId="{86F272CA-539A-4B44-916E-C12EC7CD401F}" type="sibTrans" cxnId="{97F78CCB-91B9-4B1B-8321-B5C6B0BB8044}">
      <dgm:prSet/>
      <dgm:spPr/>
      <dgm:t>
        <a:bodyPr/>
        <a:lstStyle/>
        <a:p>
          <a:endParaRPr lang="en-US"/>
        </a:p>
      </dgm:t>
    </dgm:pt>
    <dgm:pt modelId="{1210CE77-C269-1C44-AE5C-7E4D073F8471}" type="pres">
      <dgm:prSet presAssocID="{8B5BA56E-7447-426A-B35B-70471069E03A}" presName="linear" presStyleCnt="0">
        <dgm:presLayoutVars>
          <dgm:animLvl val="lvl"/>
          <dgm:resizeHandles val="exact"/>
        </dgm:presLayoutVars>
      </dgm:prSet>
      <dgm:spPr/>
    </dgm:pt>
    <dgm:pt modelId="{0AE84D02-FDEA-2046-9438-99382CE9E5D3}" type="pres">
      <dgm:prSet presAssocID="{4001FDE5-F61E-4FE5-A4E8-0105E8426E76}" presName="parentText" presStyleLbl="node1" presStyleIdx="0" presStyleCnt="3">
        <dgm:presLayoutVars>
          <dgm:chMax val="0"/>
          <dgm:bulletEnabled val="1"/>
        </dgm:presLayoutVars>
      </dgm:prSet>
      <dgm:spPr/>
    </dgm:pt>
    <dgm:pt modelId="{2FA035B7-2008-0B4C-9D44-5554185D834F}" type="pres">
      <dgm:prSet presAssocID="{EDFA62D7-DF69-48A2-93AA-FD852E26397B}" presName="spacer" presStyleCnt="0"/>
      <dgm:spPr/>
    </dgm:pt>
    <dgm:pt modelId="{D5CA6CA3-DDBD-1946-A8A1-071F826A74E9}" type="pres">
      <dgm:prSet presAssocID="{2EE1E91F-D3E1-4ED3-9F3E-F2CE578A9F28}" presName="parentText" presStyleLbl="node1" presStyleIdx="1" presStyleCnt="3">
        <dgm:presLayoutVars>
          <dgm:chMax val="0"/>
          <dgm:bulletEnabled val="1"/>
        </dgm:presLayoutVars>
      </dgm:prSet>
      <dgm:spPr/>
    </dgm:pt>
    <dgm:pt modelId="{3092A4A2-F345-AD40-A238-1C99E8E14436}" type="pres">
      <dgm:prSet presAssocID="{CF885EC2-EC12-4FBF-B40A-6D0FED7D5D7A}" presName="spacer" presStyleCnt="0"/>
      <dgm:spPr/>
    </dgm:pt>
    <dgm:pt modelId="{0A73995E-D412-C54D-93F8-EB9F78DE9A92}" type="pres">
      <dgm:prSet presAssocID="{69A70170-B005-4CE3-B7B9-30602A4BCECE}" presName="parentText" presStyleLbl="node1" presStyleIdx="2" presStyleCnt="3">
        <dgm:presLayoutVars>
          <dgm:chMax val="0"/>
          <dgm:bulletEnabled val="1"/>
        </dgm:presLayoutVars>
      </dgm:prSet>
      <dgm:spPr/>
    </dgm:pt>
  </dgm:ptLst>
  <dgm:cxnLst>
    <dgm:cxn modelId="{0FAFCB03-016E-41E6-8EED-A5A44011B302}" srcId="{8B5BA56E-7447-426A-B35B-70471069E03A}" destId="{2EE1E91F-D3E1-4ED3-9F3E-F2CE578A9F28}" srcOrd="1" destOrd="0" parTransId="{F9EC382B-65BB-4C4D-8CA7-C329ECB0207E}" sibTransId="{CF885EC2-EC12-4FBF-B40A-6D0FED7D5D7A}"/>
    <dgm:cxn modelId="{68220A4A-7206-7741-8237-7F26607EB061}" type="presOf" srcId="{8B5BA56E-7447-426A-B35B-70471069E03A}" destId="{1210CE77-C269-1C44-AE5C-7E4D073F8471}" srcOrd="0" destOrd="0" presId="urn:microsoft.com/office/officeart/2005/8/layout/vList2"/>
    <dgm:cxn modelId="{0F19FE96-A54C-AC41-821D-1DD831D35370}" type="presOf" srcId="{69A70170-B005-4CE3-B7B9-30602A4BCECE}" destId="{0A73995E-D412-C54D-93F8-EB9F78DE9A92}" srcOrd="0" destOrd="0" presId="urn:microsoft.com/office/officeart/2005/8/layout/vList2"/>
    <dgm:cxn modelId="{5E5EBDAF-F346-0349-BD52-84C770DE9BA4}" type="presOf" srcId="{4001FDE5-F61E-4FE5-A4E8-0105E8426E76}" destId="{0AE84D02-FDEA-2046-9438-99382CE9E5D3}" srcOrd="0" destOrd="0" presId="urn:microsoft.com/office/officeart/2005/8/layout/vList2"/>
    <dgm:cxn modelId="{9603D4C1-D8FA-4139-86C7-ED78E74D7368}" srcId="{8B5BA56E-7447-426A-B35B-70471069E03A}" destId="{4001FDE5-F61E-4FE5-A4E8-0105E8426E76}" srcOrd="0" destOrd="0" parTransId="{D88A6E01-1093-4407-A142-A13A9255F09A}" sibTransId="{EDFA62D7-DF69-48A2-93AA-FD852E26397B}"/>
    <dgm:cxn modelId="{97F78CCB-91B9-4B1B-8321-B5C6B0BB8044}" srcId="{8B5BA56E-7447-426A-B35B-70471069E03A}" destId="{69A70170-B005-4CE3-B7B9-30602A4BCECE}" srcOrd="2" destOrd="0" parTransId="{BE1F54E4-11E4-4B61-84BD-8B32AC55EFE1}" sibTransId="{86F272CA-539A-4B44-916E-C12EC7CD401F}"/>
    <dgm:cxn modelId="{FF9E29F0-2D83-5D41-9BB6-E49F5E131CB2}" type="presOf" srcId="{2EE1E91F-D3E1-4ED3-9F3E-F2CE578A9F28}" destId="{D5CA6CA3-DDBD-1946-A8A1-071F826A74E9}" srcOrd="0" destOrd="0" presId="urn:microsoft.com/office/officeart/2005/8/layout/vList2"/>
    <dgm:cxn modelId="{65E335E5-0CCF-6F4F-915A-2038D5C0AC31}" type="presParOf" srcId="{1210CE77-C269-1C44-AE5C-7E4D073F8471}" destId="{0AE84D02-FDEA-2046-9438-99382CE9E5D3}" srcOrd="0" destOrd="0" presId="urn:microsoft.com/office/officeart/2005/8/layout/vList2"/>
    <dgm:cxn modelId="{6B122FC8-0045-E04F-9E94-6EDFC2CA931B}" type="presParOf" srcId="{1210CE77-C269-1C44-AE5C-7E4D073F8471}" destId="{2FA035B7-2008-0B4C-9D44-5554185D834F}" srcOrd="1" destOrd="0" presId="urn:microsoft.com/office/officeart/2005/8/layout/vList2"/>
    <dgm:cxn modelId="{21A8BF73-D745-7846-AC22-9365ACF1B2DB}" type="presParOf" srcId="{1210CE77-C269-1C44-AE5C-7E4D073F8471}" destId="{D5CA6CA3-DDBD-1946-A8A1-071F826A74E9}" srcOrd="2" destOrd="0" presId="urn:microsoft.com/office/officeart/2005/8/layout/vList2"/>
    <dgm:cxn modelId="{F8CEB40B-BA38-4946-A072-47F53ADA043B}" type="presParOf" srcId="{1210CE77-C269-1C44-AE5C-7E4D073F8471}" destId="{3092A4A2-F345-AD40-A238-1C99E8E14436}" srcOrd="3" destOrd="0" presId="urn:microsoft.com/office/officeart/2005/8/layout/vList2"/>
    <dgm:cxn modelId="{865728E1-AEB3-5E4A-A760-CC18F48957CA}" type="presParOf" srcId="{1210CE77-C269-1C44-AE5C-7E4D073F8471}" destId="{0A73995E-D412-C54D-93F8-EB9F78DE9A9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EC5B87-4B4C-4F29-A67E-AFCDFBB9193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C545021-4D77-4AC4-947F-8326C01C4C23}">
      <dgm:prSet/>
      <dgm:spPr/>
      <dgm:t>
        <a:bodyPr/>
        <a:lstStyle/>
        <a:p>
          <a:pPr>
            <a:lnSpc>
              <a:spcPct val="100000"/>
            </a:lnSpc>
          </a:pPr>
          <a:r>
            <a:rPr lang="en-US" dirty="0"/>
            <a:t>Build a prototype to deploy a real system and see if the simulation results can be validated in real life.</a:t>
          </a:r>
        </a:p>
      </dgm:t>
    </dgm:pt>
    <dgm:pt modelId="{DD25438B-8C54-4F41-BA8F-F83362C87FE7}" type="parTrans" cxnId="{D053F2F6-1CE8-44B5-AA12-D54108D61DE4}">
      <dgm:prSet/>
      <dgm:spPr/>
      <dgm:t>
        <a:bodyPr/>
        <a:lstStyle/>
        <a:p>
          <a:endParaRPr lang="en-US"/>
        </a:p>
      </dgm:t>
    </dgm:pt>
    <dgm:pt modelId="{16C918ED-72F5-4ED6-B1D5-72766F57A731}" type="sibTrans" cxnId="{D053F2F6-1CE8-44B5-AA12-D54108D61DE4}">
      <dgm:prSet/>
      <dgm:spPr/>
      <dgm:t>
        <a:bodyPr/>
        <a:lstStyle/>
        <a:p>
          <a:endParaRPr lang="en-US"/>
        </a:p>
      </dgm:t>
    </dgm:pt>
    <dgm:pt modelId="{D6A8DCF0-3A14-704D-B577-9C75512DB6EC}">
      <dgm:prSet/>
      <dgm:spPr/>
      <dgm:t>
        <a:bodyPr/>
        <a:lstStyle/>
        <a:p>
          <a:pPr>
            <a:lnSpc>
              <a:spcPct val="100000"/>
            </a:lnSpc>
          </a:pPr>
          <a:r>
            <a:rPr lang="en-US" dirty="0"/>
            <a:t>Test on the chameleon test bed with 80 nodes to get real time metrics and results.</a:t>
          </a:r>
        </a:p>
      </dgm:t>
    </dgm:pt>
    <dgm:pt modelId="{9BA7F754-EA72-774A-BF7D-87B756661C66}" type="parTrans" cxnId="{201631BF-A556-2548-BCA5-503FCE1163C0}">
      <dgm:prSet/>
      <dgm:spPr/>
      <dgm:t>
        <a:bodyPr/>
        <a:lstStyle/>
        <a:p>
          <a:endParaRPr lang="en-US"/>
        </a:p>
      </dgm:t>
    </dgm:pt>
    <dgm:pt modelId="{824AEE2F-B624-BE42-AF3B-773CCF25B418}" type="sibTrans" cxnId="{201631BF-A556-2548-BCA5-503FCE1163C0}">
      <dgm:prSet/>
      <dgm:spPr/>
      <dgm:t>
        <a:bodyPr/>
        <a:lstStyle/>
        <a:p>
          <a:endParaRPr lang="en-US"/>
        </a:p>
      </dgm:t>
    </dgm:pt>
    <dgm:pt modelId="{152C1A89-E8E5-0142-9D93-32FD9B2F03D3}">
      <dgm:prSet/>
      <dgm:spPr/>
      <dgm:t>
        <a:bodyPr/>
        <a:lstStyle/>
        <a:p>
          <a:pPr>
            <a:lnSpc>
              <a:spcPct val="100000"/>
            </a:lnSpc>
          </a:pPr>
          <a:r>
            <a:rPr lang="en-US" dirty="0"/>
            <a:t>Perform test validations on the new claim of NEAR blockchain of 1 million transactions per second with half a second of block time in real system.</a:t>
          </a:r>
        </a:p>
      </dgm:t>
    </dgm:pt>
    <dgm:pt modelId="{9BBC39E7-A478-034B-B0A8-D5C23DABD4EB}" type="parTrans" cxnId="{08FE5715-AC64-3241-A747-4292282D59B6}">
      <dgm:prSet/>
      <dgm:spPr/>
      <dgm:t>
        <a:bodyPr/>
        <a:lstStyle/>
        <a:p>
          <a:endParaRPr lang="en-US"/>
        </a:p>
      </dgm:t>
    </dgm:pt>
    <dgm:pt modelId="{095685BB-3B02-1147-93D4-936D49C60E39}" type="sibTrans" cxnId="{08FE5715-AC64-3241-A747-4292282D59B6}">
      <dgm:prSet/>
      <dgm:spPr/>
      <dgm:t>
        <a:bodyPr/>
        <a:lstStyle/>
        <a:p>
          <a:endParaRPr lang="en-US"/>
        </a:p>
      </dgm:t>
    </dgm:pt>
    <dgm:pt modelId="{22177D91-C230-43E8-8FD2-5C6263726D64}" type="pres">
      <dgm:prSet presAssocID="{7BEC5B87-4B4C-4F29-A67E-AFCDFBB91938}" presName="root" presStyleCnt="0">
        <dgm:presLayoutVars>
          <dgm:dir/>
          <dgm:resizeHandles val="exact"/>
        </dgm:presLayoutVars>
      </dgm:prSet>
      <dgm:spPr/>
    </dgm:pt>
    <dgm:pt modelId="{9C3C8EFF-0B0E-4177-AEAF-102ECE1DBD72}" type="pres">
      <dgm:prSet presAssocID="{CC545021-4D77-4AC4-947F-8326C01C4C23}" presName="compNode" presStyleCnt="0"/>
      <dgm:spPr/>
    </dgm:pt>
    <dgm:pt modelId="{C4D5A179-6C63-45D7-96EB-2BE2F1BCA82E}" type="pres">
      <dgm:prSet presAssocID="{CC545021-4D77-4AC4-947F-8326C01C4C23}" presName="bgRect" presStyleLbl="bgShp" presStyleIdx="0" presStyleCnt="3"/>
      <dgm:spPr/>
    </dgm:pt>
    <dgm:pt modelId="{BC334F90-C0F3-45F6-AF86-7EE5DCB92B7C}" type="pres">
      <dgm:prSet presAssocID="{CC545021-4D77-4AC4-947F-8326C01C4C2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nlock"/>
        </a:ext>
      </dgm:extLst>
    </dgm:pt>
    <dgm:pt modelId="{DD6ADEA2-8280-437D-9A79-4E2BF848FE28}" type="pres">
      <dgm:prSet presAssocID="{CC545021-4D77-4AC4-947F-8326C01C4C23}" presName="spaceRect" presStyleCnt="0"/>
      <dgm:spPr/>
    </dgm:pt>
    <dgm:pt modelId="{50B61BAD-4B2C-4253-A52B-4CDD931D5EB9}" type="pres">
      <dgm:prSet presAssocID="{CC545021-4D77-4AC4-947F-8326C01C4C23}" presName="parTx" presStyleLbl="revTx" presStyleIdx="0" presStyleCnt="3">
        <dgm:presLayoutVars>
          <dgm:chMax val="0"/>
          <dgm:chPref val="0"/>
        </dgm:presLayoutVars>
      </dgm:prSet>
      <dgm:spPr/>
    </dgm:pt>
    <dgm:pt modelId="{FB809926-C018-5548-B308-746B6984479A}" type="pres">
      <dgm:prSet presAssocID="{16C918ED-72F5-4ED6-B1D5-72766F57A731}" presName="sibTrans" presStyleCnt="0"/>
      <dgm:spPr/>
    </dgm:pt>
    <dgm:pt modelId="{38203008-5FEC-F344-86A3-CDD96A4102E7}" type="pres">
      <dgm:prSet presAssocID="{D6A8DCF0-3A14-704D-B577-9C75512DB6EC}" presName="compNode" presStyleCnt="0"/>
      <dgm:spPr/>
    </dgm:pt>
    <dgm:pt modelId="{3A7B0CF5-3ED2-5347-980A-1AA9A79D3972}" type="pres">
      <dgm:prSet presAssocID="{D6A8DCF0-3A14-704D-B577-9C75512DB6EC}" presName="bgRect" presStyleLbl="bgShp" presStyleIdx="1" presStyleCnt="3"/>
      <dgm:spPr/>
    </dgm:pt>
    <dgm:pt modelId="{8C3275B4-A7D3-DE41-9B5C-65AA8426D6FB}" type="pres">
      <dgm:prSet presAssocID="{D6A8DCF0-3A14-704D-B577-9C75512DB6EC}"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Cursor with solid fill"/>
        </a:ext>
      </dgm:extLst>
    </dgm:pt>
    <dgm:pt modelId="{FB9A32DF-AFC2-724A-ADC5-62FD1AC2FB6D}" type="pres">
      <dgm:prSet presAssocID="{D6A8DCF0-3A14-704D-B577-9C75512DB6EC}" presName="spaceRect" presStyleCnt="0"/>
      <dgm:spPr/>
    </dgm:pt>
    <dgm:pt modelId="{1B77326F-80BD-8F48-804F-B85F23744154}" type="pres">
      <dgm:prSet presAssocID="{D6A8DCF0-3A14-704D-B577-9C75512DB6EC}" presName="parTx" presStyleLbl="revTx" presStyleIdx="1" presStyleCnt="3">
        <dgm:presLayoutVars>
          <dgm:chMax val="0"/>
          <dgm:chPref val="0"/>
        </dgm:presLayoutVars>
      </dgm:prSet>
      <dgm:spPr/>
    </dgm:pt>
    <dgm:pt modelId="{10A96763-7D31-A142-A4AA-3555A1C1FE8C}" type="pres">
      <dgm:prSet presAssocID="{824AEE2F-B624-BE42-AF3B-773CCF25B418}" presName="sibTrans" presStyleCnt="0"/>
      <dgm:spPr/>
    </dgm:pt>
    <dgm:pt modelId="{9B1C69A9-957A-0A45-8278-4F8B89F8B8B5}" type="pres">
      <dgm:prSet presAssocID="{152C1A89-E8E5-0142-9D93-32FD9B2F03D3}" presName="compNode" presStyleCnt="0"/>
      <dgm:spPr/>
    </dgm:pt>
    <dgm:pt modelId="{300DA51B-01D4-2140-8D2F-25EA3AB5F5AC}" type="pres">
      <dgm:prSet presAssocID="{152C1A89-E8E5-0142-9D93-32FD9B2F03D3}" presName="bgRect" presStyleLbl="bgShp" presStyleIdx="2" presStyleCnt="3"/>
      <dgm:spPr/>
    </dgm:pt>
    <dgm:pt modelId="{21E350A7-8011-464A-8FE1-478E5099F86C}" type="pres">
      <dgm:prSet presAssocID="{152C1A89-E8E5-0142-9D93-32FD9B2F03D3}"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ell Tower with solid fill"/>
        </a:ext>
      </dgm:extLst>
    </dgm:pt>
    <dgm:pt modelId="{9BDB5B04-C480-2C4E-8F7F-0588A78094A3}" type="pres">
      <dgm:prSet presAssocID="{152C1A89-E8E5-0142-9D93-32FD9B2F03D3}" presName="spaceRect" presStyleCnt="0"/>
      <dgm:spPr/>
    </dgm:pt>
    <dgm:pt modelId="{7776DAF2-DC31-6F42-A176-2062F6FF48A0}" type="pres">
      <dgm:prSet presAssocID="{152C1A89-E8E5-0142-9D93-32FD9B2F03D3}" presName="parTx" presStyleLbl="revTx" presStyleIdx="2" presStyleCnt="3">
        <dgm:presLayoutVars>
          <dgm:chMax val="0"/>
          <dgm:chPref val="0"/>
        </dgm:presLayoutVars>
      </dgm:prSet>
      <dgm:spPr/>
    </dgm:pt>
  </dgm:ptLst>
  <dgm:cxnLst>
    <dgm:cxn modelId="{08FE5715-AC64-3241-A747-4292282D59B6}" srcId="{7BEC5B87-4B4C-4F29-A67E-AFCDFBB91938}" destId="{152C1A89-E8E5-0142-9D93-32FD9B2F03D3}" srcOrd="2" destOrd="0" parTransId="{9BBC39E7-A478-034B-B0A8-D5C23DABD4EB}" sibTransId="{095685BB-3B02-1147-93D4-936D49C60E39}"/>
    <dgm:cxn modelId="{0D19BE24-ADD3-5D4B-B82C-797BFF4B1ED7}" type="presOf" srcId="{152C1A89-E8E5-0142-9D93-32FD9B2F03D3}" destId="{7776DAF2-DC31-6F42-A176-2062F6FF48A0}" srcOrd="0" destOrd="0" presId="urn:microsoft.com/office/officeart/2018/2/layout/IconVerticalSolidList"/>
    <dgm:cxn modelId="{CB80FF71-06AA-4D63-BF82-EF10E412272B}" type="presOf" srcId="{CC545021-4D77-4AC4-947F-8326C01C4C23}" destId="{50B61BAD-4B2C-4253-A52B-4CDD931D5EB9}" srcOrd="0" destOrd="0" presId="urn:microsoft.com/office/officeart/2018/2/layout/IconVerticalSolidList"/>
    <dgm:cxn modelId="{9C5A16B1-1DFA-F04B-9582-5C888A58A7D8}" type="presOf" srcId="{D6A8DCF0-3A14-704D-B577-9C75512DB6EC}" destId="{1B77326F-80BD-8F48-804F-B85F23744154}" srcOrd="0" destOrd="0" presId="urn:microsoft.com/office/officeart/2018/2/layout/IconVerticalSolidList"/>
    <dgm:cxn modelId="{201631BF-A556-2548-BCA5-503FCE1163C0}" srcId="{7BEC5B87-4B4C-4F29-A67E-AFCDFBB91938}" destId="{D6A8DCF0-3A14-704D-B577-9C75512DB6EC}" srcOrd="1" destOrd="0" parTransId="{9BA7F754-EA72-774A-BF7D-87B756661C66}" sibTransId="{824AEE2F-B624-BE42-AF3B-773CCF25B418}"/>
    <dgm:cxn modelId="{D5817EC6-3D40-4795-A747-1D2E6BD1170E}" type="presOf" srcId="{7BEC5B87-4B4C-4F29-A67E-AFCDFBB91938}" destId="{22177D91-C230-43E8-8FD2-5C6263726D64}" srcOrd="0" destOrd="0" presId="urn:microsoft.com/office/officeart/2018/2/layout/IconVerticalSolidList"/>
    <dgm:cxn modelId="{D053F2F6-1CE8-44B5-AA12-D54108D61DE4}" srcId="{7BEC5B87-4B4C-4F29-A67E-AFCDFBB91938}" destId="{CC545021-4D77-4AC4-947F-8326C01C4C23}" srcOrd="0" destOrd="0" parTransId="{DD25438B-8C54-4F41-BA8F-F83362C87FE7}" sibTransId="{16C918ED-72F5-4ED6-B1D5-72766F57A731}"/>
    <dgm:cxn modelId="{29C1E32E-ECD3-4BFC-9A1A-CE8CC34E7F3E}" type="presParOf" srcId="{22177D91-C230-43E8-8FD2-5C6263726D64}" destId="{9C3C8EFF-0B0E-4177-AEAF-102ECE1DBD72}" srcOrd="0" destOrd="0" presId="urn:microsoft.com/office/officeart/2018/2/layout/IconVerticalSolidList"/>
    <dgm:cxn modelId="{35356B5C-70B8-45D7-B9F3-00A48FD1578F}" type="presParOf" srcId="{9C3C8EFF-0B0E-4177-AEAF-102ECE1DBD72}" destId="{C4D5A179-6C63-45D7-96EB-2BE2F1BCA82E}" srcOrd="0" destOrd="0" presId="urn:microsoft.com/office/officeart/2018/2/layout/IconVerticalSolidList"/>
    <dgm:cxn modelId="{C6AA5530-495A-4446-8995-AAEF7432A76D}" type="presParOf" srcId="{9C3C8EFF-0B0E-4177-AEAF-102ECE1DBD72}" destId="{BC334F90-C0F3-45F6-AF86-7EE5DCB92B7C}" srcOrd="1" destOrd="0" presId="urn:microsoft.com/office/officeart/2018/2/layout/IconVerticalSolidList"/>
    <dgm:cxn modelId="{5D7864E5-54C3-4DB2-8947-F9BD04C3E375}" type="presParOf" srcId="{9C3C8EFF-0B0E-4177-AEAF-102ECE1DBD72}" destId="{DD6ADEA2-8280-437D-9A79-4E2BF848FE28}" srcOrd="2" destOrd="0" presId="urn:microsoft.com/office/officeart/2018/2/layout/IconVerticalSolidList"/>
    <dgm:cxn modelId="{5F568BCE-9E81-469D-9730-1B2586514C73}" type="presParOf" srcId="{9C3C8EFF-0B0E-4177-AEAF-102ECE1DBD72}" destId="{50B61BAD-4B2C-4253-A52B-4CDD931D5EB9}" srcOrd="3" destOrd="0" presId="urn:microsoft.com/office/officeart/2018/2/layout/IconVerticalSolidList"/>
    <dgm:cxn modelId="{3C21C815-05DB-5F49-BF9A-E8A445151D3D}" type="presParOf" srcId="{22177D91-C230-43E8-8FD2-5C6263726D64}" destId="{FB809926-C018-5548-B308-746B6984479A}" srcOrd="1" destOrd="0" presId="urn:microsoft.com/office/officeart/2018/2/layout/IconVerticalSolidList"/>
    <dgm:cxn modelId="{B83ABC13-82CC-5147-BE9E-4BCAB055053F}" type="presParOf" srcId="{22177D91-C230-43E8-8FD2-5C6263726D64}" destId="{38203008-5FEC-F344-86A3-CDD96A4102E7}" srcOrd="2" destOrd="0" presId="urn:microsoft.com/office/officeart/2018/2/layout/IconVerticalSolidList"/>
    <dgm:cxn modelId="{73D6D582-96E7-AA44-ADA9-F09D8178ABB5}" type="presParOf" srcId="{38203008-5FEC-F344-86A3-CDD96A4102E7}" destId="{3A7B0CF5-3ED2-5347-980A-1AA9A79D3972}" srcOrd="0" destOrd="0" presId="urn:microsoft.com/office/officeart/2018/2/layout/IconVerticalSolidList"/>
    <dgm:cxn modelId="{AAD4B4F0-6EAC-F544-9871-548D9EDF79EE}" type="presParOf" srcId="{38203008-5FEC-F344-86A3-CDD96A4102E7}" destId="{8C3275B4-A7D3-DE41-9B5C-65AA8426D6FB}" srcOrd="1" destOrd="0" presId="urn:microsoft.com/office/officeart/2018/2/layout/IconVerticalSolidList"/>
    <dgm:cxn modelId="{236F6E6E-7FE4-F943-8397-4467506D3908}" type="presParOf" srcId="{38203008-5FEC-F344-86A3-CDD96A4102E7}" destId="{FB9A32DF-AFC2-724A-ADC5-62FD1AC2FB6D}" srcOrd="2" destOrd="0" presId="urn:microsoft.com/office/officeart/2018/2/layout/IconVerticalSolidList"/>
    <dgm:cxn modelId="{EE835CAB-7A11-594D-9E74-6F7EC2D32B51}" type="presParOf" srcId="{38203008-5FEC-F344-86A3-CDD96A4102E7}" destId="{1B77326F-80BD-8F48-804F-B85F23744154}" srcOrd="3" destOrd="0" presId="urn:microsoft.com/office/officeart/2018/2/layout/IconVerticalSolidList"/>
    <dgm:cxn modelId="{F445F908-0106-E443-979D-10BD125C59AE}" type="presParOf" srcId="{22177D91-C230-43E8-8FD2-5C6263726D64}" destId="{10A96763-7D31-A142-A4AA-3555A1C1FE8C}" srcOrd="3" destOrd="0" presId="urn:microsoft.com/office/officeart/2018/2/layout/IconVerticalSolidList"/>
    <dgm:cxn modelId="{E2C5F240-F37C-944A-B1C7-0A9882FEC43E}" type="presParOf" srcId="{22177D91-C230-43E8-8FD2-5C6263726D64}" destId="{9B1C69A9-957A-0A45-8278-4F8B89F8B8B5}" srcOrd="4" destOrd="0" presId="urn:microsoft.com/office/officeart/2018/2/layout/IconVerticalSolidList"/>
    <dgm:cxn modelId="{C2C5B98A-BB60-A640-A465-0D47E1E1145A}" type="presParOf" srcId="{9B1C69A9-957A-0A45-8278-4F8B89F8B8B5}" destId="{300DA51B-01D4-2140-8D2F-25EA3AB5F5AC}" srcOrd="0" destOrd="0" presId="urn:microsoft.com/office/officeart/2018/2/layout/IconVerticalSolidList"/>
    <dgm:cxn modelId="{F8197257-56DE-E54E-BF62-2F192B3069CB}" type="presParOf" srcId="{9B1C69A9-957A-0A45-8278-4F8B89F8B8B5}" destId="{21E350A7-8011-464A-8FE1-478E5099F86C}" srcOrd="1" destOrd="0" presId="urn:microsoft.com/office/officeart/2018/2/layout/IconVerticalSolidList"/>
    <dgm:cxn modelId="{2EB7903F-3A26-7049-9636-B11A971A6A87}" type="presParOf" srcId="{9B1C69A9-957A-0A45-8278-4F8B89F8B8B5}" destId="{9BDB5B04-C480-2C4E-8F7F-0588A78094A3}" srcOrd="2" destOrd="0" presId="urn:microsoft.com/office/officeart/2018/2/layout/IconVerticalSolidList"/>
    <dgm:cxn modelId="{458937E8-7BD6-294B-9D05-63EE0F3451BA}" type="presParOf" srcId="{9B1C69A9-957A-0A45-8278-4F8B89F8B8B5}" destId="{7776DAF2-DC31-6F42-A176-2062F6FF48A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67CAA-BBC9-3047-A150-5D2AFCF1786E}">
      <dsp:nvSpPr>
        <dsp:cNvPr id="0" name=""/>
        <dsp:cNvSpPr/>
      </dsp:nvSpPr>
      <dsp:spPr>
        <a:xfrm>
          <a:off x="0" y="21333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D73F24-C90D-B54D-8391-80471F743FD3}">
      <dsp:nvSpPr>
        <dsp:cNvPr id="0" name=""/>
        <dsp:cNvSpPr/>
      </dsp:nvSpPr>
      <dsp:spPr>
        <a:xfrm>
          <a:off x="525780" y="8049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Motivation</a:t>
          </a:r>
        </a:p>
      </dsp:txBody>
      <dsp:txXfrm>
        <a:off x="538749" y="93466"/>
        <a:ext cx="7334982" cy="239742"/>
      </dsp:txXfrm>
    </dsp:sp>
    <dsp:sp modelId="{2D82CE7C-9CE4-104B-A72B-987F6DCCFF29}">
      <dsp:nvSpPr>
        <dsp:cNvPr id="0" name=""/>
        <dsp:cNvSpPr/>
      </dsp:nvSpPr>
      <dsp:spPr>
        <a:xfrm>
          <a:off x="0" y="62157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B973E4-7C08-E14F-811D-5CCE8C5784A4}">
      <dsp:nvSpPr>
        <dsp:cNvPr id="0" name=""/>
        <dsp:cNvSpPr/>
      </dsp:nvSpPr>
      <dsp:spPr>
        <a:xfrm>
          <a:off x="525780" y="48873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What is blockchain Sharding</a:t>
          </a:r>
        </a:p>
      </dsp:txBody>
      <dsp:txXfrm>
        <a:off x="538749" y="501706"/>
        <a:ext cx="7334982" cy="239742"/>
      </dsp:txXfrm>
    </dsp:sp>
    <dsp:sp modelId="{0393A57A-D099-1747-BCDE-6B0A99DAA7A6}">
      <dsp:nvSpPr>
        <dsp:cNvPr id="0" name=""/>
        <dsp:cNvSpPr/>
      </dsp:nvSpPr>
      <dsp:spPr>
        <a:xfrm>
          <a:off x="0" y="102981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BC9B61-E6FA-264B-802D-343CCD9815C1}">
      <dsp:nvSpPr>
        <dsp:cNvPr id="0" name=""/>
        <dsp:cNvSpPr/>
      </dsp:nvSpPr>
      <dsp:spPr>
        <a:xfrm>
          <a:off x="525780" y="89697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Different Sharding Techniques (Previous Work)</a:t>
          </a:r>
        </a:p>
      </dsp:txBody>
      <dsp:txXfrm>
        <a:off x="538749" y="909946"/>
        <a:ext cx="7334982" cy="239742"/>
      </dsp:txXfrm>
    </dsp:sp>
    <dsp:sp modelId="{A55422D4-2B75-D44A-87BA-18A3ECA4C122}">
      <dsp:nvSpPr>
        <dsp:cNvPr id="0" name=""/>
        <dsp:cNvSpPr/>
      </dsp:nvSpPr>
      <dsp:spPr>
        <a:xfrm>
          <a:off x="0" y="143805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BE4203-01B7-F04E-9B4E-AEC1E7206DFC}">
      <dsp:nvSpPr>
        <dsp:cNvPr id="0" name=""/>
        <dsp:cNvSpPr/>
      </dsp:nvSpPr>
      <dsp:spPr>
        <a:xfrm>
          <a:off x="525780" y="130521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Our Approach - Introduction</a:t>
          </a:r>
        </a:p>
      </dsp:txBody>
      <dsp:txXfrm>
        <a:off x="538749" y="1318186"/>
        <a:ext cx="7334982" cy="239742"/>
      </dsp:txXfrm>
    </dsp:sp>
    <dsp:sp modelId="{CC6AB1C7-CC18-3643-BF5C-127B801CB3FE}">
      <dsp:nvSpPr>
        <dsp:cNvPr id="0" name=""/>
        <dsp:cNvSpPr/>
      </dsp:nvSpPr>
      <dsp:spPr>
        <a:xfrm>
          <a:off x="0" y="184629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9D58CF-9964-A342-8363-0C977A626CBB}">
      <dsp:nvSpPr>
        <dsp:cNvPr id="0" name=""/>
        <dsp:cNvSpPr/>
      </dsp:nvSpPr>
      <dsp:spPr>
        <a:xfrm>
          <a:off x="525780" y="171345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Our Approach - MEMO Architecture</a:t>
          </a:r>
        </a:p>
      </dsp:txBody>
      <dsp:txXfrm>
        <a:off x="538749" y="1726426"/>
        <a:ext cx="7334982" cy="239742"/>
      </dsp:txXfrm>
    </dsp:sp>
    <dsp:sp modelId="{76CE06D4-B8F4-654D-A376-0BA9F4A261FD}">
      <dsp:nvSpPr>
        <dsp:cNvPr id="0" name=""/>
        <dsp:cNvSpPr/>
      </dsp:nvSpPr>
      <dsp:spPr>
        <a:xfrm>
          <a:off x="0" y="225453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55BB49-26A4-044F-8C89-E1CD7B85D027}">
      <dsp:nvSpPr>
        <dsp:cNvPr id="0" name=""/>
        <dsp:cNvSpPr/>
      </dsp:nvSpPr>
      <dsp:spPr>
        <a:xfrm>
          <a:off x="525780" y="212169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Our Approach - Design</a:t>
          </a:r>
        </a:p>
      </dsp:txBody>
      <dsp:txXfrm>
        <a:off x="538749" y="2134666"/>
        <a:ext cx="7334982" cy="239742"/>
      </dsp:txXfrm>
    </dsp:sp>
    <dsp:sp modelId="{F6E817E7-7B80-FE44-815E-A7397D4019AF}">
      <dsp:nvSpPr>
        <dsp:cNvPr id="0" name=""/>
        <dsp:cNvSpPr/>
      </dsp:nvSpPr>
      <dsp:spPr>
        <a:xfrm>
          <a:off x="0" y="266277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FB4F74-570E-C149-8508-20E1E642C014}">
      <dsp:nvSpPr>
        <dsp:cNvPr id="0" name=""/>
        <dsp:cNvSpPr/>
      </dsp:nvSpPr>
      <dsp:spPr>
        <a:xfrm>
          <a:off x="525780" y="252993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Our Approach - Tool Validation</a:t>
          </a:r>
        </a:p>
      </dsp:txBody>
      <dsp:txXfrm>
        <a:off x="538749" y="2542906"/>
        <a:ext cx="7334982" cy="239742"/>
      </dsp:txXfrm>
    </dsp:sp>
    <dsp:sp modelId="{79F43105-C517-6446-9E99-FCE78E92078C}">
      <dsp:nvSpPr>
        <dsp:cNvPr id="0" name=""/>
        <dsp:cNvSpPr/>
      </dsp:nvSpPr>
      <dsp:spPr>
        <a:xfrm>
          <a:off x="0" y="307101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C22C0E1-F879-4A4A-B411-30BB45F6D617}">
      <dsp:nvSpPr>
        <dsp:cNvPr id="0" name=""/>
        <dsp:cNvSpPr/>
      </dsp:nvSpPr>
      <dsp:spPr>
        <a:xfrm>
          <a:off x="525780" y="293817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Non-sharded Comparison</a:t>
          </a:r>
        </a:p>
      </dsp:txBody>
      <dsp:txXfrm>
        <a:off x="538749" y="2951146"/>
        <a:ext cx="7334982" cy="239742"/>
      </dsp:txXfrm>
    </dsp:sp>
    <dsp:sp modelId="{9B3A27F3-BF7A-D54E-B78D-A45A8550675C}">
      <dsp:nvSpPr>
        <dsp:cNvPr id="0" name=""/>
        <dsp:cNvSpPr/>
      </dsp:nvSpPr>
      <dsp:spPr>
        <a:xfrm>
          <a:off x="0" y="347925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046BD4-31BB-4643-BF16-129E42BE4668}">
      <dsp:nvSpPr>
        <dsp:cNvPr id="0" name=""/>
        <dsp:cNvSpPr/>
      </dsp:nvSpPr>
      <dsp:spPr>
        <a:xfrm>
          <a:off x="525780" y="334641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Results of Simulation - MEMO Blockchain</a:t>
          </a:r>
        </a:p>
      </dsp:txBody>
      <dsp:txXfrm>
        <a:off x="538749" y="3359386"/>
        <a:ext cx="7334982" cy="239742"/>
      </dsp:txXfrm>
    </dsp:sp>
    <dsp:sp modelId="{ED892F40-7FD4-7C45-9334-9458ACAB793B}">
      <dsp:nvSpPr>
        <dsp:cNvPr id="0" name=""/>
        <dsp:cNvSpPr/>
      </dsp:nvSpPr>
      <dsp:spPr>
        <a:xfrm>
          <a:off x="0" y="3887497"/>
          <a:ext cx="10515600" cy="22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6B93BA-BF8D-524F-BEEA-0C08CDE8D69E}">
      <dsp:nvSpPr>
        <dsp:cNvPr id="0" name=""/>
        <dsp:cNvSpPr/>
      </dsp:nvSpPr>
      <dsp:spPr>
        <a:xfrm>
          <a:off x="525780" y="3754657"/>
          <a:ext cx="7360920" cy="2656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400050">
            <a:lnSpc>
              <a:spcPct val="90000"/>
            </a:lnSpc>
            <a:spcBef>
              <a:spcPct val="0"/>
            </a:spcBef>
            <a:spcAft>
              <a:spcPct val="35000"/>
            </a:spcAft>
            <a:buNone/>
          </a:pPr>
          <a:r>
            <a:rPr lang="en-US" sz="900" kern="1200" dirty="0"/>
            <a:t>Future Work</a:t>
          </a:r>
        </a:p>
      </dsp:txBody>
      <dsp:txXfrm>
        <a:off x="538749" y="3767626"/>
        <a:ext cx="7334982" cy="2397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F1D9E3-14DB-4A33-9FA6-D8AE12785F4D}">
      <dsp:nvSpPr>
        <dsp:cNvPr id="0" name=""/>
        <dsp:cNvSpPr/>
      </dsp:nvSpPr>
      <dsp:spPr>
        <a:xfrm>
          <a:off x="0" y="2912"/>
          <a:ext cx="5604997" cy="62046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3600A9-E643-4C4B-AC00-10B392D949FC}">
      <dsp:nvSpPr>
        <dsp:cNvPr id="0" name=""/>
        <dsp:cNvSpPr/>
      </dsp:nvSpPr>
      <dsp:spPr>
        <a:xfrm>
          <a:off x="187690" y="142517"/>
          <a:ext cx="341255" cy="3412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6172B1-4F4D-41D6-8FE7-E914563641F1}">
      <dsp:nvSpPr>
        <dsp:cNvPr id="0" name=""/>
        <dsp:cNvSpPr/>
      </dsp:nvSpPr>
      <dsp:spPr>
        <a:xfrm>
          <a:off x="716636" y="2912"/>
          <a:ext cx="4888360" cy="620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666" tIns="65666" rIns="65666" bIns="65666" numCol="1" spcCol="1270" anchor="ctr" anchorCtr="0">
          <a:noAutofit/>
        </a:bodyPr>
        <a:lstStyle/>
        <a:p>
          <a:pPr marL="0" lvl="0" indent="0" algn="l" defTabSz="666750">
            <a:lnSpc>
              <a:spcPct val="100000"/>
            </a:lnSpc>
            <a:spcBef>
              <a:spcPct val="0"/>
            </a:spcBef>
            <a:spcAft>
              <a:spcPct val="35000"/>
            </a:spcAft>
            <a:buNone/>
          </a:pPr>
          <a:r>
            <a:rPr lang="en-US" sz="1500" b="0" i="0" kern="1200" baseline="0"/>
            <a:t>Current single-chain designs cap throughput as demand surges.</a:t>
          </a:r>
          <a:endParaRPr lang="en-US" sz="1500" kern="1200"/>
        </a:p>
      </dsp:txBody>
      <dsp:txXfrm>
        <a:off x="716636" y="2912"/>
        <a:ext cx="4888360" cy="620464"/>
      </dsp:txXfrm>
    </dsp:sp>
    <dsp:sp modelId="{37913D28-F096-4FA4-A61F-E50D2C7FDAEB}">
      <dsp:nvSpPr>
        <dsp:cNvPr id="0" name=""/>
        <dsp:cNvSpPr/>
      </dsp:nvSpPr>
      <dsp:spPr>
        <a:xfrm>
          <a:off x="0" y="778493"/>
          <a:ext cx="5604997" cy="620464"/>
        </a:xfrm>
        <a:prstGeom prst="roundRect">
          <a:avLst>
            <a:gd name="adj" fmla="val 10000"/>
          </a:avLst>
        </a:prstGeom>
        <a:solidFill>
          <a:schemeClr val="accent5">
            <a:hueOff val="-1183401"/>
            <a:satOff val="-6501"/>
            <a:lumOff val="-6471"/>
            <a:alphaOff val="0"/>
          </a:schemeClr>
        </a:solidFill>
        <a:ln>
          <a:noFill/>
        </a:ln>
        <a:effectLst/>
      </dsp:spPr>
      <dsp:style>
        <a:lnRef idx="0">
          <a:scrgbClr r="0" g="0" b="0"/>
        </a:lnRef>
        <a:fillRef idx="1">
          <a:scrgbClr r="0" g="0" b="0"/>
        </a:fillRef>
        <a:effectRef idx="0">
          <a:scrgbClr r="0" g="0" b="0"/>
        </a:effectRef>
        <a:fontRef idx="minor"/>
      </dsp:style>
    </dsp:sp>
    <dsp:sp modelId="{8D7365B3-15C2-4831-AB94-BD4ACA1F048A}">
      <dsp:nvSpPr>
        <dsp:cNvPr id="0" name=""/>
        <dsp:cNvSpPr/>
      </dsp:nvSpPr>
      <dsp:spPr>
        <a:xfrm>
          <a:off x="187690" y="918098"/>
          <a:ext cx="341255" cy="3412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AED671-0E37-4003-8966-174AA4BEF5F9}">
      <dsp:nvSpPr>
        <dsp:cNvPr id="0" name=""/>
        <dsp:cNvSpPr/>
      </dsp:nvSpPr>
      <dsp:spPr>
        <a:xfrm>
          <a:off x="716636" y="778493"/>
          <a:ext cx="4888360" cy="620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666" tIns="65666" rIns="65666" bIns="65666" numCol="1" spcCol="1270" anchor="ctr" anchorCtr="0">
          <a:noAutofit/>
        </a:bodyPr>
        <a:lstStyle/>
        <a:p>
          <a:pPr marL="0" lvl="0" indent="0" algn="l" defTabSz="666750">
            <a:lnSpc>
              <a:spcPct val="100000"/>
            </a:lnSpc>
            <a:spcBef>
              <a:spcPct val="0"/>
            </a:spcBef>
            <a:spcAft>
              <a:spcPct val="35000"/>
            </a:spcAft>
            <a:buNone/>
          </a:pPr>
          <a:r>
            <a:rPr lang="en-US" sz="1500" b="0" i="0" kern="1200" baseline="0"/>
            <a:t>We aim to scale TPS via sharding without increasing user-visible latency.</a:t>
          </a:r>
          <a:endParaRPr lang="en-US" sz="1500" kern="1200"/>
        </a:p>
      </dsp:txBody>
      <dsp:txXfrm>
        <a:off x="716636" y="778493"/>
        <a:ext cx="4888360" cy="620464"/>
      </dsp:txXfrm>
    </dsp:sp>
    <dsp:sp modelId="{780B81C9-918B-4880-8D44-4C21A4ADB868}">
      <dsp:nvSpPr>
        <dsp:cNvPr id="0" name=""/>
        <dsp:cNvSpPr/>
      </dsp:nvSpPr>
      <dsp:spPr>
        <a:xfrm>
          <a:off x="0" y="1554074"/>
          <a:ext cx="5604997" cy="620464"/>
        </a:xfrm>
        <a:prstGeom prst="roundRect">
          <a:avLst>
            <a:gd name="adj" fmla="val 10000"/>
          </a:avLst>
        </a:prstGeom>
        <a:solidFill>
          <a:schemeClr val="accent5">
            <a:hueOff val="-2366803"/>
            <a:satOff val="-13001"/>
            <a:lumOff val="-12942"/>
            <a:alphaOff val="0"/>
          </a:schemeClr>
        </a:solidFill>
        <a:ln>
          <a:noFill/>
        </a:ln>
        <a:effectLst/>
      </dsp:spPr>
      <dsp:style>
        <a:lnRef idx="0">
          <a:scrgbClr r="0" g="0" b="0"/>
        </a:lnRef>
        <a:fillRef idx="1">
          <a:scrgbClr r="0" g="0" b="0"/>
        </a:fillRef>
        <a:effectRef idx="0">
          <a:scrgbClr r="0" g="0" b="0"/>
        </a:effectRef>
        <a:fontRef idx="minor"/>
      </dsp:style>
    </dsp:sp>
    <dsp:sp modelId="{C7F71039-30AE-45C0-BF50-F3CED8503C19}">
      <dsp:nvSpPr>
        <dsp:cNvPr id="0" name=""/>
        <dsp:cNvSpPr/>
      </dsp:nvSpPr>
      <dsp:spPr>
        <a:xfrm>
          <a:off x="187690" y="1693678"/>
          <a:ext cx="341255" cy="3412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2ABCB-6811-420F-A9E6-7B8ADD8B0DEC}">
      <dsp:nvSpPr>
        <dsp:cNvPr id="0" name=""/>
        <dsp:cNvSpPr/>
      </dsp:nvSpPr>
      <dsp:spPr>
        <a:xfrm>
          <a:off x="716636" y="1554074"/>
          <a:ext cx="4888360" cy="620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666" tIns="65666" rIns="65666" bIns="65666" numCol="1" spcCol="1270" anchor="ctr" anchorCtr="0">
          <a:noAutofit/>
        </a:bodyPr>
        <a:lstStyle/>
        <a:p>
          <a:pPr marL="0" lvl="0" indent="0" algn="l" defTabSz="666750">
            <a:lnSpc>
              <a:spcPct val="100000"/>
            </a:lnSpc>
            <a:spcBef>
              <a:spcPct val="0"/>
            </a:spcBef>
            <a:spcAft>
              <a:spcPct val="35000"/>
            </a:spcAft>
            <a:buNone/>
          </a:pPr>
          <a:r>
            <a:rPr lang="en-US" sz="1500" b="0" i="0" kern="1200" baseline="0"/>
            <a:t>Security must remain constant (no weaker committees/assumptions).</a:t>
          </a:r>
          <a:endParaRPr lang="en-US" sz="1500" kern="1200"/>
        </a:p>
      </dsp:txBody>
      <dsp:txXfrm>
        <a:off x="716636" y="1554074"/>
        <a:ext cx="4888360" cy="620464"/>
      </dsp:txXfrm>
    </dsp:sp>
    <dsp:sp modelId="{F6BDA916-CAF6-45D2-891C-53CD016E6D9D}">
      <dsp:nvSpPr>
        <dsp:cNvPr id="0" name=""/>
        <dsp:cNvSpPr/>
      </dsp:nvSpPr>
      <dsp:spPr>
        <a:xfrm>
          <a:off x="0" y="2329654"/>
          <a:ext cx="5604997" cy="620464"/>
        </a:xfrm>
        <a:prstGeom prst="roundRect">
          <a:avLst>
            <a:gd name="adj" fmla="val 10000"/>
          </a:avLst>
        </a:prstGeom>
        <a:solidFill>
          <a:schemeClr val="accent5">
            <a:hueOff val="-3550204"/>
            <a:satOff val="-19502"/>
            <a:lumOff val="-19413"/>
            <a:alphaOff val="0"/>
          </a:schemeClr>
        </a:solidFill>
        <a:ln>
          <a:noFill/>
        </a:ln>
        <a:effectLst/>
      </dsp:spPr>
      <dsp:style>
        <a:lnRef idx="0">
          <a:scrgbClr r="0" g="0" b="0"/>
        </a:lnRef>
        <a:fillRef idx="1">
          <a:scrgbClr r="0" g="0" b="0"/>
        </a:fillRef>
        <a:effectRef idx="0">
          <a:scrgbClr r="0" g="0" b="0"/>
        </a:effectRef>
        <a:fontRef idx="minor"/>
      </dsp:style>
    </dsp:sp>
    <dsp:sp modelId="{15E42FC0-F519-49DB-8A8A-DE981CB43E0F}">
      <dsp:nvSpPr>
        <dsp:cNvPr id="0" name=""/>
        <dsp:cNvSpPr/>
      </dsp:nvSpPr>
      <dsp:spPr>
        <a:xfrm>
          <a:off x="187690" y="2469259"/>
          <a:ext cx="341255" cy="3412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53B102-EEF8-4239-AF6A-2288B733FED3}">
      <dsp:nvSpPr>
        <dsp:cNvPr id="0" name=""/>
        <dsp:cNvSpPr/>
      </dsp:nvSpPr>
      <dsp:spPr>
        <a:xfrm>
          <a:off x="716636" y="2329654"/>
          <a:ext cx="4888360" cy="620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666" tIns="65666" rIns="65666" bIns="65666" numCol="1" spcCol="1270" anchor="ctr" anchorCtr="0">
          <a:noAutofit/>
        </a:bodyPr>
        <a:lstStyle/>
        <a:p>
          <a:pPr marL="0" lvl="0" indent="0" algn="l" defTabSz="666750">
            <a:lnSpc>
              <a:spcPct val="100000"/>
            </a:lnSpc>
            <a:spcBef>
              <a:spcPct val="0"/>
            </a:spcBef>
            <a:spcAft>
              <a:spcPct val="35000"/>
            </a:spcAft>
            <a:buNone/>
          </a:pPr>
          <a:r>
            <a:rPr lang="en-US" sz="1500" b="0" i="0" kern="1200" baseline="0"/>
            <a:t>Cross-shard messaging overhead may erase scaling gains as shards grow.</a:t>
          </a:r>
          <a:endParaRPr lang="en-US" sz="1500" kern="1200"/>
        </a:p>
      </dsp:txBody>
      <dsp:txXfrm>
        <a:off x="716636" y="2329654"/>
        <a:ext cx="4888360" cy="620464"/>
      </dsp:txXfrm>
    </dsp:sp>
    <dsp:sp modelId="{6CEE1C5A-D67C-4430-B968-DF42CF1A59EF}">
      <dsp:nvSpPr>
        <dsp:cNvPr id="0" name=""/>
        <dsp:cNvSpPr/>
      </dsp:nvSpPr>
      <dsp:spPr>
        <a:xfrm>
          <a:off x="0" y="3105235"/>
          <a:ext cx="5604997" cy="620464"/>
        </a:xfrm>
        <a:prstGeom prst="roundRect">
          <a:avLst>
            <a:gd name="adj" fmla="val 10000"/>
          </a:avLst>
        </a:prstGeom>
        <a:solidFill>
          <a:schemeClr val="accent5">
            <a:hueOff val="-4733605"/>
            <a:satOff val="-26003"/>
            <a:lumOff val="-25884"/>
            <a:alphaOff val="0"/>
          </a:schemeClr>
        </a:solidFill>
        <a:ln>
          <a:noFill/>
        </a:ln>
        <a:effectLst/>
      </dsp:spPr>
      <dsp:style>
        <a:lnRef idx="0">
          <a:scrgbClr r="0" g="0" b="0"/>
        </a:lnRef>
        <a:fillRef idx="1">
          <a:scrgbClr r="0" g="0" b="0"/>
        </a:fillRef>
        <a:effectRef idx="0">
          <a:scrgbClr r="0" g="0" b="0"/>
        </a:effectRef>
        <a:fontRef idx="minor"/>
      </dsp:style>
    </dsp:sp>
    <dsp:sp modelId="{55987CA5-D84A-4053-9CC7-285983B5B7BB}">
      <dsp:nvSpPr>
        <dsp:cNvPr id="0" name=""/>
        <dsp:cNvSpPr/>
      </dsp:nvSpPr>
      <dsp:spPr>
        <a:xfrm>
          <a:off x="187690" y="3244840"/>
          <a:ext cx="341255" cy="34125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91D299-C5BB-45BE-82DC-5F2B105DE7C9}">
      <dsp:nvSpPr>
        <dsp:cNvPr id="0" name=""/>
        <dsp:cNvSpPr/>
      </dsp:nvSpPr>
      <dsp:spPr>
        <a:xfrm>
          <a:off x="716636" y="3105235"/>
          <a:ext cx="4888360" cy="620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666" tIns="65666" rIns="65666" bIns="65666" numCol="1" spcCol="1270" anchor="ctr" anchorCtr="0">
          <a:noAutofit/>
        </a:bodyPr>
        <a:lstStyle/>
        <a:p>
          <a:pPr marL="0" lvl="0" indent="0" algn="l" defTabSz="666750">
            <a:lnSpc>
              <a:spcPct val="100000"/>
            </a:lnSpc>
            <a:spcBef>
              <a:spcPct val="0"/>
            </a:spcBef>
            <a:spcAft>
              <a:spcPct val="35000"/>
            </a:spcAft>
            <a:buNone/>
          </a:pPr>
          <a:r>
            <a:rPr lang="en-US" sz="1500" b="0" i="0" kern="1200" baseline="0"/>
            <a:t>Problem: determine the shard count that maximizes TPS under fixed latency and security budgets.</a:t>
          </a:r>
          <a:endParaRPr lang="en-US" sz="1500" kern="1200"/>
        </a:p>
      </dsp:txBody>
      <dsp:txXfrm>
        <a:off x="716636" y="3105235"/>
        <a:ext cx="4888360" cy="6204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F1D9E3-14DB-4A33-9FA6-D8AE12785F4D}">
      <dsp:nvSpPr>
        <dsp:cNvPr id="0" name=""/>
        <dsp:cNvSpPr/>
      </dsp:nvSpPr>
      <dsp:spPr>
        <a:xfrm>
          <a:off x="0" y="936280"/>
          <a:ext cx="4220485" cy="80252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3600A9-E643-4C4B-AC00-10B392D949FC}">
      <dsp:nvSpPr>
        <dsp:cNvPr id="0" name=""/>
        <dsp:cNvSpPr/>
      </dsp:nvSpPr>
      <dsp:spPr>
        <a:xfrm>
          <a:off x="242764" y="1116848"/>
          <a:ext cx="441389" cy="4413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6172B1-4F4D-41D6-8FE7-E914563641F1}">
      <dsp:nvSpPr>
        <dsp:cNvPr id="0" name=""/>
        <dsp:cNvSpPr/>
      </dsp:nvSpPr>
      <dsp:spPr>
        <a:xfrm>
          <a:off x="926917" y="936280"/>
          <a:ext cx="3293567" cy="80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34" tIns="84934" rIns="84934" bIns="84934"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Even if we increase the block size or decrease the block time, still the TPS can be scaled to 3500 in bitcoin.</a:t>
          </a:r>
          <a:endParaRPr lang="en-US" sz="1400" kern="1200" dirty="0"/>
        </a:p>
      </dsp:txBody>
      <dsp:txXfrm>
        <a:off x="926917" y="936280"/>
        <a:ext cx="3293567" cy="80252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3371C-6554-B842-B6B7-6C4F3FC78EF4}">
      <dsp:nvSpPr>
        <dsp:cNvPr id="0" name=""/>
        <dsp:cNvSpPr/>
      </dsp:nvSpPr>
      <dsp:spPr>
        <a:xfrm>
          <a:off x="0" y="332722"/>
          <a:ext cx="10515600"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Single-leader block assembly bottlenecks throughput and raises latency.</a:t>
          </a:r>
        </a:p>
      </dsp:txBody>
      <dsp:txXfrm>
        <a:off x="42663" y="375385"/>
        <a:ext cx="10430274" cy="788627"/>
      </dsp:txXfrm>
    </dsp:sp>
    <dsp:sp modelId="{4670B83A-6534-934D-9DB0-F2F3081A7FF3}">
      <dsp:nvSpPr>
        <dsp:cNvPr id="0" name=""/>
        <dsp:cNvSpPr/>
      </dsp:nvSpPr>
      <dsp:spPr>
        <a:xfrm>
          <a:off x="0" y="1270035"/>
          <a:ext cx="10515600"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Our approach lets multiple miners to win per round and then contribute towards building a block in parallel.</a:t>
          </a:r>
        </a:p>
      </dsp:txBody>
      <dsp:txXfrm>
        <a:off x="42663" y="1312698"/>
        <a:ext cx="10430274" cy="788627"/>
      </dsp:txXfrm>
    </dsp:sp>
    <dsp:sp modelId="{BA6BEF41-9328-2347-8C46-7E24767BCF16}">
      <dsp:nvSpPr>
        <dsp:cNvPr id="0" name=""/>
        <dsp:cNvSpPr/>
      </dsp:nvSpPr>
      <dsp:spPr>
        <a:xfrm>
          <a:off x="0" y="2207349"/>
          <a:ext cx="10515600"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Each winner assembles a shard, where shard headers are coordinated and ordered deterministically to form a block.</a:t>
          </a:r>
        </a:p>
      </dsp:txBody>
      <dsp:txXfrm>
        <a:off x="42663" y="2250012"/>
        <a:ext cx="10430274" cy="788627"/>
      </dsp:txXfrm>
    </dsp:sp>
    <dsp:sp modelId="{1F82082B-DA70-F14C-A3F9-C2C1A7530721}">
      <dsp:nvSpPr>
        <dsp:cNvPr id="0" name=""/>
        <dsp:cNvSpPr/>
      </dsp:nvSpPr>
      <dsp:spPr>
        <a:xfrm>
          <a:off x="0" y="3144662"/>
          <a:ext cx="10515600"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This would help us benchmark and determine that at how many shards do we get the best throughput while maintaining a stable latency over the network.</a:t>
          </a:r>
        </a:p>
      </dsp:txBody>
      <dsp:txXfrm>
        <a:off x="42663" y="3187325"/>
        <a:ext cx="10430274" cy="7886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D01DC1-3FCF-BA41-85F7-7D77E8CEC2F7}">
      <dsp:nvSpPr>
        <dsp:cNvPr id="0" name=""/>
        <dsp:cNvSpPr/>
      </dsp:nvSpPr>
      <dsp:spPr>
        <a:xfrm>
          <a:off x="231653" y="1399"/>
          <a:ext cx="3287119" cy="197227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Many participants run the consensus mechanism.</a:t>
          </a:r>
        </a:p>
      </dsp:txBody>
      <dsp:txXfrm>
        <a:off x="231653" y="1399"/>
        <a:ext cx="3287119" cy="1972271"/>
      </dsp:txXfrm>
    </dsp:sp>
    <dsp:sp modelId="{D0F66E32-718B-B545-81C2-CF3B24912411}">
      <dsp:nvSpPr>
        <dsp:cNvPr id="0" name=""/>
        <dsp:cNvSpPr/>
      </dsp:nvSpPr>
      <dsp:spPr>
        <a:xfrm>
          <a:off x="3847485" y="1399"/>
          <a:ext cx="3287119" cy="1972271"/>
        </a:xfrm>
        <a:prstGeom prst="rect">
          <a:avLst/>
        </a:prstGeom>
        <a:solidFill>
          <a:schemeClr val="accent2">
            <a:hueOff val="-79989"/>
            <a:satOff val="-9677"/>
            <a:lumOff val="-462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Let’s say after that we have multiple winners for that round based on the difficulty and mechanism, each winner will be counted as a single shard in that case.</a:t>
          </a:r>
        </a:p>
      </dsp:txBody>
      <dsp:txXfrm>
        <a:off x="3847485" y="1399"/>
        <a:ext cx="3287119" cy="1972271"/>
      </dsp:txXfrm>
    </dsp:sp>
    <dsp:sp modelId="{6D10EA0C-C3D4-BB47-B5F0-0EF10C6B2D2C}">
      <dsp:nvSpPr>
        <dsp:cNvPr id="0" name=""/>
        <dsp:cNvSpPr/>
      </dsp:nvSpPr>
      <dsp:spPr>
        <a:xfrm>
          <a:off x="7463316" y="1399"/>
          <a:ext cx="3287119" cy="1972271"/>
        </a:xfrm>
        <a:prstGeom prst="rect">
          <a:avLst/>
        </a:prstGeom>
        <a:solidFill>
          <a:schemeClr val="accent2">
            <a:hueOff val="-159978"/>
            <a:satOff val="-19354"/>
            <a:lumOff val="-9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Each shard or the winner would have their own disjoint subset of state and transactions.</a:t>
          </a:r>
        </a:p>
      </dsp:txBody>
      <dsp:txXfrm>
        <a:off x="7463316" y="1399"/>
        <a:ext cx="3287119" cy="1972271"/>
      </dsp:txXfrm>
    </dsp:sp>
    <dsp:sp modelId="{D1D6D8CF-C2FC-E840-8C79-573F8F3D6301}">
      <dsp:nvSpPr>
        <dsp:cNvPr id="0" name=""/>
        <dsp:cNvSpPr/>
      </dsp:nvSpPr>
      <dsp:spPr>
        <a:xfrm>
          <a:off x="231653" y="2302383"/>
          <a:ext cx="3287119" cy="1972271"/>
        </a:xfrm>
        <a:prstGeom prst="rect">
          <a:avLst/>
        </a:prstGeom>
        <a:solidFill>
          <a:schemeClr val="accent2">
            <a:hueOff val="-239967"/>
            <a:satOff val="-29031"/>
            <a:lumOff val="-13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Winners would execute the transactions for their shard and produce the shard output.</a:t>
          </a:r>
        </a:p>
      </dsp:txBody>
      <dsp:txXfrm>
        <a:off x="231653" y="2302383"/>
        <a:ext cx="3287119" cy="1972271"/>
      </dsp:txXfrm>
    </dsp:sp>
    <dsp:sp modelId="{B02954F0-A8A7-4140-9E54-517B14B8BE5E}">
      <dsp:nvSpPr>
        <dsp:cNvPr id="0" name=""/>
        <dsp:cNvSpPr/>
      </dsp:nvSpPr>
      <dsp:spPr>
        <a:xfrm>
          <a:off x="3847485" y="2302383"/>
          <a:ext cx="3287119" cy="1972271"/>
        </a:xfrm>
        <a:prstGeom prst="rect">
          <a:avLst/>
        </a:prstGeom>
        <a:solidFill>
          <a:schemeClr val="accent2">
            <a:hueOff val="-319956"/>
            <a:satOff val="-38708"/>
            <a:lumOff val="-18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The shard then communicates among themselves or the metronome node to form the block.</a:t>
          </a:r>
        </a:p>
      </dsp:txBody>
      <dsp:txXfrm>
        <a:off x="3847485" y="2302383"/>
        <a:ext cx="3287119" cy="1972271"/>
      </dsp:txXfrm>
    </dsp:sp>
    <dsp:sp modelId="{6BC2865A-A44A-7E44-B551-EE3B8723D2C8}">
      <dsp:nvSpPr>
        <dsp:cNvPr id="0" name=""/>
        <dsp:cNvSpPr/>
      </dsp:nvSpPr>
      <dsp:spPr>
        <a:xfrm>
          <a:off x="7463316" y="2302383"/>
          <a:ext cx="3287119" cy="1972271"/>
        </a:xfrm>
        <a:prstGeom prst="rect">
          <a:avLst/>
        </a:prstGeom>
        <a:solidFill>
          <a:schemeClr val="accent2">
            <a:hueOff val="-399945"/>
            <a:satOff val="-48385"/>
            <a:lumOff val="-2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The metronome would also verify the transactions and the entire block itself and then the block will be published to the blockchain and then it will be broadcasted to all the miners, and the process begins again.</a:t>
          </a:r>
        </a:p>
      </dsp:txBody>
      <dsp:txXfrm>
        <a:off x="7463316" y="2302383"/>
        <a:ext cx="3287119" cy="197227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84D02-FDEA-2046-9438-99382CE9E5D3}">
      <dsp:nvSpPr>
        <dsp:cNvPr id="0" name=""/>
        <dsp:cNvSpPr/>
      </dsp:nvSpPr>
      <dsp:spPr>
        <a:xfrm>
          <a:off x="0" y="424269"/>
          <a:ext cx="10515600" cy="1113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Shards or the winners firstly communicate among themselves to form the block.</a:t>
          </a:r>
        </a:p>
      </dsp:txBody>
      <dsp:txXfrm>
        <a:off x="54373" y="478642"/>
        <a:ext cx="10406854" cy="1005094"/>
      </dsp:txXfrm>
    </dsp:sp>
    <dsp:sp modelId="{D5CA6CA3-DDBD-1946-A8A1-071F826A74E9}">
      <dsp:nvSpPr>
        <dsp:cNvPr id="0" name=""/>
        <dsp:cNvSpPr/>
      </dsp:nvSpPr>
      <dsp:spPr>
        <a:xfrm>
          <a:off x="0" y="1618749"/>
          <a:ext cx="10515600" cy="1113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another approach, the leader metronome communicates with these shards to form the block.</a:t>
          </a:r>
        </a:p>
      </dsp:txBody>
      <dsp:txXfrm>
        <a:off x="54373" y="1673122"/>
        <a:ext cx="10406854" cy="1005094"/>
      </dsp:txXfrm>
    </dsp:sp>
    <dsp:sp modelId="{0A73995E-D412-C54D-93F8-EB9F78DE9A92}">
      <dsp:nvSpPr>
        <dsp:cNvPr id="0" name=""/>
        <dsp:cNvSpPr/>
      </dsp:nvSpPr>
      <dsp:spPr>
        <a:xfrm>
          <a:off x="0" y="2813229"/>
          <a:ext cx="10515600" cy="1113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After that the metronome will publish the block to the blockchain and then will broadcast that to all the miners itself.</a:t>
          </a:r>
        </a:p>
      </dsp:txBody>
      <dsp:txXfrm>
        <a:off x="54373" y="2867602"/>
        <a:ext cx="10406854" cy="10050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D5A179-6C63-45D7-96EB-2BE2F1BCA82E}">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334F90-C0F3-45F6-AF86-7EE5DCB92B7C}">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B61BAD-4B2C-4253-A52B-4CDD931D5EB9}">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Build a prototype to deploy a real system and see if the simulation results can be validated in real life.</a:t>
          </a:r>
        </a:p>
      </dsp:txBody>
      <dsp:txXfrm>
        <a:off x="1435590" y="531"/>
        <a:ext cx="9080009" cy="1242935"/>
      </dsp:txXfrm>
    </dsp:sp>
    <dsp:sp modelId="{3A7B0CF5-3ED2-5347-980A-1AA9A79D3972}">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3275B4-A7D3-DE41-9B5C-65AA8426D6FB}">
      <dsp:nvSpPr>
        <dsp:cNvPr id="0" name=""/>
        <dsp:cNvSpPr/>
      </dsp:nvSpPr>
      <dsp:spPr>
        <a:xfrm>
          <a:off x="375988" y="1833861"/>
          <a:ext cx="683614" cy="68361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77326F-80BD-8F48-804F-B85F23744154}">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Test on the chameleon test bed with 80 nodes to get real time metrics and results.</a:t>
          </a:r>
        </a:p>
      </dsp:txBody>
      <dsp:txXfrm>
        <a:off x="1435590" y="1554201"/>
        <a:ext cx="9080009" cy="1242935"/>
      </dsp:txXfrm>
    </dsp:sp>
    <dsp:sp modelId="{300DA51B-01D4-2140-8D2F-25EA3AB5F5AC}">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350A7-8011-464A-8FE1-478E5099F86C}">
      <dsp:nvSpPr>
        <dsp:cNvPr id="0" name=""/>
        <dsp:cNvSpPr/>
      </dsp:nvSpPr>
      <dsp:spPr>
        <a:xfrm>
          <a:off x="375988" y="3387531"/>
          <a:ext cx="683614" cy="68361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76DAF2-DC31-6F42-A176-2062F6FF48A0}">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Perform test validations on the new claim of NEAR blockchain of 1 million transactions per second with half a second of block time in real system.</a:t>
          </a:r>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58EC38-18E2-944F-86F7-1824C22414F8}" type="datetimeFigureOut">
              <a:rPr lang="en-US" smtClean="0"/>
              <a:t>1/22/26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BDC87D-3DD5-7940-A209-6E7F06B1E266}" type="slidenum">
              <a:rPr lang="en-US" smtClean="0"/>
              <a:t>‹#›</a:t>
            </a:fld>
            <a:endParaRPr lang="en-US"/>
          </a:p>
        </p:txBody>
      </p:sp>
    </p:spTree>
    <p:extLst>
      <p:ext uri="{BB962C8B-B14F-4D97-AF65-F5344CB8AC3E}">
        <p14:creationId xmlns:p14="http://schemas.microsoft.com/office/powerpoint/2010/main" val="2508746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BDC87D-3DD5-7940-A209-6E7F06B1E266}" type="slidenum">
              <a:rPr lang="en-US" smtClean="0"/>
              <a:t>9</a:t>
            </a:fld>
            <a:endParaRPr lang="en-US"/>
          </a:p>
        </p:txBody>
      </p:sp>
    </p:spTree>
    <p:extLst>
      <p:ext uri="{BB962C8B-B14F-4D97-AF65-F5344CB8AC3E}">
        <p14:creationId xmlns:p14="http://schemas.microsoft.com/office/powerpoint/2010/main" val="847774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MOstly</a:t>
            </a:r>
            <a:r>
              <a:rPr lang="en-US" dirty="0"/>
              <a:t>, think about validation, look into historical data</a:t>
            </a:r>
          </a:p>
        </p:txBody>
      </p:sp>
      <p:sp>
        <p:nvSpPr>
          <p:cNvPr id="4" name="Slide Number Placeholder 3"/>
          <p:cNvSpPr>
            <a:spLocks noGrp="1"/>
          </p:cNvSpPr>
          <p:nvPr>
            <p:ph type="sldNum" sz="quarter" idx="5"/>
          </p:nvPr>
        </p:nvSpPr>
        <p:spPr/>
        <p:txBody>
          <a:bodyPr/>
          <a:lstStyle/>
          <a:p>
            <a:fld id="{C5BDC87D-3DD5-7940-A209-6E7F06B1E266}" type="slidenum">
              <a:rPr lang="en-US" smtClean="0"/>
              <a:t>17</a:t>
            </a:fld>
            <a:endParaRPr lang="en-US"/>
          </a:p>
        </p:txBody>
      </p:sp>
    </p:spTree>
    <p:extLst>
      <p:ext uri="{BB962C8B-B14F-4D97-AF65-F5344CB8AC3E}">
        <p14:creationId xmlns:p14="http://schemas.microsoft.com/office/powerpoint/2010/main" val="2969009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1/22/26</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5230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44895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71774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57571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28515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755257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3538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9897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38800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09756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1/22/26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3646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1/22/26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92597808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38C9E53E-E92D-DF29-2414-6A2BFE20577F}"/>
              </a:ext>
            </a:extLst>
          </p:cNvPr>
          <p:cNvSpPr>
            <a:spLocks noGrp="1"/>
          </p:cNvSpPr>
          <p:nvPr>
            <p:ph type="ctrTitle"/>
          </p:nvPr>
        </p:nvSpPr>
        <p:spPr>
          <a:xfrm>
            <a:off x="996275" y="4098524"/>
            <a:ext cx="5996628" cy="2226076"/>
          </a:xfrm>
        </p:spPr>
        <p:txBody>
          <a:bodyPr anchor="ctr">
            <a:normAutofit/>
          </a:bodyPr>
          <a:lstStyle/>
          <a:p>
            <a:pPr algn="l"/>
            <a:r>
              <a:rPr lang="en-US" sz="5400"/>
              <a:t>Sharding Simulations</a:t>
            </a:r>
            <a:endParaRPr lang="en-US" sz="5400" dirty="0"/>
          </a:p>
        </p:txBody>
      </p:sp>
      <p:grpSp>
        <p:nvGrpSpPr>
          <p:cNvPr id="13" name="Bottom Right">
            <a:extLst>
              <a:ext uri="{FF2B5EF4-FFF2-40B4-BE49-F238E27FC236}">
                <a16:creationId xmlns:a16="http://schemas.microsoft.com/office/drawing/2014/main" id="{FD57FA8A-6F6A-4738-A4C4-A1CA441706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14" name="Freeform: Shape 13">
              <a:extLst>
                <a:ext uri="{FF2B5EF4-FFF2-40B4-BE49-F238E27FC236}">
                  <a16:creationId xmlns:a16="http://schemas.microsoft.com/office/drawing/2014/main" id="{B722FA65-4717-473D-935C-1E9703E213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5" name="Graphic 157">
              <a:extLst>
                <a:ext uri="{FF2B5EF4-FFF2-40B4-BE49-F238E27FC236}">
                  <a16:creationId xmlns:a16="http://schemas.microsoft.com/office/drawing/2014/main" id="{0481A62F-BE87-4513-97B2-027784C6FB4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17" name="Freeform: Shape 16">
                <a:extLst>
                  <a:ext uri="{FF2B5EF4-FFF2-40B4-BE49-F238E27FC236}">
                    <a16:creationId xmlns:a16="http://schemas.microsoft.com/office/drawing/2014/main" id="{F00486A8-7935-4814-A88E-8AB913569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1D5DFA27-8F9C-4DAD-841C-EC15FDFDF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CBD0BA0A-7296-4EF5-8B4C-9644798AB6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05F1A67E-7F6A-4D1C-9630-CEA191C725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5E1300E6-8909-46D4-80E7-2122D24D35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DE4C708C-5388-41A0-984B-3698E2B9EB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95D7DAE6-94E0-4A1D-92A3-7D751872B7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6" name="Freeform: Shape 15">
              <a:extLst>
                <a:ext uri="{FF2B5EF4-FFF2-40B4-BE49-F238E27FC236}">
                  <a16:creationId xmlns:a16="http://schemas.microsoft.com/office/drawing/2014/main" id="{8F513D8C-ECEE-40F4-99D3-6C744A1E9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Subtitle 2">
            <a:extLst>
              <a:ext uri="{FF2B5EF4-FFF2-40B4-BE49-F238E27FC236}">
                <a16:creationId xmlns:a16="http://schemas.microsoft.com/office/drawing/2014/main" id="{CE8D0867-6FC8-1074-DA87-48E32EB50402}"/>
              </a:ext>
            </a:extLst>
          </p:cNvPr>
          <p:cNvSpPr>
            <a:spLocks noGrp="1"/>
          </p:cNvSpPr>
          <p:nvPr>
            <p:ph type="subTitle" idx="1"/>
          </p:nvPr>
        </p:nvSpPr>
        <p:spPr>
          <a:xfrm>
            <a:off x="7185430" y="4085112"/>
            <a:ext cx="3997745" cy="2228758"/>
          </a:xfrm>
        </p:spPr>
        <p:txBody>
          <a:bodyPr anchor="ctr">
            <a:normAutofit/>
          </a:bodyPr>
          <a:lstStyle/>
          <a:p>
            <a:pPr algn="l"/>
            <a:r>
              <a:rPr lang="en-US" sz="2200" dirty="0"/>
              <a:t>- By Om Amit Gandhi</a:t>
            </a:r>
          </a:p>
        </p:txBody>
      </p:sp>
      <p:pic>
        <p:nvPicPr>
          <p:cNvPr id="4" name="Picture 3" descr="A rainbow colored splatter&#10;&#10;AI-generated content may be incorrect.">
            <a:extLst>
              <a:ext uri="{FF2B5EF4-FFF2-40B4-BE49-F238E27FC236}">
                <a16:creationId xmlns:a16="http://schemas.microsoft.com/office/drawing/2014/main" id="{6CB50B5E-7B47-1682-917D-8EA2FFD65D5D}"/>
              </a:ext>
            </a:extLst>
          </p:cNvPr>
          <p:cNvPicPr>
            <a:picLocks noChangeAspect="1"/>
          </p:cNvPicPr>
          <p:nvPr/>
        </p:nvPicPr>
        <p:blipFill>
          <a:blip r:embed="rId2"/>
          <a:srcRect t="21620" r="-2" b="17645"/>
          <a:stretch>
            <a:fillRect/>
          </a:stretch>
        </p:blipFill>
        <p:spPr>
          <a:xfrm>
            <a:off x="619841" y="10"/>
            <a:ext cx="11084189" cy="3854020"/>
          </a:xfrm>
          <a:custGeom>
            <a:avLst/>
            <a:gdLst/>
            <a:ahLst/>
            <a:cxnLst/>
            <a:rect l="l" t="t" r="r" b="b"/>
            <a:pathLst>
              <a:path w="11084189" h="3854030">
                <a:moveTo>
                  <a:pt x="0" y="0"/>
                </a:moveTo>
                <a:lnTo>
                  <a:pt x="11084189" y="0"/>
                </a:lnTo>
                <a:lnTo>
                  <a:pt x="11061525" y="105743"/>
                </a:lnTo>
                <a:cubicBezTo>
                  <a:pt x="10536186" y="2244886"/>
                  <a:pt x="8264668" y="3854030"/>
                  <a:pt x="5542094" y="3854030"/>
                </a:cubicBezTo>
                <a:cubicBezTo>
                  <a:pt x="2819520" y="3854030"/>
                  <a:pt x="548002" y="2244886"/>
                  <a:pt x="22663" y="105743"/>
                </a:cubicBezTo>
                <a:close/>
              </a:path>
            </a:pathLst>
          </a:custGeom>
        </p:spPr>
      </p:pic>
      <p:grpSp>
        <p:nvGrpSpPr>
          <p:cNvPr id="25" name="Top Left">
            <a:extLst>
              <a:ext uri="{FF2B5EF4-FFF2-40B4-BE49-F238E27FC236}">
                <a16:creationId xmlns:a16="http://schemas.microsoft.com/office/drawing/2014/main" id="{FA83938A-824D-4A58-A16F-424E254986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10849" y="15178"/>
            <a:chExt cx="2198951" cy="3331254"/>
          </a:xfrm>
        </p:grpSpPr>
        <p:sp>
          <p:nvSpPr>
            <p:cNvPr id="26" name="Freeform: Shape 25">
              <a:extLst>
                <a:ext uri="{FF2B5EF4-FFF2-40B4-BE49-F238E27FC236}">
                  <a16:creationId xmlns:a16="http://schemas.microsoft.com/office/drawing/2014/main" id="{8B7029D1-A024-479E-8B61-B6C59454B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5D14A3F6-E603-4A77-BE8B-52A8CC119F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E3BABB92-B7C9-439B-A407-C26CAC92F0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B3806CE1-04AF-4087-986A-DBEB74501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373482B9-3ACD-4DBF-BF7A-865B7BBD10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FBF72E41-C373-4050-A899-B9FDE5113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4B521439-93BF-4D49-9EB4-9FA798186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34" name="Cross">
            <a:extLst>
              <a:ext uri="{FF2B5EF4-FFF2-40B4-BE49-F238E27FC236}">
                <a16:creationId xmlns:a16="http://schemas.microsoft.com/office/drawing/2014/main" id="{8593C7C3-23A8-4377-B2A6-0AA4120CF0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 y="553414"/>
            <a:ext cx="118872" cy="118872"/>
            <a:chOff x="1175347" y="3733800"/>
            <a:chExt cx="118872" cy="118872"/>
          </a:xfrm>
        </p:grpSpPr>
        <p:cxnSp>
          <p:nvCxnSpPr>
            <p:cNvPr id="35" name="Straight Connector 34">
              <a:extLst>
                <a:ext uri="{FF2B5EF4-FFF2-40B4-BE49-F238E27FC236}">
                  <a16:creationId xmlns:a16="http://schemas.microsoft.com/office/drawing/2014/main" id="{9DF09466-D21B-48B6-B71E-2E3DC70680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36" name="Straight Connector 35">
              <a:extLst>
                <a:ext uri="{FF2B5EF4-FFF2-40B4-BE49-F238E27FC236}">
                  <a16:creationId xmlns:a16="http://schemas.microsoft.com/office/drawing/2014/main" id="{5E19A168-D974-4872-8F82-BDB7121D1A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grpSp>
        <p:nvGrpSpPr>
          <p:cNvPr id="38" name="Cross">
            <a:extLst>
              <a:ext uri="{FF2B5EF4-FFF2-40B4-BE49-F238E27FC236}">
                <a16:creationId xmlns:a16="http://schemas.microsoft.com/office/drawing/2014/main" id="{B531CCBB-545A-412B-89AF-AEB3068A7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4400" y="705814"/>
            <a:ext cx="118872" cy="118872"/>
            <a:chOff x="1175347" y="3733800"/>
            <a:chExt cx="118872" cy="118872"/>
          </a:xfrm>
        </p:grpSpPr>
        <p:cxnSp>
          <p:nvCxnSpPr>
            <p:cNvPr id="39" name="Straight Connector 38">
              <a:extLst>
                <a:ext uri="{FF2B5EF4-FFF2-40B4-BE49-F238E27FC236}">
                  <a16:creationId xmlns:a16="http://schemas.microsoft.com/office/drawing/2014/main" id="{D48FD4C8-4A36-4CB1-9391-65AA566FF6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40" name="Straight Connector 39">
              <a:extLst>
                <a:ext uri="{FF2B5EF4-FFF2-40B4-BE49-F238E27FC236}">
                  <a16:creationId xmlns:a16="http://schemas.microsoft.com/office/drawing/2014/main" id="{75FC3684-0929-46EE-A97F-3BEE86C8F4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931690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9" name="Rectangle 3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1"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2" name="Freeform: Shape 41">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3" name="Freeform: Shape 42">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Freeform: Shape 43">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3F5B2248-61AB-A576-F860-87D06A3949A7}"/>
              </a:ext>
            </a:extLst>
          </p:cNvPr>
          <p:cNvSpPr>
            <a:spLocks noGrp="1"/>
          </p:cNvSpPr>
          <p:nvPr>
            <p:ph type="title"/>
          </p:nvPr>
        </p:nvSpPr>
        <p:spPr>
          <a:xfrm>
            <a:off x="1198181" y="167973"/>
            <a:ext cx="9988165" cy="1501639"/>
          </a:xfrm>
        </p:spPr>
        <p:txBody>
          <a:bodyPr anchor="b">
            <a:normAutofit/>
          </a:bodyPr>
          <a:lstStyle/>
          <a:p>
            <a:r>
              <a:rPr lang="en-US" dirty="0"/>
              <a:t>Contents</a:t>
            </a:r>
          </a:p>
        </p:txBody>
      </p:sp>
      <p:grpSp>
        <p:nvGrpSpPr>
          <p:cNvPr id="51"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2"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54" name="Freeform: Shape 53">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 name="Freeform: Shape 54">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3" name="Freeform: Shape 52">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5" name="Content Placeholder 2">
            <a:extLst>
              <a:ext uri="{FF2B5EF4-FFF2-40B4-BE49-F238E27FC236}">
                <a16:creationId xmlns:a16="http://schemas.microsoft.com/office/drawing/2014/main" id="{DDE843BF-A1D7-88BB-3DDF-AE7CC2DDE96A}"/>
              </a:ext>
            </a:extLst>
          </p:cNvPr>
          <p:cNvGraphicFramePr>
            <a:graphicFrameLocks noGrp="1"/>
          </p:cNvGraphicFramePr>
          <p:nvPr>
            <p:ph idx="1"/>
            <p:extLst>
              <p:ext uri="{D42A27DB-BD31-4B8C-83A1-F6EECF244321}">
                <p14:modId xmlns:p14="http://schemas.microsoft.com/office/powerpoint/2010/main" val="895163685"/>
              </p:ext>
            </p:extLst>
          </p:nvPr>
        </p:nvGraphicFramePr>
        <p:xfrm>
          <a:off x="838200" y="1982167"/>
          <a:ext cx="10515600" cy="419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9636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5" name="Rectangle 64">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6" name="Top left">
            <a:extLst>
              <a:ext uri="{FF2B5EF4-FFF2-40B4-BE49-F238E27FC236}">
                <a16:creationId xmlns:a16="http://schemas.microsoft.com/office/drawing/2014/main" id="{6B72B514-4AB8-43DF-84D4-951DBF368C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67" name="Freeform: Shape 42">
              <a:extLst>
                <a:ext uri="{FF2B5EF4-FFF2-40B4-BE49-F238E27FC236}">
                  <a16:creationId xmlns:a16="http://schemas.microsoft.com/office/drawing/2014/main" id="{C18CBCFF-BD6B-4455-9B70-EFE805CA2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8" name="Freeform: Shape 43">
              <a:extLst>
                <a:ext uri="{FF2B5EF4-FFF2-40B4-BE49-F238E27FC236}">
                  <a16:creationId xmlns:a16="http://schemas.microsoft.com/office/drawing/2014/main" id="{8C930A72-C529-4D5D-B460-A5A5375F98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69" name="Freeform: Shape 44">
              <a:extLst>
                <a:ext uri="{FF2B5EF4-FFF2-40B4-BE49-F238E27FC236}">
                  <a16:creationId xmlns:a16="http://schemas.microsoft.com/office/drawing/2014/main" id="{792FE3B2-9E8F-4022-93E8-BAAD0D50B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70" name="Freeform: Shape 45">
              <a:extLst>
                <a:ext uri="{FF2B5EF4-FFF2-40B4-BE49-F238E27FC236}">
                  <a16:creationId xmlns:a16="http://schemas.microsoft.com/office/drawing/2014/main" id="{5F85196A-D084-4219-B329-E5A7032CF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71" name="Freeform: Shape 46">
              <a:extLst>
                <a:ext uri="{FF2B5EF4-FFF2-40B4-BE49-F238E27FC236}">
                  <a16:creationId xmlns:a16="http://schemas.microsoft.com/office/drawing/2014/main" id="{B8174307-CBF0-4926-99C3-3072804B3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72" name="Freeform: Shape 47">
              <a:extLst>
                <a:ext uri="{FF2B5EF4-FFF2-40B4-BE49-F238E27FC236}">
                  <a16:creationId xmlns:a16="http://schemas.microsoft.com/office/drawing/2014/main" id="{63DDE618-1CD3-4BE5-8742-5D51BBF30D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73" name="Freeform: Shape 48">
              <a:extLst>
                <a:ext uri="{FF2B5EF4-FFF2-40B4-BE49-F238E27FC236}">
                  <a16:creationId xmlns:a16="http://schemas.microsoft.com/office/drawing/2014/main" id="{8D73DBA2-8AAA-4F85-81B5-99B96A471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74" name="Freeform: Shape 49">
              <a:extLst>
                <a:ext uri="{FF2B5EF4-FFF2-40B4-BE49-F238E27FC236}">
                  <a16:creationId xmlns:a16="http://schemas.microsoft.com/office/drawing/2014/main" id="{BA346AE2-9E14-4CFB-8DD3-0B1633621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5412BC0E-D07C-81E6-CAE5-5CC7420720A3}"/>
              </a:ext>
            </a:extLst>
          </p:cNvPr>
          <p:cNvSpPr>
            <a:spLocks noGrp="1"/>
          </p:cNvSpPr>
          <p:nvPr>
            <p:ph type="title"/>
          </p:nvPr>
        </p:nvSpPr>
        <p:spPr>
          <a:xfrm>
            <a:off x="1198182" y="559813"/>
            <a:ext cx="5605358" cy="1664573"/>
          </a:xfrm>
        </p:spPr>
        <p:txBody>
          <a:bodyPr>
            <a:normAutofit/>
          </a:bodyPr>
          <a:lstStyle/>
          <a:p>
            <a:r>
              <a:rPr lang="en-US" dirty="0"/>
              <a:t>Motivation</a:t>
            </a:r>
          </a:p>
        </p:txBody>
      </p:sp>
      <p:pic>
        <p:nvPicPr>
          <p:cNvPr id="7" name="Picture 6" descr="A diagram of blockchain approach&#10;&#10;AI-generated content may be incorrect.">
            <a:extLst>
              <a:ext uri="{FF2B5EF4-FFF2-40B4-BE49-F238E27FC236}">
                <a16:creationId xmlns:a16="http://schemas.microsoft.com/office/drawing/2014/main" id="{0EFF26C5-71FD-83AC-7E59-FB06F1B37E66}"/>
              </a:ext>
            </a:extLst>
          </p:cNvPr>
          <p:cNvPicPr>
            <a:picLocks noChangeAspect="1"/>
          </p:cNvPicPr>
          <p:nvPr/>
        </p:nvPicPr>
        <p:blipFill>
          <a:blip r:embed="rId2"/>
          <a:stretch>
            <a:fillRect/>
          </a:stretch>
        </p:blipFill>
        <p:spPr>
          <a:xfrm>
            <a:off x="7323200" y="567942"/>
            <a:ext cx="4516319" cy="5716862"/>
          </a:xfrm>
          <a:prstGeom prst="rect">
            <a:avLst/>
          </a:prstGeom>
        </p:spPr>
      </p:pic>
      <p:grpSp>
        <p:nvGrpSpPr>
          <p:cNvPr id="75" name="Bottom Right">
            <a:extLst>
              <a:ext uri="{FF2B5EF4-FFF2-40B4-BE49-F238E27FC236}">
                <a16:creationId xmlns:a16="http://schemas.microsoft.com/office/drawing/2014/main" id="{DD2E06CA-048F-403F-AD47-B098C0A25D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76" name="Freeform: Shape 52">
              <a:extLst>
                <a:ext uri="{FF2B5EF4-FFF2-40B4-BE49-F238E27FC236}">
                  <a16:creationId xmlns:a16="http://schemas.microsoft.com/office/drawing/2014/main" id="{324E2410-B321-4174-8C27-7749F2A57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4" name="Graphic 157">
              <a:extLst>
                <a:ext uri="{FF2B5EF4-FFF2-40B4-BE49-F238E27FC236}">
                  <a16:creationId xmlns:a16="http://schemas.microsoft.com/office/drawing/2014/main" id="{EE03354E-6E8A-4926-8545-B6B873F1F27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77" name="Freeform: Shape 55">
                <a:extLst>
                  <a:ext uri="{FF2B5EF4-FFF2-40B4-BE49-F238E27FC236}">
                    <a16:creationId xmlns:a16="http://schemas.microsoft.com/office/drawing/2014/main" id="{5BBCAC88-02AA-4773-A48A-D144EA52EE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78" name="Freeform: Shape 56">
                <a:extLst>
                  <a:ext uri="{FF2B5EF4-FFF2-40B4-BE49-F238E27FC236}">
                    <a16:creationId xmlns:a16="http://schemas.microsoft.com/office/drawing/2014/main" id="{6C51D753-137C-455D-97D4-ACCB464D93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9" name="Freeform: Shape 57">
                <a:extLst>
                  <a:ext uri="{FF2B5EF4-FFF2-40B4-BE49-F238E27FC236}">
                    <a16:creationId xmlns:a16="http://schemas.microsoft.com/office/drawing/2014/main" id="{02ABCEE4-D638-4555-AC4A-7E190462FA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80" name="Freeform: Shape 58">
                <a:extLst>
                  <a:ext uri="{FF2B5EF4-FFF2-40B4-BE49-F238E27FC236}">
                    <a16:creationId xmlns:a16="http://schemas.microsoft.com/office/drawing/2014/main" id="{2F383AB0-7670-4584-8F01-4324D54BB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81" name="Freeform: Shape 59">
                <a:extLst>
                  <a:ext uri="{FF2B5EF4-FFF2-40B4-BE49-F238E27FC236}">
                    <a16:creationId xmlns:a16="http://schemas.microsoft.com/office/drawing/2014/main" id="{4CD1567B-7D6D-497B-8CA8-14D96E010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82" name="Freeform: Shape 60">
                <a:extLst>
                  <a:ext uri="{FF2B5EF4-FFF2-40B4-BE49-F238E27FC236}">
                    <a16:creationId xmlns:a16="http://schemas.microsoft.com/office/drawing/2014/main" id="{CF3C4A9D-7E63-4D24-B697-23D58B316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3" name="Freeform: Shape 61">
                <a:extLst>
                  <a:ext uri="{FF2B5EF4-FFF2-40B4-BE49-F238E27FC236}">
                    <a16:creationId xmlns:a16="http://schemas.microsoft.com/office/drawing/2014/main" id="{315D2559-8BE6-439C-83F0-CE5BF53C9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84" name="Freeform: Shape 54">
              <a:extLst>
                <a:ext uri="{FF2B5EF4-FFF2-40B4-BE49-F238E27FC236}">
                  <a16:creationId xmlns:a16="http://schemas.microsoft.com/office/drawing/2014/main" id="{0A374A4F-696B-4911-BE1B-B180D09A1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6" name="Rectangle 1">
            <a:extLst>
              <a:ext uri="{FF2B5EF4-FFF2-40B4-BE49-F238E27FC236}">
                <a16:creationId xmlns:a16="http://schemas.microsoft.com/office/drawing/2014/main" id="{46929BA5-FF6F-62E7-AC30-E6017AB56D75}"/>
              </a:ext>
            </a:extLst>
          </p:cNvPr>
          <p:cNvGraphicFramePr>
            <a:graphicFrameLocks noGrp="1"/>
          </p:cNvGraphicFramePr>
          <p:nvPr>
            <p:ph idx="1"/>
            <p:extLst>
              <p:ext uri="{D42A27DB-BD31-4B8C-83A1-F6EECF244321}">
                <p14:modId xmlns:p14="http://schemas.microsoft.com/office/powerpoint/2010/main" val="340181278"/>
              </p:ext>
            </p:extLst>
          </p:nvPr>
        </p:nvGraphicFramePr>
        <p:xfrm>
          <a:off x="1185755" y="2384474"/>
          <a:ext cx="5604997" cy="3728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2658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30D40E-6C3F-3090-1336-B07CCD266C6B}"/>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7" name="Rectangle 66">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A030A05B-79D9-D290-D6FA-44D3B16EDBDC}"/>
              </a:ext>
            </a:extLst>
          </p:cNvPr>
          <p:cNvSpPr>
            <a:spLocks noGrp="1"/>
          </p:cNvSpPr>
          <p:nvPr>
            <p:ph type="title"/>
          </p:nvPr>
        </p:nvSpPr>
        <p:spPr>
          <a:xfrm>
            <a:off x="5388460" y="559813"/>
            <a:ext cx="5605358" cy="1664573"/>
          </a:xfrm>
        </p:spPr>
        <p:txBody>
          <a:bodyPr>
            <a:normAutofit/>
          </a:bodyPr>
          <a:lstStyle/>
          <a:p>
            <a:r>
              <a:rPr lang="en-US" dirty="0"/>
              <a:t>Motivation</a:t>
            </a:r>
          </a:p>
        </p:txBody>
      </p:sp>
      <p:pic>
        <p:nvPicPr>
          <p:cNvPr id="5" name="Picture 4" descr="A graph of blue circles&#10;&#10;AI-generated content may be incorrect.">
            <a:extLst>
              <a:ext uri="{FF2B5EF4-FFF2-40B4-BE49-F238E27FC236}">
                <a16:creationId xmlns:a16="http://schemas.microsoft.com/office/drawing/2014/main" id="{519B4A6D-3807-7493-6F15-55943CBF720A}"/>
              </a:ext>
            </a:extLst>
          </p:cNvPr>
          <p:cNvPicPr>
            <a:picLocks noChangeAspect="1"/>
          </p:cNvPicPr>
          <p:nvPr/>
        </p:nvPicPr>
        <p:blipFill>
          <a:blip r:embed="rId2"/>
          <a:stretch>
            <a:fillRect/>
          </a:stretch>
        </p:blipFill>
        <p:spPr>
          <a:xfrm>
            <a:off x="201905" y="2023286"/>
            <a:ext cx="6410383" cy="3734047"/>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grpSp>
        <p:nvGrpSpPr>
          <p:cNvPr id="68" name="Top left">
            <a:extLst>
              <a:ext uri="{FF2B5EF4-FFF2-40B4-BE49-F238E27FC236}">
                <a16:creationId xmlns:a16="http://schemas.microsoft.com/office/drawing/2014/main" id="{C4F70370-17DE-499D-8256-4F9A352BA9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69" name="Freeform: Shape 44">
              <a:extLst>
                <a:ext uri="{FF2B5EF4-FFF2-40B4-BE49-F238E27FC236}">
                  <a16:creationId xmlns:a16="http://schemas.microsoft.com/office/drawing/2014/main" id="{267F3889-D5A7-4B0B-A5C8-910CE49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0" name="Freeform: Shape 45">
              <a:extLst>
                <a:ext uri="{FF2B5EF4-FFF2-40B4-BE49-F238E27FC236}">
                  <a16:creationId xmlns:a16="http://schemas.microsoft.com/office/drawing/2014/main" id="{80968393-494B-4758-914C-AC92C7411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71" name="Freeform: Shape 46">
              <a:extLst>
                <a:ext uri="{FF2B5EF4-FFF2-40B4-BE49-F238E27FC236}">
                  <a16:creationId xmlns:a16="http://schemas.microsoft.com/office/drawing/2014/main" id="{13B9ECD2-208D-4E4C-85C7-86FAEFBCF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72" name="Freeform: Shape 47">
              <a:extLst>
                <a:ext uri="{FF2B5EF4-FFF2-40B4-BE49-F238E27FC236}">
                  <a16:creationId xmlns:a16="http://schemas.microsoft.com/office/drawing/2014/main" id="{5CEC0DB1-FD35-4E6A-A339-227F3A2D6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73" name="Freeform: Shape 48">
              <a:extLst>
                <a:ext uri="{FF2B5EF4-FFF2-40B4-BE49-F238E27FC236}">
                  <a16:creationId xmlns:a16="http://schemas.microsoft.com/office/drawing/2014/main" id="{FE530033-EC4D-4252-B937-8ABB2D681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74" name="Freeform: Shape 49">
              <a:extLst>
                <a:ext uri="{FF2B5EF4-FFF2-40B4-BE49-F238E27FC236}">
                  <a16:creationId xmlns:a16="http://schemas.microsoft.com/office/drawing/2014/main" id="{2136133D-A7F2-42FA-B919-60AC41C778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75" name="Freeform: Shape 50">
              <a:extLst>
                <a:ext uri="{FF2B5EF4-FFF2-40B4-BE49-F238E27FC236}">
                  <a16:creationId xmlns:a16="http://schemas.microsoft.com/office/drawing/2014/main" id="{54D267CA-94E7-4FD5-942D-5C3DE29C9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76" name="Freeform: Shape 51">
              <a:extLst>
                <a:ext uri="{FF2B5EF4-FFF2-40B4-BE49-F238E27FC236}">
                  <a16:creationId xmlns:a16="http://schemas.microsoft.com/office/drawing/2014/main" id="{30D7B39F-6C07-4FE8-A354-9F9A12609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77" name="Bottom Right">
            <a:extLst>
              <a:ext uri="{FF2B5EF4-FFF2-40B4-BE49-F238E27FC236}">
                <a16:creationId xmlns:a16="http://schemas.microsoft.com/office/drawing/2014/main" id="{C493BE25-7BED-4AAF-B05A-9EB10C80EF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78" name="Freeform: Shape 54">
              <a:extLst>
                <a:ext uri="{FF2B5EF4-FFF2-40B4-BE49-F238E27FC236}">
                  <a16:creationId xmlns:a16="http://schemas.microsoft.com/office/drawing/2014/main" id="{2C74F867-72FD-4FAA-9932-767684A75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6" name="Graphic 157">
              <a:extLst>
                <a:ext uri="{FF2B5EF4-FFF2-40B4-BE49-F238E27FC236}">
                  <a16:creationId xmlns:a16="http://schemas.microsoft.com/office/drawing/2014/main" id="{186A5D6B-01F1-41A2-8AE2-E20E30B0488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79" name="Freeform: Shape 57">
                <a:extLst>
                  <a:ext uri="{FF2B5EF4-FFF2-40B4-BE49-F238E27FC236}">
                    <a16:creationId xmlns:a16="http://schemas.microsoft.com/office/drawing/2014/main" id="{6FB5D595-CCC3-47E7-B8F1-88394EF1F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80" name="Freeform: Shape 58">
                <a:extLst>
                  <a:ext uri="{FF2B5EF4-FFF2-40B4-BE49-F238E27FC236}">
                    <a16:creationId xmlns:a16="http://schemas.microsoft.com/office/drawing/2014/main" id="{E36CCDE7-57DC-4910-B815-A1C0C0D8D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1" name="Freeform: Shape 59">
                <a:extLst>
                  <a:ext uri="{FF2B5EF4-FFF2-40B4-BE49-F238E27FC236}">
                    <a16:creationId xmlns:a16="http://schemas.microsoft.com/office/drawing/2014/main" id="{005B41E5-C3EB-4C22-B6DE-8928C8314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82" name="Freeform: Shape 60">
                <a:extLst>
                  <a:ext uri="{FF2B5EF4-FFF2-40B4-BE49-F238E27FC236}">
                    <a16:creationId xmlns:a16="http://schemas.microsoft.com/office/drawing/2014/main" id="{CC24D105-2918-455F-B496-92D82E1BD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83" name="Freeform: Shape 61">
                <a:extLst>
                  <a:ext uri="{FF2B5EF4-FFF2-40B4-BE49-F238E27FC236}">
                    <a16:creationId xmlns:a16="http://schemas.microsoft.com/office/drawing/2014/main" id="{9FA8C24E-CE9B-4872-9D15-D4B4A24D5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84" name="Freeform: Shape 62">
                <a:extLst>
                  <a:ext uri="{FF2B5EF4-FFF2-40B4-BE49-F238E27FC236}">
                    <a16:creationId xmlns:a16="http://schemas.microsoft.com/office/drawing/2014/main" id="{60726FA3-32BA-48EA-8DCB-23BBFC718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5" name="Freeform: Shape 63">
                <a:extLst>
                  <a:ext uri="{FF2B5EF4-FFF2-40B4-BE49-F238E27FC236}">
                    <a16:creationId xmlns:a16="http://schemas.microsoft.com/office/drawing/2014/main" id="{BEB3500D-7293-48F7-8F7E-D60FF252C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86" name="Freeform: Shape 56">
              <a:extLst>
                <a:ext uri="{FF2B5EF4-FFF2-40B4-BE49-F238E27FC236}">
                  <a16:creationId xmlns:a16="http://schemas.microsoft.com/office/drawing/2014/main" id="{C1D84803-4454-41CE-AFB6-447705465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aphicFrame>
        <p:nvGraphicFramePr>
          <p:cNvPr id="6" name="Rectangle 1">
            <a:extLst>
              <a:ext uri="{FF2B5EF4-FFF2-40B4-BE49-F238E27FC236}">
                <a16:creationId xmlns:a16="http://schemas.microsoft.com/office/drawing/2014/main" id="{A272E24E-2280-046B-5677-86C5DC266680}"/>
              </a:ext>
            </a:extLst>
          </p:cNvPr>
          <p:cNvGraphicFramePr>
            <a:graphicFrameLocks noGrp="1"/>
          </p:cNvGraphicFramePr>
          <p:nvPr>
            <p:ph idx="1"/>
            <p:extLst>
              <p:ext uri="{D42A27DB-BD31-4B8C-83A1-F6EECF244321}">
                <p14:modId xmlns:p14="http://schemas.microsoft.com/office/powerpoint/2010/main" val="3056415223"/>
              </p:ext>
            </p:extLst>
          </p:nvPr>
        </p:nvGraphicFramePr>
        <p:xfrm>
          <a:off x="6802738" y="2147065"/>
          <a:ext cx="4220485" cy="2675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5463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C1094A02-E10C-75F7-D8FB-3E185664EB0D}"/>
              </a:ext>
            </a:extLst>
          </p:cNvPr>
          <p:cNvSpPr>
            <a:spLocks noGrp="1"/>
          </p:cNvSpPr>
          <p:nvPr>
            <p:ph type="title"/>
          </p:nvPr>
        </p:nvSpPr>
        <p:spPr>
          <a:xfrm>
            <a:off x="5388460" y="559813"/>
            <a:ext cx="5605358" cy="1664573"/>
          </a:xfrm>
        </p:spPr>
        <p:txBody>
          <a:bodyPr>
            <a:normAutofit/>
          </a:bodyPr>
          <a:lstStyle/>
          <a:p>
            <a:r>
              <a:rPr lang="en-US" dirty="0"/>
              <a:t>What is Blockchain Sharding?</a:t>
            </a:r>
          </a:p>
        </p:txBody>
      </p:sp>
      <p:pic>
        <p:nvPicPr>
          <p:cNvPr id="7" name="Graphic 6" descr="Database">
            <a:extLst>
              <a:ext uri="{FF2B5EF4-FFF2-40B4-BE49-F238E27FC236}">
                <a16:creationId xmlns:a16="http://schemas.microsoft.com/office/drawing/2014/main" id="{BD2A83E0-717D-8B07-D0B9-51A6308A4BB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1906" y="1017640"/>
            <a:ext cx="4817466" cy="4817466"/>
          </a:xfrm>
          <a:prstGeom prst="rect">
            <a:avLst/>
          </a:prstGeom>
        </p:spPr>
      </p:pic>
      <p:grpSp>
        <p:nvGrpSpPr>
          <p:cNvPr id="14" name="Top left">
            <a:extLst>
              <a:ext uri="{FF2B5EF4-FFF2-40B4-BE49-F238E27FC236}">
                <a16:creationId xmlns:a16="http://schemas.microsoft.com/office/drawing/2014/main" id="{C4F70370-17DE-499D-8256-4F9A352BA9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267F3889-D5A7-4B0B-A5C8-910CE49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80968393-494B-4758-914C-AC92C7411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13B9ECD2-208D-4E4C-85C7-86FAEFBCF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5CEC0DB1-FD35-4E6A-A339-227F3A2D6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FE530033-EC4D-4252-B937-8ABB2D681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2136133D-A7F2-42FA-B919-60AC41C778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54D267CA-94E7-4FD5-942D-5C3DE29C9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30D7B39F-6C07-4FE8-A354-9F9A12609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24" name="Bottom Right">
            <a:extLst>
              <a:ext uri="{FF2B5EF4-FFF2-40B4-BE49-F238E27FC236}">
                <a16:creationId xmlns:a16="http://schemas.microsoft.com/office/drawing/2014/main" id="{C493BE25-7BED-4AAF-B05A-9EB10C80EF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2C74F867-72FD-4FAA-9932-767684A75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186A5D6B-01F1-41A2-8AE2-E20E30B0488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6FB5D595-CCC3-47E7-B8F1-88394EF1F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E36CCDE7-57DC-4910-B815-A1C0C0D8D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005B41E5-C3EB-4C22-B6DE-8928C8314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CC24D105-2918-455F-B496-92D82E1BD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9FA8C24E-CE9B-4872-9D15-D4B4A24D5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60726FA3-32BA-48EA-8DCB-23BBFC718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BEB3500D-7293-48F7-8F7E-D60FF252C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C1D84803-4454-41CE-AFB6-447705465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AFA5CD92-3969-8744-4E81-93376F6D96F0}"/>
              </a:ext>
            </a:extLst>
          </p:cNvPr>
          <p:cNvSpPr>
            <a:spLocks noGrp="1"/>
          </p:cNvSpPr>
          <p:nvPr>
            <p:ph idx="1"/>
          </p:nvPr>
        </p:nvSpPr>
        <p:spPr>
          <a:xfrm>
            <a:off x="5401248" y="2384474"/>
            <a:ext cx="5604997" cy="3728613"/>
          </a:xfrm>
        </p:spPr>
        <p:txBody>
          <a:bodyPr>
            <a:normAutofit/>
          </a:bodyPr>
          <a:lstStyle/>
          <a:p>
            <a:pPr>
              <a:lnSpc>
                <a:spcPct val="100000"/>
              </a:lnSpc>
            </a:pPr>
            <a:r>
              <a:rPr lang="en-US" sz="1400" dirty="0"/>
              <a:t>The general definition of sharding is the partitioning of the network into subsets known as shards, which allows them to validate transactions in parallel, resulting in performance and scalability improvements of the existing network.</a:t>
            </a:r>
          </a:p>
          <a:p>
            <a:pPr>
              <a:lnSpc>
                <a:spcPct val="100000"/>
              </a:lnSpc>
            </a:pPr>
            <a:r>
              <a:rPr lang="en-US" sz="1400" dirty="0"/>
              <a:t>Sharding in blockchain comes from the adaptation of traditional sharding in databases which involves partitioning the database into shards while blockchain sharding divides the network into shards or also called as committees that manages its own blockchain and has its own consensus protocol known as the intra-shard consensus along with the cross-shard consensus.</a:t>
            </a:r>
          </a:p>
          <a:p>
            <a:pPr>
              <a:lnSpc>
                <a:spcPct val="100000"/>
              </a:lnSpc>
            </a:pPr>
            <a:r>
              <a:rPr lang="en-US" sz="1400" dirty="0"/>
              <a:t>Sharding allows transactions in the network to be processed in parallel so that the throughput of the network increases. </a:t>
            </a:r>
          </a:p>
          <a:p>
            <a:pPr>
              <a:lnSpc>
                <a:spcPct val="100000"/>
              </a:lnSpc>
            </a:pPr>
            <a:r>
              <a:rPr lang="en-US" sz="1400" dirty="0"/>
              <a:t>The number of shards can then be increased accordingly to increase the throughput performance of the blockchain network.</a:t>
            </a:r>
          </a:p>
        </p:txBody>
      </p:sp>
    </p:spTree>
    <p:extLst>
      <p:ext uri="{BB962C8B-B14F-4D97-AF65-F5344CB8AC3E}">
        <p14:creationId xmlns:p14="http://schemas.microsoft.com/office/powerpoint/2010/main" val="3862636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4" name="Freeform: Shape 13">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6" name="Freeform: Shape 15">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8" name="Freeform: Shape 17">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0"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1" name="Freeform: Shape 20">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9"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0" name="Freeform: Shape 29">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8" name="Rectangle 37">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0" name="Rectangle 39">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2" name="Top left">
            <a:extLst>
              <a:ext uri="{FF2B5EF4-FFF2-40B4-BE49-F238E27FC236}">
                <a16:creationId xmlns:a16="http://schemas.microsoft.com/office/drawing/2014/main" id="{C23BAD38-30D1-4252-8149-903B66D8B4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3" name="Freeform: Shape 42">
              <a:extLst>
                <a:ext uri="{FF2B5EF4-FFF2-40B4-BE49-F238E27FC236}">
                  <a16:creationId xmlns:a16="http://schemas.microsoft.com/office/drawing/2014/main" id="{9EF8871A-7DF5-4751-8948-75984B0FB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4" name="Freeform: Shape 43">
              <a:extLst>
                <a:ext uri="{FF2B5EF4-FFF2-40B4-BE49-F238E27FC236}">
                  <a16:creationId xmlns:a16="http://schemas.microsoft.com/office/drawing/2014/main" id="{46A6F3E3-6529-4B7E-8D31-317E141F1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8C70AD52-D54F-41A3-91B9-9BC0DDAF89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A37F2387-BA4B-46C5-ABBD-E9272097E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C2E1B2E0-5DD5-4599-BDEC-F26CEF9E9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6A88C97C-1B3C-4A30-B1C0-D4AFEDC97C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86C4CC9D-7C49-41ED-8FE2-61EC66F0B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C51EA8C3-05E0-4F68-9BA7-F3F6C669D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41F0C95C-A663-E06C-999B-90C59FFED984}"/>
              </a:ext>
            </a:extLst>
          </p:cNvPr>
          <p:cNvSpPr>
            <a:spLocks noGrp="1"/>
          </p:cNvSpPr>
          <p:nvPr>
            <p:ph type="title"/>
          </p:nvPr>
        </p:nvSpPr>
        <p:spPr>
          <a:xfrm>
            <a:off x="996275" y="163350"/>
            <a:ext cx="5996619" cy="2065889"/>
          </a:xfrm>
        </p:spPr>
        <p:txBody>
          <a:bodyPr vert="horz" lIns="91440" tIns="45720" rIns="91440" bIns="45720" rtlCol="0" anchor="ctr">
            <a:normAutofit/>
          </a:bodyPr>
          <a:lstStyle/>
          <a:p>
            <a:r>
              <a:rPr lang="en-US" sz="5000" kern="1200" dirty="0">
                <a:solidFill>
                  <a:schemeClr val="tx2"/>
                </a:solidFill>
                <a:latin typeface="+mj-lt"/>
                <a:ea typeface="+mj-ea"/>
                <a:cs typeface="+mj-cs"/>
              </a:rPr>
              <a:t>What is Blockchain Sharding?</a:t>
            </a:r>
          </a:p>
        </p:txBody>
      </p:sp>
      <p:grpSp>
        <p:nvGrpSpPr>
          <p:cNvPr id="52" name="Cross">
            <a:extLst>
              <a:ext uri="{FF2B5EF4-FFF2-40B4-BE49-F238E27FC236}">
                <a16:creationId xmlns:a16="http://schemas.microsoft.com/office/drawing/2014/main" id="{4927067E-BE13-4DBB-AC1E-9847B890BC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53" name="Straight Connector 52">
              <a:extLst>
                <a:ext uri="{FF2B5EF4-FFF2-40B4-BE49-F238E27FC236}">
                  <a16:creationId xmlns:a16="http://schemas.microsoft.com/office/drawing/2014/main" id="{B62F8BF3-36CC-4073-AE00-A422A57FDB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795C5F4E-7F61-464E-B716-44F5797553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7" name="Picture 6" descr="A diagram of a blockchain&#10;&#10;AI-generated content may be incorrect.">
            <a:extLst>
              <a:ext uri="{FF2B5EF4-FFF2-40B4-BE49-F238E27FC236}">
                <a16:creationId xmlns:a16="http://schemas.microsoft.com/office/drawing/2014/main" id="{A20D2F48-E051-C373-98CF-A40DC7EE2790}"/>
              </a:ext>
            </a:extLst>
          </p:cNvPr>
          <p:cNvPicPr>
            <a:picLocks noChangeAspect="1"/>
          </p:cNvPicPr>
          <p:nvPr/>
        </p:nvPicPr>
        <p:blipFill>
          <a:blip r:embed="rId2"/>
          <a:stretch>
            <a:fillRect/>
          </a:stretch>
        </p:blipFill>
        <p:spPr>
          <a:xfrm>
            <a:off x="6275036" y="2032177"/>
            <a:ext cx="5151489" cy="3876495"/>
          </a:xfrm>
          <a:prstGeom prst="rect">
            <a:avLst/>
          </a:prstGeom>
        </p:spPr>
      </p:pic>
      <p:pic>
        <p:nvPicPr>
          <p:cNvPr id="5" name="Picture 4" descr="A screenshot of a computer screen&#10;&#10;AI-generated content may be incorrect.">
            <a:extLst>
              <a:ext uri="{FF2B5EF4-FFF2-40B4-BE49-F238E27FC236}">
                <a16:creationId xmlns:a16="http://schemas.microsoft.com/office/drawing/2014/main" id="{E02D823A-6618-B91F-B6F9-A04D4E584F52}"/>
              </a:ext>
            </a:extLst>
          </p:cNvPr>
          <p:cNvPicPr>
            <a:picLocks noChangeAspect="1"/>
          </p:cNvPicPr>
          <p:nvPr/>
        </p:nvPicPr>
        <p:blipFill>
          <a:blip r:embed="rId3"/>
          <a:stretch>
            <a:fillRect/>
          </a:stretch>
        </p:blipFill>
        <p:spPr>
          <a:xfrm>
            <a:off x="681386" y="2514548"/>
            <a:ext cx="5151489" cy="3129529"/>
          </a:xfrm>
          <a:prstGeom prst="rect">
            <a:avLst/>
          </a:prstGeom>
        </p:spPr>
      </p:pic>
      <p:grpSp>
        <p:nvGrpSpPr>
          <p:cNvPr id="56" name="Bottom Right">
            <a:extLst>
              <a:ext uri="{FF2B5EF4-FFF2-40B4-BE49-F238E27FC236}">
                <a16:creationId xmlns:a16="http://schemas.microsoft.com/office/drawing/2014/main" id="{D11A5264-0A9F-46A0-B3ED-9B336D9706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57" name="Graphic 157">
              <a:extLst>
                <a:ext uri="{FF2B5EF4-FFF2-40B4-BE49-F238E27FC236}">
                  <a16:creationId xmlns:a16="http://schemas.microsoft.com/office/drawing/2014/main" id="{A1B8A55C-B130-4222-B98F-16CA78B9CF6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9" name="Freeform: Shape 58">
                <a:extLst>
                  <a:ext uri="{FF2B5EF4-FFF2-40B4-BE49-F238E27FC236}">
                    <a16:creationId xmlns:a16="http://schemas.microsoft.com/office/drawing/2014/main" id="{82D40CFF-E2DF-48E0-8896-5166887A3C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37A4DB32-F7AD-42D8-A125-6CFB9B252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76CA230A-C491-40F1-B028-898C23C8D2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E27DB684-4D1D-4152-8ECC-62EC93D71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70AD88BE-AE84-4CD6-A22A-26C3D9BD2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FC9DC46C-EF52-4B9D-98C0-6225FB9D5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AC279F2D-8036-4201-8D63-8BE961F09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8" name="Freeform: Shape 57">
              <a:extLst>
                <a:ext uri="{FF2B5EF4-FFF2-40B4-BE49-F238E27FC236}">
                  <a16:creationId xmlns:a16="http://schemas.microsoft.com/office/drawing/2014/main" id="{2554FA09-485D-4EB3-9D6F-C19A292F7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itle 1">
            <a:extLst>
              <a:ext uri="{FF2B5EF4-FFF2-40B4-BE49-F238E27FC236}">
                <a16:creationId xmlns:a16="http://schemas.microsoft.com/office/drawing/2014/main" id="{1A1D902E-C3AE-C218-B726-59961E748321}"/>
              </a:ext>
            </a:extLst>
          </p:cNvPr>
          <p:cNvSpPr txBox="1">
            <a:spLocks/>
          </p:cNvSpPr>
          <p:nvPr/>
        </p:nvSpPr>
        <p:spPr>
          <a:xfrm>
            <a:off x="7613654" y="1559914"/>
            <a:ext cx="2910413" cy="547884"/>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US" sz="2000" dirty="0"/>
              <a:t>Conventional Sharding</a:t>
            </a:r>
          </a:p>
        </p:txBody>
      </p:sp>
    </p:spTree>
    <p:extLst>
      <p:ext uri="{BB962C8B-B14F-4D97-AF65-F5344CB8AC3E}">
        <p14:creationId xmlns:p14="http://schemas.microsoft.com/office/powerpoint/2010/main" val="868432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810826BD-3474-CE7F-AB5E-580ECA55E8DF}"/>
              </a:ext>
            </a:extLst>
          </p:cNvPr>
          <p:cNvSpPr>
            <a:spLocks noGrp="1"/>
          </p:cNvSpPr>
          <p:nvPr>
            <p:ph type="title"/>
          </p:nvPr>
        </p:nvSpPr>
        <p:spPr>
          <a:xfrm>
            <a:off x="5388460" y="559813"/>
            <a:ext cx="5605358" cy="1664573"/>
          </a:xfrm>
        </p:spPr>
        <p:txBody>
          <a:bodyPr>
            <a:normAutofit fontScale="90000"/>
          </a:bodyPr>
          <a:lstStyle/>
          <a:p>
            <a:r>
              <a:rPr lang="en-US" dirty="0"/>
              <a:t>Different Sharding Techniques (Previous Work)</a:t>
            </a:r>
          </a:p>
        </p:txBody>
      </p:sp>
      <p:pic>
        <p:nvPicPr>
          <p:cNvPr id="7" name="Graphic 6" descr="Network">
            <a:extLst>
              <a:ext uri="{FF2B5EF4-FFF2-40B4-BE49-F238E27FC236}">
                <a16:creationId xmlns:a16="http://schemas.microsoft.com/office/drawing/2014/main" id="{76690D4A-F1A4-536D-2CDA-23B6F2CBFEB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1906" y="1017640"/>
            <a:ext cx="4817466" cy="4817466"/>
          </a:xfrm>
          <a:prstGeom prst="rect">
            <a:avLst/>
          </a:prstGeom>
        </p:spPr>
      </p:pic>
      <p:grpSp>
        <p:nvGrpSpPr>
          <p:cNvPr id="35" name="Top left">
            <a:extLst>
              <a:ext uri="{FF2B5EF4-FFF2-40B4-BE49-F238E27FC236}">
                <a16:creationId xmlns:a16="http://schemas.microsoft.com/office/drawing/2014/main" id="{C4F70370-17DE-499D-8256-4F9A352BA9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36" name="Freeform: Shape 14">
              <a:extLst>
                <a:ext uri="{FF2B5EF4-FFF2-40B4-BE49-F238E27FC236}">
                  <a16:creationId xmlns:a16="http://schemas.microsoft.com/office/drawing/2014/main" id="{267F3889-D5A7-4B0B-A5C8-910CE49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7" name="Freeform: Shape 15">
              <a:extLst>
                <a:ext uri="{FF2B5EF4-FFF2-40B4-BE49-F238E27FC236}">
                  <a16:creationId xmlns:a16="http://schemas.microsoft.com/office/drawing/2014/main" id="{80968393-494B-4758-914C-AC92C7411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38" name="Freeform: Shape 16">
              <a:extLst>
                <a:ext uri="{FF2B5EF4-FFF2-40B4-BE49-F238E27FC236}">
                  <a16:creationId xmlns:a16="http://schemas.microsoft.com/office/drawing/2014/main" id="{13B9ECD2-208D-4E4C-85C7-86FAEFBCF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39" name="Freeform: Shape 17">
              <a:extLst>
                <a:ext uri="{FF2B5EF4-FFF2-40B4-BE49-F238E27FC236}">
                  <a16:creationId xmlns:a16="http://schemas.microsoft.com/office/drawing/2014/main" id="{5CEC0DB1-FD35-4E6A-A339-227F3A2D6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0" name="Freeform: Shape 18">
              <a:extLst>
                <a:ext uri="{FF2B5EF4-FFF2-40B4-BE49-F238E27FC236}">
                  <a16:creationId xmlns:a16="http://schemas.microsoft.com/office/drawing/2014/main" id="{FE530033-EC4D-4252-B937-8ABB2D681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1" name="Freeform: Shape 19">
              <a:extLst>
                <a:ext uri="{FF2B5EF4-FFF2-40B4-BE49-F238E27FC236}">
                  <a16:creationId xmlns:a16="http://schemas.microsoft.com/office/drawing/2014/main" id="{2136133D-A7F2-42FA-B919-60AC41C778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2" name="Freeform: Shape 20">
              <a:extLst>
                <a:ext uri="{FF2B5EF4-FFF2-40B4-BE49-F238E27FC236}">
                  <a16:creationId xmlns:a16="http://schemas.microsoft.com/office/drawing/2014/main" id="{54D267CA-94E7-4FD5-942D-5C3DE29C9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30D7B39F-6C07-4FE8-A354-9F9A12609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grpSp>
        <p:nvGrpSpPr>
          <p:cNvPr id="24" name="Bottom Right">
            <a:extLst>
              <a:ext uri="{FF2B5EF4-FFF2-40B4-BE49-F238E27FC236}">
                <a16:creationId xmlns:a16="http://schemas.microsoft.com/office/drawing/2014/main" id="{C493BE25-7BED-4AAF-B05A-9EB10C80EF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43" name="Freeform: Shape 24">
              <a:extLst>
                <a:ext uri="{FF2B5EF4-FFF2-40B4-BE49-F238E27FC236}">
                  <a16:creationId xmlns:a16="http://schemas.microsoft.com/office/drawing/2014/main" id="{2C74F867-72FD-4FAA-9932-767684A75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4" name="Graphic 157">
              <a:extLst>
                <a:ext uri="{FF2B5EF4-FFF2-40B4-BE49-F238E27FC236}">
                  <a16:creationId xmlns:a16="http://schemas.microsoft.com/office/drawing/2014/main" id="{186A5D6B-01F1-41A2-8AE2-E20E30B0488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5" name="Freeform: Shape 27">
                <a:extLst>
                  <a:ext uri="{FF2B5EF4-FFF2-40B4-BE49-F238E27FC236}">
                    <a16:creationId xmlns:a16="http://schemas.microsoft.com/office/drawing/2014/main" id="{6FB5D595-CCC3-47E7-B8F1-88394EF1F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6" name="Freeform: Shape 28">
                <a:extLst>
                  <a:ext uri="{FF2B5EF4-FFF2-40B4-BE49-F238E27FC236}">
                    <a16:creationId xmlns:a16="http://schemas.microsoft.com/office/drawing/2014/main" id="{E36CCDE7-57DC-4910-B815-A1C0C0D8D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7" name="Freeform: Shape 29">
                <a:extLst>
                  <a:ext uri="{FF2B5EF4-FFF2-40B4-BE49-F238E27FC236}">
                    <a16:creationId xmlns:a16="http://schemas.microsoft.com/office/drawing/2014/main" id="{005B41E5-C3EB-4C22-B6DE-8928C8314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48" name="Freeform: Shape 30">
                <a:extLst>
                  <a:ext uri="{FF2B5EF4-FFF2-40B4-BE49-F238E27FC236}">
                    <a16:creationId xmlns:a16="http://schemas.microsoft.com/office/drawing/2014/main" id="{CC24D105-2918-455F-B496-92D82E1BD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31">
                <a:extLst>
                  <a:ext uri="{FF2B5EF4-FFF2-40B4-BE49-F238E27FC236}">
                    <a16:creationId xmlns:a16="http://schemas.microsoft.com/office/drawing/2014/main" id="{9FA8C24E-CE9B-4872-9D15-D4B4A24D5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60726FA3-32BA-48EA-8DCB-23BBFC718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BEB3500D-7293-48F7-8F7E-D60FF252C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0" name="Freeform: Shape 26">
              <a:extLst>
                <a:ext uri="{FF2B5EF4-FFF2-40B4-BE49-F238E27FC236}">
                  <a16:creationId xmlns:a16="http://schemas.microsoft.com/office/drawing/2014/main" id="{C1D84803-4454-41CE-AFB6-447705465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1" name="Content Placeholder 2">
            <a:extLst>
              <a:ext uri="{FF2B5EF4-FFF2-40B4-BE49-F238E27FC236}">
                <a16:creationId xmlns:a16="http://schemas.microsoft.com/office/drawing/2014/main" id="{507292A2-19F0-DB73-DF45-28D718FBEFC8}"/>
              </a:ext>
            </a:extLst>
          </p:cNvPr>
          <p:cNvSpPr>
            <a:spLocks noGrp="1"/>
          </p:cNvSpPr>
          <p:nvPr>
            <p:ph idx="1"/>
          </p:nvPr>
        </p:nvSpPr>
        <p:spPr>
          <a:xfrm>
            <a:off x="5401248" y="2384474"/>
            <a:ext cx="5604997" cy="3728613"/>
          </a:xfrm>
        </p:spPr>
        <p:txBody>
          <a:bodyPr>
            <a:normAutofit/>
          </a:bodyPr>
          <a:lstStyle/>
          <a:p>
            <a:pPr>
              <a:lnSpc>
                <a:spcPct val="100000"/>
              </a:lnSpc>
            </a:pPr>
            <a:r>
              <a:rPr lang="en-US" sz="1500"/>
              <a:t>Transactions in the sharded network usually are of two types: Intra-shard, referring to the transactions between the nodes in that shard and cross-shard, referring to transactions between nodes located in different shards.</a:t>
            </a:r>
          </a:p>
          <a:p>
            <a:pPr>
              <a:lnSpc>
                <a:spcPct val="100000"/>
              </a:lnSpc>
            </a:pPr>
            <a:r>
              <a:rPr lang="en-US" sz="1500"/>
              <a:t>Based on this there were several techniques that addressed the communication.</a:t>
            </a:r>
          </a:p>
          <a:p>
            <a:pPr>
              <a:lnSpc>
                <a:spcPct val="100000"/>
              </a:lnSpc>
            </a:pPr>
            <a:r>
              <a:rPr lang="en-US" sz="1500"/>
              <a:t>One of those techniques is Pyramid sharding technique.</a:t>
            </a:r>
          </a:p>
          <a:p>
            <a:pPr lvl="1">
              <a:lnSpc>
                <a:spcPct val="100000"/>
              </a:lnSpc>
            </a:pPr>
            <a:r>
              <a:rPr lang="en-US" sz="1500"/>
              <a:t>Here there are two types of shards, one is called i-shard and one is called b-shard.</a:t>
            </a:r>
          </a:p>
          <a:p>
            <a:pPr lvl="1">
              <a:lnSpc>
                <a:spcPct val="100000"/>
              </a:lnSpc>
            </a:pPr>
            <a:r>
              <a:rPr lang="en-US" sz="1500"/>
              <a:t>i-shards are the ones that are responsible for only the internal transactions and b-shards are the ones that bridges multiple i-shards by dealing with cross-shard transaction related to the i-shard.</a:t>
            </a:r>
          </a:p>
          <a:p>
            <a:pPr>
              <a:lnSpc>
                <a:spcPct val="100000"/>
              </a:lnSpc>
            </a:pPr>
            <a:endParaRPr lang="en-US" sz="1500"/>
          </a:p>
          <a:p>
            <a:pPr>
              <a:lnSpc>
                <a:spcPct val="100000"/>
              </a:lnSpc>
            </a:pPr>
            <a:endParaRPr lang="en-US" sz="1500"/>
          </a:p>
        </p:txBody>
      </p:sp>
    </p:spTree>
    <p:extLst>
      <p:ext uri="{BB962C8B-B14F-4D97-AF65-F5344CB8AC3E}">
        <p14:creationId xmlns:p14="http://schemas.microsoft.com/office/powerpoint/2010/main" val="3761971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2" name="Top Left">
            <a:extLst>
              <a:ext uri="{FF2B5EF4-FFF2-40B4-BE49-F238E27FC236}">
                <a16:creationId xmlns:a16="http://schemas.microsoft.com/office/drawing/2014/main" id="{7A38728C-77BC-4E70-B960-689E1056EA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3" name="Freeform: Shape 12">
              <a:extLst>
                <a:ext uri="{FF2B5EF4-FFF2-40B4-BE49-F238E27FC236}">
                  <a16:creationId xmlns:a16="http://schemas.microsoft.com/office/drawing/2014/main" id="{E77F1990-5FF8-435F-AEA0-EEADAC8AE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14" name="Freeform: Shape 13">
              <a:extLst>
                <a:ext uri="{FF2B5EF4-FFF2-40B4-BE49-F238E27FC236}">
                  <a16:creationId xmlns:a16="http://schemas.microsoft.com/office/drawing/2014/main" id="{464785CE-2256-40E9-994A-5009BA339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2ADB3A37-A8CF-4A83-9557-BCF0AE459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C000F1EE-A903-4DF1-B7F4-7839D1C43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643B1BFC-D490-4EED-BCBD-CACB6CE5D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BA0E29B4-595E-470E-B39E-AC8160BB4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F7EDEB06-3957-4677-9B94-A5AA52A932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F04747DD-3DAB-443F-B3DD-D573484D9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243637A1-0851-30A0-44AD-E2E4A3E84B09}"/>
              </a:ext>
            </a:extLst>
          </p:cNvPr>
          <p:cNvSpPr>
            <a:spLocks noGrp="1"/>
          </p:cNvSpPr>
          <p:nvPr>
            <p:ph type="title"/>
          </p:nvPr>
        </p:nvSpPr>
        <p:spPr>
          <a:xfrm>
            <a:off x="1198181" y="559813"/>
            <a:ext cx="4811517" cy="5577934"/>
          </a:xfrm>
        </p:spPr>
        <p:txBody>
          <a:bodyPr>
            <a:normAutofit/>
          </a:bodyPr>
          <a:lstStyle/>
          <a:p>
            <a:r>
              <a:rPr lang="en-US" dirty="0"/>
              <a:t>Different Sharding Techniques (Previous Work)</a:t>
            </a:r>
          </a:p>
        </p:txBody>
      </p:sp>
      <p:grpSp>
        <p:nvGrpSpPr>
          <p:cNvPr id="22" name="Bottom Right">
            <a:extLst>
              <a:ext uri="{FF2B5EF4-FFF2-40B4-BE49-F238E27FC236}">
                <a16:creationId xmlns:a16="http://schemas.microsoft.com/office/drawing/2014/main" id="{79F18033-1460-4018-A612-7791A59443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3" name="Freeform: Shape 22">
              <a:extLst>
                <a:ext uri="{FF2B5EF4-FFF2-40B4-BE49-F238E27FC236}">
                  <a16:creationId xmlns:a16="http://schemas.microsoft.com/office/drawing/2014/main" id="{0DA575E3-8440-4D3D-ADE6-306C68A40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4" name="Graphic 157">
              <a:extLst>
                <a:ext uri="{FF2B5EF4-FFF2-40B4-BE49-F238E27FC236}">
                  <a16:creationId xmlns:a16="http://schemas.microsoft.com/office/drawing/2014/main" id="{97C091F6-0ACA-47D7-AD10-B0A6434C8FE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6" name="Freeform: Shape 25">
                <a:extLst>
                  <a:ext uri="{FF2B5EF4-FFF2-40B4-BE49-F238E27FC236}">
                    <a16:creationId xmlns:a16="http://schemas.microsoft.com/office/drawing/2014/main" id="{C22CAA67-B5DC-4FC5-8F63-07975585B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1F0D0EED-0A88-4489-92EA-6BDE581E1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D1FA96F0-4E1A-4485-8096-5825381C0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A36D099C-F03A-4E04-90B8-1113710FC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6BDC2E18-6FEE-460E-B3F5-AE9699B67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31BC359D-4AD5-412F-BFD8-9BC2FDFA7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7352F9A6-591C-49FF-BA68-8BCA6FC49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5" name="Freeform: Shape 24">
              <a:extLst>
                <a:ext uri="{FF2B5EF4-FFF2-40B4-BE49-F238E27FC236}">
                  <a16:creationId xmlns:a16="http://schemas.microsoft.com/office/drawing/2014/main" id="{12FD30F0-A1E2-4FFC-BF98-2BF2C14B9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6B013A7A-6ED8-AB81-D0C5-B18E8B303E5B}"/>
              </a:ext>
            </a:extLst>
          </p:cNvPr>
          <p:cNvSpPr>
            <a:spLocks noGrp="1"/>
          </p:cNvSpPr>
          <p:nvPr>
            <p:ph idx="1"/>
          </p:nvPr>
        </p:nvSpPr>
        <p:spPr>
          <a:xfrm>
            <a:off x="6189134" y="716366"/>
            <a:ext cx="4984143" cy="5396722"/>
          </a:xfrm>
        </p:spPr>
        <p:txBody>
          <a:bodyPr>
            <a:normAutofit/>
          </a:bodyPr>
          <a:lstStyle/>
          <a:p>
            <a:pPr>
              <a:lnSpc>
                <a:spcPct val="100000"/>
              </a:lnSpc>
            </a:pPr>
            <a:r>
              <a:rPr lang="en-US" sz="1500" dirty="0"/>
              <a:t>One of the other techniques is called monoxide:</a:t>
            </a:r>
          </a:p>
          <a:p>
            <a:pPr lvl="1">
              <a:lnSpc>
                <a:spcPct val="100000"/>
              </a:lnSpc>
            </a:pPr>
            <a:r>
              <a:rPr lang="en-US" sz="1500" dirty="0"/>
              <a:t>Each zone runs its own simple blockchain in parallel.</a:t>
            </a:r>
          </a:p>
          <a:p>
            <a:pPr lvl="1">
              <a:lnSpc>
                <a:spcPct val="100000"/>
              </a:lnSpc>
            </a:pPr>
            <a:r>
              <a:rPr lang="en-US" sz="1500" dirty="0"/>
              <a:t>They normally do not wait for each other, so a lot of work is done all at once.</a:t>
            </a:r>
          </a:p>
          <a:p>
            <a:pPr lvl="1">
              <a:lnSpc>
                <a:spcPct val="100000"/>
              </a:lnSpc>
            </a:pPr>
            <a:r>
              <a:rPr lang="en-US" sz="1500" dirty="0"/>
              <a:t>Their mining scheme called as “Chu-ko-nu mining” scheme spreads mining effort and hence attacking one zone is as hard as attacking the entire system.</a:t>
            </a:r>
          </a:p>
          <a:p>
            <a:pPr lvl="1">
              <a:lnSpc>
                <a:spcPct val="100000"/>
              </a:lnSpc>
            </a:pPr>
            <a:r>
              <a:rPr lang="en-US" sz="1500" dirty="0"/>
              <a:t>If A (in Zone X) pays B (in Zone Y), Zone X records the withdraw, then a relay is forwarded to Zone Y to finish the deposit. This is called eventual atomicity: once the withdraw is confirmed, the deposit will eventually be confirmed—without heavy 2-phase commit.</a:t>
            </a:r>
          </a:p>
          <a:p>
            <a:pPr lvl="1">
              <a:lnSpc>
                <a:spcPct val="100000"/>
              </a:lnSpc>
            </a:pPr>
            <a:r>
              <a:rPr lang="en-US" sz="1500" dirty="0"/>
              <a:t>Because zones make progress independently, overall throughput rises roughly with the number of zones (minus the cost of coordinating cross-zone transfers). The paper’s testbed reported large throughput gains versus Bitcoin/Ethereum</a:t>
            </a:r>
          </a:p>
        </p:txBody>
      </p:sp>
    </p:spTree>
    <p:extLst>
      <p:ext uri="{BB962C8B-B14F-4D97-AF65-F5344CB8AC3E}">
        <p14:creationId xmlns:p14="http://schemas.microsoft.com/office/powerpoint/2010/main" val="2386543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76F6F-3B87-2664-DBBC-01601E262232}"/>
              </a:ext>
            </a:extLst>
          </p:cNvPr>
          <p:cNvSpPr>
            <a:spLocks noGrp="1"/>
          </p:cNvSpPr>
          <p:nvPr>
            <p:ph type="title"/>
          </p:nvPr>
        </p:nvSpPr>
        <p:spPr/>
        <p:txBody>
          <a:bodyPr>
            <a:normAutofit fontScale="90000"/>
          </a:bodyPr>
          <a:lstStyle/>
          <a:p>
            <a:r>
              <a:rPr lang="en-US" dirty="0"/>
              <a:t>Different Sharding Techniques (Previous Work)</a:t>
            </a:r>
          </a:p>
        </p:txBody>
      </p:sp>
      <p:sp>
        <p:nvSpPr>
          <p:cNvPr id="3" name="Content Placeholder 2">
            <a:extLst>
              <a:ext uri="{FF2B5EF4-FFF2-40B4-BE49-F238E27FC236}">
                <a16:creationId xmlns:a16="http://schemas.microsoft.com/office/drawing/2014/main" id="{71373F7E-91C0-AF7C-6D2C-90A9FC5DE1FE}"/>
              </a:ext>
            </a:extLst>
          </p:cNvPr>
          <p:cNvSpPr>
            <a:spLocks noGrp="1"/>
          </p:cNvSpPr>
          <p:nvPr>
            <p:ph idx="1"/>
          </p:nvPr>
        </p:nvSpPr>
        <p:spPr>
          <a:xfrm>
            <a:off x="838200" y="1825625"/>
            <a:ext cx="3403600" cy="511175"/>
          </a:xfrm>
        </p:spPr>
        <p:txBody>
          <a:bodyPr>
            <a:normAutofit fontScale="92500"/>
          </a:bodyPr>
          <a:lstStyle/>
          <a:p>
            <a:r>
              <a:rPr lang="en-US" dirty="0"/>
              <a:t>Pyramid Sharding</a:t>
            </a:r>
          </a:p>
        </p:txBody>
      </p:sp>
      <p:sp>
        <p:nvSpPr>
          <p:cNvPr id="4" name="Content Placeholder 2">
            <a:extLst>
              <a:ext uri="{FF2B5EF4-FFF2-40B4-BE49-F238E27FC236}">
                <a16:creationId xmlns:a16="http://schemas.microsoft.com/office/drawing/2014/main" id="{0F73C583-5B8F-A439-F71B-6CCA4C6F8345}"/>
              </a:ext>
            </a:extLst>
          </p:cNvPr>
          <p:cNvSpPr txBox="1">
            <a:spLocks/>
          </p:cNvSpPr>
          <p:nvPr/>
        </p:nvSpPr>
        <p:spPr>
          <a:xfrm>
            <a:off x="7128933" y="1825624"/>
            <a:ext cx="3403600" cy="5111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Monoxide </a:t>
            </a:r>
            <a:r>
              <a:rPr lang="en-US" dirty="0"/>
              <a:t>Sharding</a:t>
            </a:r>
          </a:p>
        </p:txBody>
      </p:sp>
      <p:pic>
        <p:nvPicPr>
          <p:cNvPr id="12" name="Picture 11">
            <a:extLst>
              <a:ext uri="{FF2B5EF4-FFF2-40B4-BE49-F238E27FC236}">
                <a16:creationId xmlns:a16="http://schemas.microsoft.com/office/drawing/2014/main" id="{7173E656-2BB8-DE43-0662-F86FECBDB309}"/>
              </a:ext>
            </a:extLst>
          </p:cNvPr>
          <p:cNvPicPr>
            <a:picLocks noChangeAspect="1"/>
          </p:cNvPicPr>
          <p:nvPr/>
        </p:nvPicPr>
        <p:blipFill>
          <a:blip r:embed="rId3"/>
          <a:stretch>
            <a:fillRect/>
          </a:stretch>
        </p:blipFill>
        <p:spPr>
          <a:xfrm>
            <a:off x="259064" y="2336799"/>
            <a:ext cx="5981700" cy="2489200"/>
          </a:xfrm>
          <a:prstGeom prst="rect">
            <a:avLst/>
          </a:prstGeom>
        </p:spPr>
      </p:pic>
      <p:pic>
        <p:nvPicPr>
          <p:cNvPr id="14" name="Picture 13">
            <a:extLst>
              <a:ext uri="{FF2B5EF4-FFF2-40B4-BE49-F238E27FC236}">
                <a16:creationId xmlns:a16="http://schemas.microsoft.com/office/drawing/2014/main" id="{EFD06658-2AAB-EB5B-8E1E-54C76EB9CC32}"/>
              </a:ext>
            </a:extLst>
          </p:cNvPr>
          <p:cNvPicPr>
            <a:picLocks noChangeAspect="1"/>
          </p:cNvPicPr>
          <p:nvPr/>
        </p:nvPicPr>
        <p:blipFill>
          <a:blip r:embed="rId4"/>
          <a:stretch>
            <a:fillRect/>
          </a:stretch>
        </p:blipFill>
        <p:spPr>
          <a:xfrm>
            <a:off x="1599851" y="4960937"/>
            <a:ext cx="2641949" cy="1775880"/>
          </a:xfrm>
          <a:prstGeom prst="rect">
            <a:avLst/>
          </a:prstGeom>
        </p:spPr>
      </p:pic>
      <p:pic>
        <p:nvPicPr>
          <p:cNvPr id="16" name="Picture 15">
            <a:extLst>
              <a:ext uri="{FF2B5EF4-FFF2-40B4-BE49-F238E27FC236}">
                <a16:creationId xmlns:a16="http://schemas.microsoft.com/office/drawing/2014/main" id="{0DB1BA70-F3DD-5AD2-5CEE-3F032C1C29AC}"/>
              </a:ext>
            </a:extLst>
          </p:cNvPr>
          <p:cNvPicPr>
            <a:picLocks noChangeAspect="1"/>
          </p:cNvPicPr>
          <p:nvPr/>
        </p:nvPicPr>
        <p:blipFill>
          <a:blip r:embed="rId5"/>
          <a:stretch>
            <a:fillRect/>
          </a:stretch>
        </p:blipFill>
        <p:spPr>
          <a:xfrm>
            <a:off x="6382566" y="2336799"/>
            <a:ext cx="5651500" cy="1765300"/>
          </a:xfrm>
          <a:prstGeom prst="rect">
            <a:avLst/>
          </a:prstGeom>
        </p:spPr>
      </p:pic>
    </p:spTree>
    <p:extLst>
      <p:ext uri="{BB962C8B-B14F-4D97-AF65-F5344CB8AC3E}">
        <p14:creationId xmlns:p14="http://schemas.microsoft.com/office/powerpoint/2010/main" val="2135763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534F2-4807-75DD-1637-123AA9EA878A}"/>
              </a:ext>
            </a:extLst>
          </p:cNvPr>
          <p:cNvSpPr>
            <a:spLocks noGrp="1"/>
          </p:cNvSpPr>
          <p:nvPr>
            <p:ph type="title"/>
          </p:nvPr>
        </p:nvSpPr>
        <p:spPr/>
        <p:txBody>
          <a:bodyPr/>
          <a:lstStyle/>
          <a:p>
            <a:r>
              <a:rPr lang="en-US" dirty="0"/>
              <a:t>Our Approach - Introduction</a:t>
            </a:r>
          </a:p>
        </p:txBody>
      </p:sp>
      <p:graphicFrame>
        <p:nvGraphicFramePr>
          <p:cNvPr id="5" name="Content Placeholder 2">
            <a:extLst>
              <a:ext uri="{FF2B5EF4-FFF2-40B4-BE49-F238E27FC236}">
                <a16:creationId xmlns:a16="http://schemas.microsoft.com/office/drawing/2014/main" id="{25230DC6-FAEC-1F63-0F76-0D1DA6ABA15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9494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 name="Rectangle 531">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34" name="Freeform: Shape 533">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536" name="Freeform: Shape 535">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538" name="Freeform: Shape 537">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40"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541" name="Freeform: Shape 540">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542" name="Freeform: Shape 541">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543" name="Freeform: Shape 542">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544" name="Freeform: Shape 543">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545" name="Freeform: Shape 544">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546" name="Freeform: Shape 545">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547" name="Freeform: Shape 546">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549"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550" name="Freeform: Shape 549">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551" name="Freeform: Shape 550">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552" name="Freeform: Shape 551">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553" name="Freeform: Shape 552">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554" name="Freeform: Shape 553">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555" name="Freeform: Shape 554">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556" name="Freeform: Shape 555">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558" name="Rectangle 557">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0" name="Rectangle 559">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62" name="Top left">
            <a:extLst>
              <a:ext uri="{FF2B5EF4-FFF2-40B4-BE49-F238E27FC236}">
                <a16:creationId xmlns:a16="http://schemas.microsoft.com/office/drawing/2014/main" id="{E4A71F22-0E43-4930-8185-0D8C173634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63" name="Freeform: Shape 562">
              <a:extLst>
                <a:ext uri="{FF2B5EF4-FFF2-40B4-BE49-F238E27FC236}">
                  <a16:creationId xmlns:a16="http://schemas.microsoft.com/office/drawing/2014/main" id="{E337B2BE-9368-41E7-B9D3-4F1F971F9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64" name="Freeform: Shape 563">
              <a:extLst>
                <a:ext uri="{FF2B5EF4-FFF2-40B4-BE49-F238E27FC236}">
                  <a16:creationId xmlns:a16="http://schemas.microsoft.com/office/drawing/2014/main" id="{C7EDF3EA-3138-4266-8511-D57CECF0A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65" name="Freeform: Shape 564">
              <a:extLst>
                <a:ext uri="{FF2B5EF4-FFF2-40B4-BE49-F238E27FC236}">
                  <a16:creationId xmlns:a16="http://schemas.microsoft.com/office/drawing/2014/main" id="{EA12DCF8-5403-4AA2-818F-2DF853DC1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566" name="Freeform: Shape 565">
              <a:extLst>
                <a:ext uri="{FF2B5EF4-FFF2-40B4-BE49-F238E27FC236}">
                  <a16:creationId xmlns:a16="http://schemas.microsoft.com/office/drawing/2014/main" id="{AD89B414-72F6-4409-A12B-4F23F1CE0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567" name="Freeform: Shape 566">
              <a:extLst>
                <a:ext uri="{FF2B5EF4-FFF2-40B4-BE49-F238E27FC236}">
                  <a16:creationId xmlns:a16="http://schemas.microsoft.com/office/drawing/2014/main" id="{214BA161-43C1-4B9D-A341-694B88127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568" name="Freeform: Shape 567">
              <a:extLst>
                <a:ext uri="{FF2B5EF4-FFF2-40B4-BE49-F238E27FC236}">
                  <a16:creationId xmlns:a16="http://schemas.microsoft.com/office/drawing/2014/main" id="{B211E8CC-9B3E-4E58-821A-069B7C109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69" name="Freeform: Shape 568">
              <a:extLst>
                <a:ext uri="{FF2B5EF4-FFF2-40B4-BE49-F238E27FC236}">
                  <a16:creationId xmlns:a16="http://schemas.microsoft.com/office/drawing/2014/main" id="{B29FA542-0294-4239-B976-E5D20656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70" name="Freeform: Shape 569">
              <a:extLst>
                <a:ext uri="{FF2B5EF4-FFF2-40B4-BE49-F238E27FC236}">
                  <a16:creationId xmlns:a16="http://schemas.microsoft.com/office/drawing/2014/main" id="{EA9045A3-208C-4023-9F44-D62234135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5E493DC4-5937-7F43-28A8-970E6AE9B2D5}"/>
              </a:ext>
            </a:extLst>
          </p:cNvPr>
          <p:cNvSpPr>
            <a:spLocks noGrp="1"/>
          </p:cNvSpPr>
          <p:nvPr>
            <p:ph type="title"/>
          </p:nvPr>
        </p:nvSpPr>
        <p:spPr>
          <a:xfrm>
            <a:off x="187299" y="163350"/>
            <a:ext cx="11697821" cy="2065889"/>
          </a:xfrm>
        </p:spPr>
        <p:txBody>
          <a:bodyPr vert="horz" lIns="91440" tIns="45720" rIns="91440" bIns="45720" rtlCol="0" anchor="ctr">
            <a:normAutofit/>
          </a:bodyPr>
          <a:lstStyle/>
          <a:p>
            <a:r>
              <a:rPr lang="en-US" sz="5400" kern="1200" dirty="0">
                <a:solidFill>
                  <a:schemeClr val="tx2"/>
                </a:solidFill>
                <a:latin typeface="+mj-lt"/>
                <a:ea typeface="+mj-ea"/>
                <a:cs typeface="+mj-cs"/>
              </a:rPr>
              <a:t>Our Approach – MEMO Architecture</a:t>
            </a:r>
          </a:p>
        </p:txBody>
      </p:sp>
      <p:grpSp>
        <p:nvGrpSpPr>
          <p:cNvPr id="572" name="Cross">
            <a:extLst>
              <a:ext uri="{FF2B5EF4-FFF2-40B4-BE49-F238E27FC236}">
                <a16:creationId xmlns:a16="http://schemas.microsoft.com/office/drawing/2014/main" id="{1EDF0462-C0C2-4E84-A7EA-8EE60CEFF6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573" name="Straight Connector 572">
              <a:extLst>
                <a:ext uri="{FF2B5EF4-FFF2-40B4-BE49-F238E27FC236}">
                  <a16:creationId xmlns:a16="http://schemas.microsoft.com/office/drawing/2014/main" id="{DD5894EA-1641-49CE-AE6E-B9522736A0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74" name="Straight Connector 573">
              <a:extLst>
                <a:ext uri="{FF2B5EF4-FFF2-40B4-BE49-F238E27FC236}">
                  <a16:creationId xmlns:a16="http://schemas.microsoft.com/office/drawing/2014/main" id="{8C6415EB-8C9A-4F1B-A459-64B94A8651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5" name="Picture 4" descr="A diagram of a blockchain&#10;&#10;AI-generated content may be incorrect.">
            <a:extLst>
              <a:ext uri="{FF2B5EF4-FFF2-40B4-BE49-F238E27FC236}">
                <a16:creationId xmlns:a16="http://schemas.microsoft.com/office/drawing/2014/main" id="{5B16B48E-21C1-468A-8B1F-B6633A35F246}"/>
              </a:ext>
            </a:extLst>
          </p:cNvPr>
          <p:cNvPicPr>
            <a:picLocks noChangeAspect="1"/>
          </p:cNvPicPr>
          <p:nvPr/>
        </p:nvPicPr>
        <p:blipFill>
          <a:blip r:embed="rId2"/>
          <a:stretch>
            <a:fillRect/>
          </a:stretch>
        </p:blipFill>
        <p:spPr>
          <a:xfrm>
            <a:off x="2535080" y="1874303"/>
            <a:ext cx="6939228" cy="4770720"/>
          </a:xfrm>
          <a:prstGeom prst="rect">
            <a:avLst/>
          </a:prstGeom>
        </p:spPr>
      </p:pic>
      <p:grpSp>
        <p:nvGrpSpPr>
          <p:cNvPr id="388" name="Bottom Right">
            <a:extLst>
              <a:ext uri="{FF2B5EF4-FFF2-40B4-BE49-F238E27FC236}">
                <a16:creationId xmlns:a16="http://schemas.microsoft.com/office/drawing/2014/main" id="{B798A610-8506-4BC1-8108-8E1A31CAB8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389" name="Freeform: Shape 388">
              <a:extLst>
                <a:ext uri="{FF2B5EF4-FFF2-40B4-BE49-F238E27FC236}">
                  <a16:creationId xmlns:a16="http://schemas.microsoft.com/office/drawing/2014/main" id="{5C72D714-A610-482A-B26E-C679E9535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390" name="Graphic 157">
              <a:extLst>
                <a:ext uri="{FF2B5EF4-FFF2-40B4-BE49-F238E27FC236}">
                  <a16:creationId xmlns:a16="http://schemas.microsoft.com/office/drawing/2014/main" id="{D7EF30A6-8E6C-417A-B645-4EC7F0B3824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392" name="Freeform: Shape 391">
                <a:extLst>
                  <a:ext uri="{FF2B5EF4-FFF2-40B4-BE49-F238E27FC236}">
                    <a16:creationId xmlns:a16="http://schemas.microsoft.com/office/drawing/2014/main" id="{17D377E0-C3CC-48DC-B73B-09CEEDE39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3" name="Freeform: Shape 392">
                <a:extLst>
                  <a:ext uri="{FF2B5EF4-FFF2-40B4-BE49-F238E27FC236}">
                    <a16:creationId xmlns:a16="http://schemas.microsoft.com/office/drawing/2014/main" id="{80E2DF20-A9FD-4B82-8673-1091B4C00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4" name="Freeform: Shape 393">
                <a:extLst>
                  <a:ext uri="{FF2B5EF4-FFF2-40B4-BE49-F238E27FC236}">
                    <a16:creationId xmlns:a16="http://schemas.microsoft.com/office/drawing/2014/main" id="{2425BAEB-7B00-4394-8302-CF2DEA744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5" name="Freeform: Shape 394">
                <a:extLst>
                  <a:ext uri="{FF2B5EF4-FFF2-40B4-BE49-F238E27FC236}">
                    <a16:creationId xmlns:a16="http://schemas.microsoft.com/office/drawing/2014/main" id="{4917EE8E-E8BC-42F3-BEE3-2F84E8F64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6" name="Freeform: Shape 395">
                <a:extLst>
                  <a:ext uri="{FF2B5EF4-FFF2-40B4-BE49-F238E27FC236}">
                    <a16:creationId xmlns:a16="http://schemas.microsoft.com/office/drawing/2014/main" id="{B8647303-59FF-4A2B-8D6D-FB229E659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7" name="Freeform: Shape 396">
                <a:extLst>
                  <a:ext uri="{FF2B5EF4-FFF2-40B4-BE49-F238E27FC236}">
                    <a16:creationId xmlns:a16="http://schemas.microsoft.com/office/drawing/2014/main" id="{7BD597AB-C6D9-437D-BBFE-8007D4ED0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8" name="Freeform: Shape 397">
                <a:extLst>
                  <a:ext uri="{FF2B5EF4-FFF2-40B4-BE49-F238E27FC236}">
                    <a16:creationId xmlns:a16="http://schemas.microsoft.com/office/drawing/2014/main" id="{4FA09AC9-DA2A-4216-BBFD-96E701FB8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391" name="Freeform: Shape 390">
              <a:extLst>
                <a:ext uri="{FF2B5EF4-FFF2-40B4-BE49-F238E27FC236}">
                  <a16:creationId xmlns:a16="http://schemas.microsoft.com/office/drawing/2014/main" id="{A8AD4A98-C6D7-49C8-A31E-29C6DB7C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437892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4" name="Top left">
            <a:extLst>
              <a:ext uri="{FF2B5EF4-FFF2-40B4-BE49-F238E27FC236}">
                <a16:creationId xmlns:a16="http://schemas.microsoft.com/office/drawing/2014/main" id="{32D15CB3-AC64-41F7-86F8-22A111F3D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5" name="Freeform: Shape 44">
              <a:extLst>
                <a:ext uri="{FF2B5EF4-FFF2-40B4-BE49-F238E27FC236}">
                  <a16:creationId xmlns:a16="http://schemas.microsoft.com/office/drawing/2014/main" id="{9B8FAC53-55F6-4B51-8FAD-977E5E7D7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6" name="Freeform: Shape 45">
              <a:extLst>
                <a:ext uri="{FF2B5EF4-FFF2-40B4-BE49-F238E27FC236}">
                  <a16:creationId xmlns:a16="http://schemas.microsoft.com/office/drawing/2014/main" id="{BC29D267-CD4D-4FD7-8F45-1C8FB4235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0EFC9A2B-D1CA-4247-836D-EAB80EB5E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F4F9AB28-B3F0-425B-8E51-E16DDB853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891B00CE-2CF5-4DF1-A345-4516E2E83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8B332657-F1E9-428F-BA70-8DD848E55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 name="Freeform: Shape 50">
              <a:extLst>
                <a:ext uri="{FF2B5EF4-FFF2-40B4-BE49-F238E27FC236}">
                  <a16:creationId xmlns:a16="http://schemas.microsoft.com/office/drawing/2014/main" id="{766A6EF8-94C7-4127-9EF9-584AD6885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Freeform: Shape 51">
              <a:extLst>
                <a:ext uri="{FF2B5EF4-FFF2-40B4-BE49-F238E27FC236}">
                  <a16:creationId xmlns:a16="http://schemas.microsoft.com/office/drawing/2014/main" id="{3B1C2001-8549-4C7B-86AB-049B0C99E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 name="Title 1">
            <a:extLst>
              <a:ext uri="{FF2B5EF4-FFF2-40B4-BE49-F238E27FC236}">
                <a16:creationId xmlns:a16="http://schemas.microsoft.com/office/drawing/2014/main" id="{D9ED8D38-4C2B-B4EB-4B60-99152E505628}"/>
              </a:ext>
            </a:extLst>
          </p:cNvPr>
          <p:cNvSpPr>
            <a:spLocks noGrp="1"/>
          </p:cNvSpPr>
          <p:nvPr>
            <p:ph type="title"/>
          </p:nvPr>
        </p:nvSpPr>
        <p:spPr>
          <a:xfrm>
            <a:off x="1198181" y="168425"/>
            <a:ext cx="9988166" cy="1499401"/>
          </a:xfrm>
        </p:spPr>
        <p:txBody>
          <a:bodyPr>
            <a:normAutofit/>
          </a:bodyPr>
          <a:lstStyle/>
          <a:p>
            <a:pPr algn="ctr"/>
            <a:r>
              <a:rPr lang="en-US" dirty="0"/>
              <a:t>Our Approach - Design</a:t>
            </a:r>
            <a:endParaRPr lang="en-US"/>
          </a:p>
        </p:txBody>
      </p:sp>
      <p:grpSp>
        <p:nvGrpSpPr>
          <p:cNvPr id="54" name="Bottom Right">
            <a:extLst>
              <a:ext uri="{FF2B5EF4-FFF2-40B4-BE49-F238E27FC236}">
                <a16:creationId xmlns:a16="http://schemas.microsoft.com/office/drawing/2014/main" id="{921D9B61-CDA2-49D1-82AA-534691496F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55" name="Graphic 157">
              <a:extLst>
                <a:ext uri="{FF2B5EF4-FFF2-40B4-BE49-F238E27FC236}">
                  <a16:creationId xmlns:a16="http://schemas.microsoft.com/office/drawing/2014/main" id="{A202591B-301C-460E-801A-4C116AC08C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57" name="Freeform: Shape 56">
                <a:extLst>
                  <a:ext uri="{FF2B5EF4-FFF2-40B4-BE49-F238E27FC236}">
                    <a16:creationId xmlns:a16="http://schemas.microsoft.com/office/drawing/2014/main" id="{257EC7EC-4934-4A65-B3AA-6AE3BD073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201FEC27-F3E2-41E5-8C3B-FF66A13D8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CBFE67A7-A995-43D6-8414-EBB2A758A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6DB28E40-FF5E-459D-B516-A16554BBB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1" name="Freeform: Shape 60">
                <a:extLst>
                  <a:ext uri="{FF2B5EF4-FFF2-40B4-BE49-F238E27FC236}">
                    <a16:creationId xmlns:a16="http://schemas.microsoft.com/office/drawing/2014/main" id="{9724247A-6615-4D27-80F0-339276282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Freeform: Shape 61">
                <a:extLst>
                  <a:ext uri="{FF2B5EF4-FFF2-40B4-BE49-F238E27FC236}">
                    <a16:creationId xmlns:a16="http://schemas.microsoft.com/office/drawing/2014/main" id="{495168B2-CEF6-486B-AD0C-D063CDD98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Freeform: Shape 62">
                <a:extLst>
                  <a:ext uri="{FF2B5EF4-FFF2-40B4-BE49-F238E27FC236}">
                    <a16:creationId xmlns:a16="http://schemas.microsoft.com/office/drawing/2014/main" id="{E27C133D-9749-4B34-9018-29F3FF86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6" name="Freeform: Shape 55">
              <a:extLst>
                <a:ext uri="{FF2B5EF4-FFF2-40B4-BE49-F238E27FC236}">
                  <a16:creationId xmlns:a16="http://schemas.microsoft.com/office/drawing/2014/main" id="{10388060-18B7-4BD6-A3C5-F6B8E1467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36" name="Content Placeholder 2">
            <a:extLst>
              <a:ext uri="{FF2B5EF4-FFF2-40B4-BE49-F238E27FC236}">
                <a16:creationId xmlns:a16="http://schemas.microsoft.com/office/drawing/2014/main" id="{08097239-A53F-29F6-5452-3001F73BACCB}"/>
              </a:ext>
            </a:extLst>
          </p:cNvPr>
          <p:cNvGraphicFramePr>
            <a:graphicFrameLocks noGrp="1"/>
          </p:cNvGraphicFramePr>
          <p:nvPr>
            <p:ph idx="1"/>
            <p:extLst>
              <p:ext uri="{D42A27DB-BD31-4B8C-83A1-F6EECF244321}">
                <p14:modId xmlns:p14="http://schemas.microsoft.com/office/powerpoint/2010/main" val="4020685599"/>
              </p:ext>
            </p:extLst>
          </p:nvPr>
        </p:nvGraphicFramePr>
        <p:xfrm>
          <a:off x="600306" y="1847031"/>
          <a:ext cx="10982090" cy="4276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3945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ED404B-7AF8-F429-8A37-B3D4F53D03C4}"/>
            </a:ext>
          </a:extLst>
        </p:cNvPr>
        <p:cNvGrpSpPr/>
        <p:nvPr/>
      </p:nvGrpSpPr>
      <p:grpSpPr>
        <a:xfrm>
          <a:off x="0" y="0"/>
          <a:ext cx="0" cy="0"/>
          <a:chOff x="0" y="0"/>
          <a:chExt cx="0" cy="0"/>
        </a:xfrm>
      </p:grpSpPr>
      <p:sp>
        <p:nvSpPr>
          <p:cNvPr id="579" name="Rectangle 578">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81" name="Freeform: Shape 580">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583" name="Freeform: Shape 582">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585" name="Freeform: Shape 584">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587"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588" name="Freeform: Shape 587">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589" name="Freeform: Shape 588">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590" name="Freeform: Shape 589">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591" name="Freeform: Shape 590">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592" name="Freeform: Shape 591">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593" name="Freeform: Shape 592">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594" name="Freeform: Shape 593">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596"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597" name="Freeform: Shape 596">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598" name="Freeform: Shape 597">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599" name="Freeform: Shape 598">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600" name="Freeform: Shape 599">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601" name="Freeform: Shape 600">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602" name="Freeform: Shape 601">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603" name="Freeform: Shape 602">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605" name="Rectangle 604">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07" name="Rectangle 606">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09" name="Top left">
            <a:extLst>
              <a:ext uri="{FF2B5EF4-FFF2-40B4-BE49-F238E27FC236}">
                <a16:creationId xmlns:a16="http://schemas.microsoft.com/office/drawing/2014/main" id="{E4A71F22-0E43-4930-8185-0D8C173634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610" name="Freeform: Shape 609">
              <a:extLst>
                <a:ext uri="{FF2B5EF4-FFF2-40B4-BE49-F238E27FC236}">
                  <a16:creationId xmlns:a16="http://schemas.microsoft.com/office/drawing/2014/main" id="{E337B2BE-9368-41E7-B9D3-4F1F971F9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11" name="Freeform: Shape 610">
              <a:extLst>
                <a:ext uri="{FF2B5EF4-FFF2-40B4-BE49-F238E27FC236}">
                  <a16:creationId xmlns:a16="http://schemas.microsoft.com/office/drawing/2014/main" id="{C7EDF3EA-3138-4266-8511-D57CECF0A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612" name="Freeform: Shape 611">
              <a:extLst>
                <a:ext uri="{FF2B5EF4-FFF2-40B4-BE49-F238E27FC236}">
                  <a16:creationId xmlns:a16="http://schemas.microsoft.com/office/drawing/2014/main" id="{EA12DCF8-5403-4AA2-818F-2DF853DC1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613" name="Freeform: Shape 612">
              <a:extLst>
                <a:ext uri="{FF2B5EF4-FFF2-40B4-BE49-F238E27FC236}">
                  <a16:creationId xmlns:a16="http://schemas.microsoft.com/office/drawing/2014/main" id="{AD89B414-72F6-4409-A12B-4F23F1CE0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614" name="Freeform: Shape 613">
              <a:extLst>
                <a:ext uri="{FF2B5EF4-FFF2-40B4-BE49-F238E27FC236}">
                  <a16:creationId xmlns:a16="http://schemas.microsoft.com/office/drawing/2014/main" id="{214BA161-43C1-4B9D-A341-694B88127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615" name="Freeform: Shape 614">
              <a:extLst>
                <a:ext uri="{FF2B5EF4-FFF2-40B4-BE49-F238E27FC236}">
                  <a16:creationId xmlns:a16="http://schemas.microsoft.com/office/drawing/2014/main" id="{B211E8CC-9B3E-4E58-821A-069B7C109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616" name="Freeform: Shape 615">
              <a:extLst>
                <a:ext uri="{FF2B5EF4-FFF2-40B4-BE49-F238E27FC236}">
                  <a16:creationId xmlns:a16="http://schemas.microsoft.com/office/drawing/2014/main" id="{B29FA542-0294-4239-B976-E5D20656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617" name="Freeform: Shape 616">
              <a:extLst>
                <a:ext uri="{FF2B5EF4-FFF2-40B4-BE49-F238E27FC236}">
                  <a16:creationId xmlns:a16="http://schemas.microsoft.com/office/drawing/2014/main" id="{EA9045A3-208C-4023-9F44-D62234135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EDEC2B9A-DDD1-38C5-D2B5-A739AA434C5F}"/>
              </a:ext>
            </a:extLst>
          </p:cNvPr>
          <p:cNvSpPr>
            <a:spLocks noGrp="1"/>
          </p:cNvSpPr>
          <p:nvPr>
            <p:ph type="title"/>
          </p:nvPr>
        </p:nvSpPr>
        <p:spPr>
          <a:xfrm>
            <a:off x="996275" y="163350"/>
            <a:ext cx="5996619" cy="2065889"/>
          </a:xfrm>
        </p:spPr>
        <p:txBody>
          <a:bodyPr vert="horz" lIns="91440" tIns="45720" rIns="91440" bIns="45720" rtlCol="0" anchor="ctr">
            <a:normAutofit/>
          </a:bodyPr>
          <a:lstStyle/>
          <a:p>
            <a:r>
              <a:rPr lang="en-US" sz="5400" kern="1200" dirty="0">
                <a:solidFill>
                  <a:schemeClr val="tx2"/>
                </a:solidFill>
                <a:latin typeface="+mj-lt"/>
                <a:ea typeface="+mj-ea"/>
                <a:cs typeface="+mj-cs"/>
              </a:rPr>
              <a:t>Our Approach – Design</a:t>
            </a:r>
          </a:p>
        </p:txBody>
      </p:sp>
      <p:grpSp>
        <p:nvGrpSpPr>
          <p:cNvPr id="619" name="Cross">
            <a:extLst>
              <a:ext uri="{FF2B5EF4-FFF2-40B4-BE49-F238E27FC236}">
                <a16:creationId xmlns:a16="http://schemas.microsoft.com/office/drawing/2014/main" id="{1EDF0462-C0C2-4E84-A7EA-8EE60CEFF6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620" name="Straight Connector 619">
              <a:extLst>
                <a:ext uri="{FF2B5EF4-FFF2-40B4-BE49-F238E27FC236}">
                  <a16:creationId xmlns:a16="http://schemas.microsoft.com/office/drawing/2014/main" id="{DD5894EA-1641-49CE-AE6E-B9522736A0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621" name="Straight Connector 620">
              <a:extLst>
                <a:ext uri="{FF2B5EF4-FFF2-40B4-BE49-F238E27FC236}">
                  <a16:creationId xmlns:a16="http://schemas.microsoft.com/office/drawing/2014/main" id="{8C6415EB-8C9A-4F1B-A459-64B94A8651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4" name="Picture 3" descr="A diagram of blockchain processing&#10;&#10;AI-generated content may be incorrect.">
            <a:extLst>
              <a:ext uri="{FF2B5EF4-FFF2-40B4-BE49-F238E27FC236}">
                <a16:creationId xmlns:a16="http://schemas.microsoft.com/office/drawing/2014/main" id="{C35EE771-D3D8-ABF1-AA67-913EA4141EE1}"/>
              </a:ext>
            </a:extLst>
          </p:cNvPr>
          <p:cNvPicPr>
            <a:picLocks noChangeAspect="1"/>
          </p:cNvPicPr>
          <p:nvPr/>
        </p:nvPicPr>
        <p:blipFill>
          <a:blip r:embed="rId2"/>
          <a:stretch>
            <a:fillRect/>
          </a:stretch>
        </p:blipFill>
        <p:spPr>
          <a:xfrm>
            <a:off x="2075801" y="2385716"/>
            <a:ext cx="8040397" cy="3919694"/>
          </a:xfrm>
          <a:prstGeom prst="rect">
            <a:avLst/>
          </a:prstGeom>
        </p:spPr>
      </p:pic>
      <p:grpSp>
        <p:nvGrpSpPr>
          <p:cNvPr id="623" name="Bottom Right">
            <a:extLst>
              <a:ext uri="{FF2B5EF4-FFF2-40B4-BE49-F238E27FC236}">
                <a16:creationId xmlns:a16="http://schemas.microsoft.com/office/drawing/2014/main" id="{B798A610-8506-4BC1-8108-8E1A31CAB8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24" name="Freeform: Shape 623">
              <a:extLst>
                <a:ext uri="{FF2B5EF4-FFF2-40B4-BE49-F238E27FC236}">
                  <a16:creationId xmlns:a16="http://schemas.microsoft.com/office/drawing/2014/main" id="{5C72D714-A610-482A-B26E-C679E9535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25" name="Graphic 157">
              <a:extLst>
                <a:ext uri="{FF2B5EF4-FFF2-40B4-BE49-F238E27FC236}">
                  <a16:creationId xmlns:a16="http://schemas.microsoft.com/office/drawing/2014/main" id="{D7EF30A6-8E6C-417A-B645-4EC7F0B3824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27" name="Freeform: Shape 626">
                <a:extLst>
                  <a:ext uri="{FF2B5EF4-FFF2-40B4-BE49-F238E27FC236}">
                    <a16:creationId xmlns:a16="http://schemas.microsoft.com/office/drawing/2014/main" id="{17D377E0-C3CC-48DC-B73B-09CEEDE39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8" name="Freeform: Shape 627">
                <a:extLst>
                  <a:ext uri="{FF2B5EF4-FFF2-40B4-BE49-F238E27FC236}">
                    <a16:creationId xmlns:a16="http://schemas.microsoft.com/office/drawing/2014/main" id="{80E2DF20-A9FD-4B82-8673-1091B4C00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9" name="Freeform: Shape 628">
                <a:extLst>
                  <a:ext uri="{FF2B5EF4-FFF2-40B4-BE49-F238E27FC236}">
                    <a16:creationId xmlns:a16="http://schemas.microsoft.com/office/drawing/2014/main" id="{2425BAEB-7B00-4394-8302-CF2DEA744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0" name="Freeform: Shape 629">
                <a:extLst>
                  <a:ext uri="{FF2B5EF4-FFF2-40B4-BE49-F238E27FC236}">
                    <a16:creationId xmlns:a16="http://schemas.microsoft.com/office/drawing/2014/main" id="{4917EE8E-E8BC-42F3-BEE3-2F84E8F64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1" name="Freeform: Shape 630">
                <a:extLst>
                  <a:ext uri="{FF2B5EF4-FFF2-40B4-BE49-F238E27FC236}">
                    <a16:creationId xmlns:a16="http://schemas.microsoft.com/office/drawing/2014/main" id="{B8647303-59FF-4A2B-8D6D-FB229E659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2" name="Freeform: Shape 631">
                <a:extLst>
                  <a:ext uri="{FF2B5EF4-FFF2-40B4-BE49-F238E27FC236}">
                    <a16:creationId xmlns:a16="http://schemas.microsoft.com/office/drawing/2014/main" id="{7BD597AB-C6D9-437D-BBFE-8007D4ED0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3" name="Freeform: Shape 632">
                <a:extLst>
                  <a:ext uri="{FF2B5EF4-FFF2-40B4-BE49-F238E27FC236}">
                    <a16:creationId xmlns:a16="http://schemas.microsoft.com/office/drawing/2014/main" id="{4FA09AC9-DA2A-4216-BBFD-96E701FB8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26" name="Freeform: Shape 625">
              <a:extLst>
                <a:ext uri="{FF2B5EF4-FFF2-40B4-BE49-F238E27FC236}">
                  <a16:creationId xmlns:a16="http://schemas.microsoft.com/office/drawing/2014/main" id="{A8AD4A98-C6D7-49C8-A31E-29C6DB7C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589140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72187-60A9-F8D7-2C8A-868510524CA3}"/>
              </a:ext>
            </a:extLst>
          </p:cNvPr>
          <p:cNvSpPr>
            <a:spLocks noGrp="1"/>
          </p:cNvSpPr>
          <p:nvPr>
            <p:ph type="title"/>
          </p:nvPr>
        </p:nvSpPr>
        <p:spPr/>
        <p:txBody>
          <a:bodyPr>
            <a:normAutofit fontScale="90000"/>
          </a:bodyPr>
          <a:lstStyle/>
          <a:p>
            <a:r>
              <a:rPr lang="en-US"/>
              <a:t>Our Approach – Network Communication</a:t>
            </a:r>
            <a:endParaRPr lang="en-US" dirty="0"/>
          </a:p>
        </p:txBody>
      </p:sp>
      <p:graphicFrame>
        <p:nvGraphicFramePr>
          <p:cNvPr id="34" name="Content Placeholder 2">
            <a:extLst>
              <a:ext uri="{FF2B5EF4-FFF2-40B4-BE49-F238E27FC236}">
                <a16:creationId xmlns:a16="http://schemas.microsoft.com/office/drawing/2014/main" id="{D2A118A6-1693-3D19-452F-D11C7D18973E}"/>
              </a:ext>
            </a:extLst>
          </p:cNvPr>
          <p:cNvGraphicFramePr>
            <a:graphicFrameLocks noGrp="1"/>
          </p:cNvGraphicFramePr>
          <p:nvPr>
            <p:ph idx="1"/>
            <p:extLst>
              <p:ext uri="{D42A27DB-BD31-4B8C-83A1-F6EECF244321}">
                <p14:modId xmlns:p14="http://schemas.microsoft.com/office/powerpoint/2010/main" val="23262609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3594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Freeform: Shape 11">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4" name="Freeform: Shape 13">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6" name="Freeform: Shape 15">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9" name="Freeform: Shape 18">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7"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8" name="Freeform: Shape 27">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6" name="Rectangle 35">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8" name="Rectangle 37">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0" name="Top left">
            <a:extLst>
              <a:ext uri="{FF2B5EF4-FFF2-40B4-BE49-F238E27FC236}">
                <a16:creationId xmlns:a16="http://schemas.microsoft.com/office/drawing/2014/main" id="{E4A71F22-0E43-4930-8185-0D8C173634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1" name="Freeform: Shape 40">
              <a:extLst>
                <a:ext uri="{FF2B5EF4-FFF2-40B4-BE49-F238E27FC236}">
                  <a16:creationId xmlns:a16="http://schemas.microsoft.com/office/drawing/2014/main" id="{E337B2BE-9368-41E7-B9D3-4F1F971F9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2" name="Freeform: Shape 41">
              <a:extLst>
                <a:ext uri="{FF2B5EF4-FFF2-40B4-BE49-F238E27FC236}">
                  <a16:creationId xmlns:a16="http://schemas.microsoft.com/office/drawing/2014/main" id="{C7EDF3EA-3138-4266-8511-D57CECF0A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EA12DCF8-5403-4AA2-818F-2DF853DC1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AD89B414-72F6-4409-A12B-4F23F1CE0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214BA161-43C1-4B9D-A341-694B88127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B211E8CC-9B3E-4E58-821A-069B7C109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B29FA542-0294-4239-B976-E5D20656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EA9045A3-208C-4023-9F44-D62234135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D22708B8-55E8-083F-86F7-89A4C6EB2BD7}"/>
              </a:ext>
            </a:extLst>
          </p:cNvPr>
          <p:cNvSpPr>
            <a:spLocks noGrp="1"/>
          </p:cNvSpPr>
          <p:nvPr>
            <p:ph type="title"/>
          </p:nvPr>
        </p:nvSpPr>
        <p:spPr>
          <a:xfrm>
            <a:off x="996275" y="163350"/>
            <a:ext cx="10587045" cy="2065889"/>
          </a:xfrm>
        </p:spPr>
        <p:txBody>
          <a:bodyPr vert="horz" lIns="91440" tIns="45720" rIns="91440" bIns="45720" rtlCol="0" anchor="ctr">
            <a:normAutofit/>
          </a:bodyPr>
          <a:lstStyle/>
          <a:p>
            <a:pPr>
              <a:lnSpc>
                <a:spcPct val="90000"/>
              </a:lnSpc>
            </a:pPr>
            <a:r>
              <a:rPr lang="en-US" sz="4600" kern="1200" dirty="0">
                <a:solidFill>
                  <a:schemeClr val="tx2"/>
                </a:solidFill>
                <a:latin typeface="+mj-lt"/>
                <a:ea typeface="+mj-ea"/>
                <a:cs typeface="+mj-cs"/>
              </a:rPr>
              <a:t>Our Approach – Network Communication (No Metronome)</a:t>
            </a:r>
          </a:p>
        </p:txBody>
      </p:sp>
      <p:grpSp>
        <p:nvGrpSpPr>
          <p:cNvPr id="50" name="Cross">
            <a:extLst>
              <a:ext uri="{FF2B5EF4-FFF2-40B4-BE49-F238E27FC236}">
                <a16:creationId xmlns:a16="http://schemas.microsoft.com/office/drawing/2014/main" id="{1EDF0462-C0C2-4E84-A7EA-8EE60CEFF6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51" name="Straight Connector 50">
              <a:extLst>
                <a:ext uri="{FF2B5EF4-FFF2-40B4-BE49-F238E27FC236}">
                  <a16:creationId xmlns:a16="http://schemas.microsoft.com/office/drawing/2014/main" id="{DD5894EA-1641-49CE-AE6E-B9522736A0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2" name="Straight Connector 51">
              <a:extLst>
                <a:ext uri="{FF2B5EF4-FFF2-40B4-BE49-F238E27FC236}">
                  <a16:creationId xmlns:a16="http://schemas.microsoft.com/office/drawing/2014/main" id="{8C6415EB-8C9A-4F1B-A459-64B94A8651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5" name="Picture 4" descr="A diagram of a blockchain&#10;&#10;AI-generated content may be incorrect.">
            <a:extLst>
              <a:ext uri="{FF2B5EF4-FFF2-40B4-BE49-F238E27FC236}">
                <a16:creationId xmlns:a16="http://schemas.microsoft.com/office/drawing/2014/main" id="{BB532180-8841-8B9B-0D64-77B3506D1548}"/>
              </a:ext>
            </a:extLst>
          </p:cNvPr>
          <p:cNvPicPr>
            <a:picLocks noChangeAspect="1"/>
          </p:cNvPicPr>
          <p:nvPr/>
        </p:nvPicPr>
        <p:blipFill>
          <a:blip r:embed="rId2"/>
          <a:stretch>
            <a:fillRect/>
          </a:stretch>
        </p:blipFill>
        <p:spPr>
          <a:xfrm>
            <a:off x="1835382" y="1901343"/>
            <a:ext cx="8843616" cy="4399698"/>
          </a:xfrm>
          <a:prstGeom prst="rect">
            <a:avLst/>
          </a:prstGeom>
        </p:spPr>
      </p:pic>
      <p:grpSp>
        <p:nvGrpSpPr>
          <p:cNvPr id="54" name="Bottom Right">
            <a:extLst>
              <a:ext uri="{FF2B5EF4-FFF2-40B4-BE49-F238E27FC236}">
                <a16:creationId xmlns:a16="http://schemas.microsoft.com/office/drawing/2014/main" id="{B798A610-8506-4BC1-8108-8E1A31CAB8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5" name="Freeform: Shape 54">
              <a:extLst>
                <a:ext uri="{FF2B5EF4-FFF2-40B4-BE49-F238E27FC236}">
                  <a16:creationId xmlns:a16="http://schemas.microsoft.com/office/drawing/2014/main" id="{5C72D714-A610-482A-B26E-C679E9535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6" name="Graphic 157">
              <a:extLst>
                <a:ext uri="{FF2B5EF4-FFF2-40B4-BE49-F238E27FC236}">
                  <a16:creationId xmlns:a16="http://schemas.microsoft.com/office/drawing/2014/main" id="{D7EF30A6-8E6C-417A-B645-4EC7F0B3824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8" name="Freeform: Shape 57">
                <a:extLst>
                  <a:ext uri="{FF2B5EF4-FFF2-40B4-BE49-F238E27FC236}">
                    <a16:creationId xmlns:a16="http://schemas.microsoft.com/office/drawing/2014/main" id="{17D377E0-C3CC-48DC-B73B-09CEEDE39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80E2DF20-A9FD-4B82-8673-1091B4C00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2425BAEB-7B00-4394-8302-CF2DEA744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4917EE8E-E8BC-42F3-BEE3-2F84E8F64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B8647303-59FF-4A2B-8D6D-FB229E659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7BD597AB-C6D9-437D-BBFE-8007D4ED0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4FA09AC9-DA2A-4216-BBFD-96E701FB8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7" name="Freeform: Shape 56">
              <a:extLst>
                <a:ext uri="{FF2B5EF4-FFF2-40B4-BE49-F238E27FC236}">
                  <a16:creationId xmlns:a16="http://schemas.microsoft.com/office/drawing/2014/main" id="{A8AD4A98-C6D7-49C8-A31E-29C6DB7C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444662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F28F54-620A-64E7-9E26-912E2EABE13C}"/>
            </a:ext>
          </a:extLst>
        </p:cNvPr>
        <p:cNvGrpSpPr/>
        <p:nvPr/>
      </p:nvGrpSpPr>
      <p:grpSpPr>
        <a:xfrm>
          <a:off x="0" y="0"/>
          <a:ext cx="0" cy="0"/>
          <a:chOff x="0" y="0"/>
          <a:chExt cx="0" cy="0"/>
        </a:xfrm>
      </p:grpSpPr>
      <p:sp>
        <p:nvSpPr>
          <p:cNvPr id="187" name="Rectangle 186">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89" name="Freeform: Shape 188">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91" name="Freeform: Shape 190">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dirty="0">
                <a:solidFill>
                  <a:schemeClr val="tx1">
                    <a:lumMod val="65000"/>
                    <a:lumOff val="35000"/>
                  </a:schemeClr>
                </a:solidFill>
                <a:latin typeface="AvenirNext LT Pro Medium" panose="020B0504020202020204" pitchFamily="34" charset="0"/>
              </a:rPr>
              <a:t> </a:t>
            </a:r>
          </a:p>
        </p:txBody>
      </p:sp>
      <p:sp>
        <p:nvSpPr>
          <p:cNvPr id="193" name="Freeform: Shape 192">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95"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96" name="Freeform: Shape 195">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97" name="Freeform: Shape 196">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98" name="Freeform: Shape 197">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99" name="Freeform: Shape 198">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0" name="Freeform: Shape 199">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01" name="Freeform: Shape 200">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02" name="Freeform: Shape 201">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204"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05" name="Freeform: Shape 204">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6" name="Freeform: Shape 205">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7" name="Freeform: Shape 206">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8" name="Freeform: Shape 207">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9" name="Freeform: Shape 208">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0" name="Freeform: Shape 209">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1" name="Freeform: Shape 210">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213" name="Rectangle 212">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15" name="Rectangle 214">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17" name="Top left">
            <a:extLst>
              <a:ext uri="{FF2B5EF4-FFF2-40B4-BE49-F238E27FC236}">
                <a16:creationId xmlns:a16="http://schemas.microsoft.com/office/drawing/2014/main" id="{E4A71F22-0E43-4930-8185-0D8C173634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218" name="Freeform: Shape 217">
              <a:extLst>
                <a:ext uri="{FF2B5EF4-FFF2-40B4-BE49-F238E27FC236}">
                  <a16:creationId xmlns:a16="http://schemas.microsoft.com/office/drawing/2014/main" id="{E337B2BE-9368-41E7-B9D3-4F1F971F9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19" name="Freeform: Shape 218">
              <a:extLst>
                <a:ext uri="{FF2B5EF4-FFF2-40B4-BE49-F238E27FC236}">
                  <a16:creationId xmlns:a16="http://schemas.microsoft.com/office/drawing/2014/main" id="{C7EDF3EA-3138-4266-8511-D57CECF0A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220" name="Freeform: Shape 219">
              <a:extLst>
                <a:ext uri="{FF2B5EF4-FFF2-40B4-BE49-F238E27FC236}">
                  <a16:creationId xmlns:a16="http://schemas.microsoft.com/office/drawing/2014/main" id="{EA12DCF8-5403-4AA2-818F-2DF853DC1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221" name="Freeform: Shape 220">
              <a:extLst>
                <a:ext uri="{FF2B5EF4-FFF2-40B4-BE49-F238E27FC236}">
                  <a16:creationId xmlns:a16="http://schemas.microsoft.com/office/drawing/2014/main" id="{AD89B414-72F6-4409-A12B-4F23F1CE0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22" name="Freeform: Shape 221">
              <a:extLst>
                <a:ext uri="{FF2B5EF4-FFF2-40B4-BE49-F238E27FC236}">
                  <a16:creationId xmlns:a16="http://schemas.microsoft.com/office/drawing/2014/main" id="{214BA161-43C1-4B9D-A341-694B88127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23" name="Freeform: Shape 222">
              <a:extLst>
                <a:ext uri="{FF2B5EF4-FFF2-40B4-BE49-F238E27FC236}">
                  <a16:creationId xmlns:a16="http://schemas.microsoft.com/office/drawing/2014/main" id="{B211E8CC-9B3E-4E58-821A-069B7C109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24" name="Freeform: Shape 223">
              <a:extLst>
                <a:ext uri="{FF2B5EF4-FFF2-40B4-BE49-F238E27FC236}">
                  <a16:creationId xmlns:a16="http://schemas.microsoft.com/office/drawing/2014/main" id="{B29FA542-0294-4239-B976-E5D20656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5" name="Freeform: Shape 224">
              <a:extLst>
                <a:ext uri="{FF2B5EF4-FFF2-40B4-BE49-F238E27FC236}">
                  <a16:creationId xmlns:a16="http://schemas.microsoft.com/office/drawing/2014/main" id="{EA9045A3-208C-4023-9F44-D62234135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51E813D7-C8F4-CA61-6DF8-1C78E450031D}"/>
              </a:ext>
            </a:extLst>
          </p:cNvPr>
          <p:cNvSpPr>
            <a:spLocks noGrp="1"/>
          </p:cNvSpPr>
          <p:nvPr>
            <p:ph type="title"/>
          </p:nvPr>
        </p:nvSpPr>
        <p:spPr>
          <a:xfrm>
            <a:off x="996275" y="163350"/>
            <a:ext cx="9925247" cy="2065889"/>
          </a:xfrm>
        </p:spPr>
        <p:txBody>
          <a:bodyPr vert="horz" lIns="91440" tIns="45720" rIns="91440" bIns="45720" rtlCol="0" anchor="ctr">
            <a:normAutofit/>
          </a:bodyPr>
          <a:lstStyle/>
          <a:p>
            <a:pPr>
              <a:lnSpc>
                <a:spcPct val="90000"/>
              </a:lnSpc>
            </a:pPr>
            <a:r>
              <a:rPr lang="en-US" sz="3800" kern="1200" dirty="0">
                <a:solidFill>
                  <a:schemeClr val="tx2"/>
                </a:solidFill>
                <a:latin typeface="+mj-lt"/>
                <a:ea typeface="+mj-ea"/>
                <a:cs typeface="+mj-cs"/>
              </a:rPr>
              <a:t>Our Approach – Network Communication (Leader Metronome)</a:t>
            </a:r>
          </a:p>
        </p:txBody>
      </p:sp>
      <p:grpSp>
        <p:nvGrpSpPr>
          <p:cNvPr id="227" name="Cross">
            <a:extLst>
              <a:ext uri="{FF2B5EF4-FFF2-40B4-BE49-F238E27FC236}">
                <a16:creationId xmlns:a16="http://schemas.microsoft.com/office/drawing/2014/main" id="{1EDF0462-C0C2-4E84-A7EA-8EE60CEFF6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228" name="Straight Connector 227">
              <a:extLst>
                <a:ext uri="{FF2B5EF4-FFF2-40B4-BE49-F238E27FC236}">
                  <a16:creationId xmlns:a16="http://schemas.microsoft.com/office/drawing/2014/main" id="{DD5894EA-1641-49CE-AE6E-B9522736A0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29" name="Straight Connector 228">
              <a:extLst>
                <a:ext uri="{FF2B5EF4-FFF2-40B4-BE49-F238E27FC236}">
                  <a16:creationId xmlns:a16="http://schemas.microsoft.com/office/drawing/2014/main" id="{8C6415EB-8C9A-4F1B-A459-64B94A8651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7" name="Picture 6" descr="A diagram of a blockchain&#10;&#10;AI-generated content may be incorrect.">
            <a:extLst>
              <a:ext uri="{FF2B5EF4-FFF2-40B4-BE49-F238E27FC236}">
                <a16:creationId xmlns:a16="http://schemas.microsoft.com/office/drawing/2014/main" id="{47E35474-B250-355F-19B0-36EDF656B823}"/>
              </a:ext>
            </a:extLst>
          </p:cNvPr>
          <p:cNvPicPr>
            <a:picLocks noChangeAspect="1"/>
          </p:cNvPicPr>
          <p:nvPr/>
        </p:nvPicPr>
        <p:blipFill>
          <a:blip r:embed="rId2"/>
          <a:stretch>
            <a:fillRect/>
          </a:stretch>
        </p:blipFill>
        <p:spPr>
          <a:xfrm>
            <a:off x="599728" y="1982166"/>
            <a:ext cx="10789534" cy="4639500"/>
          </a:xfrm>
          <a:prstGeom prst="rect">
            <a:avLst/>
          </a:prstGeom>
        </p:spPr>
      </p:pic>
      <p:grpSp>
        <p:nvGrpSpPr>
          <p:cNvPr id="231" name="Bottom Right">
            <a:extLst>
              <a:ext uri="{FF2B5EF4-FFF2-40B4-BE49-F238E27FC236}">
                <a16:creationId xmlns:a16="http://schemas.microsoft.com/office/drawing/2014/main" id="{B798A610-8506-4BC1-8108-8E1A31CAB8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32" name="Freeform: Shape 231">
              <a:extLst>
                <a:ext uri="{FF2B5EF4-FFF2-40B4-BE49-F238E27FC236}">
                  <a16:creationId xmlns:a16="http://schemas.microsoft.com/office/drawing/2014/main" id="{5C72D714-A610-482A-B26E-C679E9535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33" name="Graphic 157">
              <a:extLst>
                <a:ext uri="{FF2B5EF4-FFF2-40B4-BE49-F238E27FC236}">
                  <a16:creationId xmlns:a16="http://schemas.microsoft.com/office/drawing/2014/main" id="{D7EF30A6-8E6C-417A-B645-4EC7F0B3824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35" name="Freeform: Shape 234">
                <a:extLst>
                  <a:ext uri="{FF2B5EF4-FFF2-40B4-BE49-F238E27FC236}">
                    <a16:creationId xmlns:a16="http://schemas.microsoft.com/office/drawing/2014/main" id="{17D377E0-C3CC-48DC-B73B-09CEEDE395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6" name="Freeform: Shape 235">
                <a:extLst>
                  <a:ext uri="{FF2B5EF4-FFF2-40B4-BE49-F238E27FC236}">
                    <a16:creationId xmlns:a16="http://schemas.microsoft.com/office/drawing/2014/main" id="{80E2DF20-A9FD-4B82-8673-1091B4C00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7" name="Freeform: Shape 236">
                <a:extLst>
                  <a:ext uri="{FF2B5EF4-FFF2-40B4-BE49-F238E27FC236}">
                    <a16:creationId xmlns:a16="http://schemas.microsoft.com/office/drawing/2014/main" id="{2425BAEB-7B00-4394-8302-CF2DEA744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8" name="Freeform: Shape 237">
                <a:extLst>
                  <a:ext uri="{FF2B5EF4-FFF2-40B4-BE49-F238E27FC236}">
                    <a16:creationId xmlns:a16="http://schemas.microsoft.com/office/drawing/2014/main" id="{4917EE8E-E8BC-42F3-BEE3-2F84E8F64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9" name="Freeform: Shape 238">
                <a:extLst>
                  <a:ext uri="{FF2B5EF4-FFF2-40B4-BE49-F238E27FC236}">
                    <a16:creationId xmlns:a16="http://schemas.microsoft.com/office/drawing/2014/main" id="{B8647303-59FF-4A2B-8D6D-FB229E659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0" name="Freeform: Shape 239">
                <a:extLst>
                  <a:ext uri="{FF2B5EF4-FFF2-40B4-BE49-F238E27FC236}">
                    <a16:creationId xmlns:a16="http://schemas.microsoft.com/office/drawing/2014/main" id="{7BD597AB-C6D9-437D-BBFE-8007D4ED0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1" name="Freeform: Shape 240">
                <a:extLst>
                  <a:ext uri="{FF2B5EF4-FFF2-40B4-BE49-F238E27FC236}">
                    <a16:creationId xmlns:a16="http://schemas.microsoft.com/office/drawing/2014/main" id="{4FA09AC9-DA2A-4216-BBFD-96E701FB8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34" name="Freeform: Shape 233">
              <a:extLst>
                <a:ext uri="{FF2B5EF4-FFF2-40B4-BE49-F238E27FC236}">
                  <a16:creationId xmlns:a16="http://schemas.microsoft.com/office/drawing/2014/main" id="{A8AD4A98-C6D7-49C8-A31E-29C6DB7C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901604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5089F41F-380F-4E05-9A56-4C8F456E81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AA95964E-B60E-42AA-AAF3-91A4345B39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6C9A41BA-B255-49A5-9A9C-46B951135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A5076F12-9630-46F2-ADAF-617D35489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81DD2B33-B10F-441B-A5DE-95F578BE7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E1C0380C-3C12-4AD4-A59D-9F4A5B527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4012F9BC-0D26-4714-96A0-BB74332F9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70BDD384-5C35-40DD-81BD-260F7CD7C9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813DFC-2118-4F9F-B162-1DD0A32B45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E1AEF3BF-5E0D-59E4-A3E8-EFE89D4723D2}"/>
              </a:ext>
            </a:extLst>
          </p:cNvPr>
          <p:cNvSpPr>
            <a:spLocks noGrp="1"/>
          </p:cNvSpPr>
          <p:nvPr>
            <p:ph type="title"/>
          </p:nvPr>
        </p:nvSpPr>
        <p:spPr>
          <a:xfrm>
            <a:off x="1198181" y="559813"/>
            <a:ext cx="7398887" cy="1664573"/>
          </a:xfrm>
        </p:spPr>
        <p:txBody>
          <a:bodyPr>
            <a:normAutofit/>
          </a:bodyPr>
          <a:lstStyle/>
          <a:p>
            <a:pPr>
              <a:lnSpc>
                <a:spcPct val="90000"/>
              </a:lnSpc>
            </a:pPr>
            <a:r>
              <a:rPr lang="en-US" sz="3700" dirty="0"/>
              <a:t>Our Approach – Tool Validation</a:t>
            </a:r>
          </a:p>
        </p:txBody>
      </p:sp>
      <p:sp>
        <p:nvSpPr>
          <p:cNvPr id="56" name="Content Placeholder 2">
            <a:extLst>
              <a:ext uri="{FF2B5EF4-FFF2-40B4-BE49-F238E27FC236}">
                <a16:creationId xmlns:a16="http://schemas.microsoft.com/office/drawing/2014/main" id="{CB7E8EE2-5CD2-71E0-F045-36F83C00944A}"/>
              </a:ext>
            </a:extLst>
          </p:cNvPr>
          <p:cNvSpPr>
            <a:spLocks noGrp="1"/>
          </p:cNvSpPr>
          <p:nvPr>
            <p:ph idx="1"/>
          </p:nvPr>
        </p:nvSpPr>
        <p:spPr>
          <a:xfrm>
            <a:off x="1185756" y="2384474"/>
            <a:ext cx="4814102" cy="3728613"/>
          </a:xfrm>
        </p:spPr>
        <p:txBody>
          <a:bodyPr>
            <a:normAutofit/>
          </a:bodyPr>
          <a:lstStyle/>
          <a:p>
            <a:pPr>
              <a:lnSpc>
                <a:spcPct val="100000"/>
              </a:lnSpc>
            </a:pPr>
            <a:r>
              <a:rPr lang="en-US" sz="1800" dirty="0"/>
              <a:t>Here I have conducted various benchmarks trying to simulate the conventional chains and validate the simulator tool.</a:t>
            </a:r>
          </a:p>
          <a:p>
            <a:pPr>
              <a:lnSpc>
                <a:spcPct val="100000"/>
              </a:lnSpc>
            </a:pPr>
            <a:r>
              <a:rPr lang="en-US" sz="1800" dirty="0"/>
              <a:t>The benchmarks are done on the simulated and real-world values of Bitcoin, Bitcoin Cash, Litecoin, and Dogecoin</a:t>
            </a:r>
          </a:p>
          <a:p>
            <a:pPr>
              <a:lnSpc>
                <a:spcPct val="100000"/>
              </a:lnSpc>
            </a:pPr>
            <a:r>
              <a:rPr lang="en-US" sz="1800" dirty="0"/>
              <a:t>Here are the results that we can compare:</a:t>
            </a:r>
          </a:p>
          <a:p>
            <a:pPr lvl="1">
              <a:lnSpc>
                <a:spcPct val="100000"/>
              </a:lnSpc>
            </a:pPr>
            <a:r>
              <a:rPr lang="en-US" sz="1800" dirty="0"/>
              <a:t>TPS vs chains</a:t>
            </a:r>
          </a:p>
          <a:p>
            <a:pPr lvl="1">
              <a:lnSpc>
                <a:spcPct val="100000"/>
              </a:lnSpc>
            </a:pPr>
            <a:r>
              <a:rPr lang="en-US" sz="1800" dirty="0"/>
              <a:t>Block-time vs chains</a:t>
            </a:r>
          </a:p>
        </p:txBody>
      </p:sp>
      <p:pic>
        <p:nvPicPr>
          <p:cNvPr id="7" name="Graphic 6" descr="Key">
            <a:extLst>
              <a:ext uri="{FF2B5EF4-FFF2-40B4-BE49-F238E27FC236}">
                <a16:creationId xmlns:a16="http://schemas.microsoft.com/office/drawing/2014/main" id="{26FC7A16-00FE-2C28-AD0B-6A17F89A0E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26806" y="1020267"/>
            <a:ext cx="4817466" cy="4817466"/>
          </a:xfrm>
          <a:prstGeom prst="rect">
            <a:avLst/>
          </a:prstGeom>
        </p:spPr>
      </p:pic>
      <p:grpSp>
        <p:nvGrpSpPr>
          <p:cNvPr id="24" name="Bottom Right">
            <a:extLst>
              <a:ext uri="{FF2B5EF4-FFF2-40B4-BE49-F238E27FC236}">
                <a16:creationId xmlns:a16="http://schemas.microsoft.com/office/drawing/2014/main" id="{FF8C87E7-85A6-4119-B524-84AA9C0AAB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6795C3BD-3FC3-4E1B-AD87-32CDB6EECF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48C556CD-2C4A-474F-9FF7-77BBE788F6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15ADB469-31B7-4DEF-BB35-B16F50DBE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5B70D859-00C6-4B2A-934C-68F32BA7C5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8AC0917A-2A49-4846-9772-79EEA1C994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4DD6C017-B6D4-4DDE-90B4-DBA925B48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330A4B39-910B-4EB2-997D-208FB20D15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05DCA9C3-2763-4D68-BBAE-82D1DA0E9E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33">
                <a:extLst>
                  <a:ext uri="{FF2B5EF4-FFF2-40B4-BE49-F238E27FC236}">
                    <a16:creationId xmlns:a16="http://schemas.microsoft.com/office/drawing/2014/main" id="{756A41BA-B004-4C26-806A-B2AAA1E28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660C5622-37F7-4A22-A941-BAAFD864F9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262665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7" name="Rectangle 9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9" name="Rectangle 9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01"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02" name="Freeform: Shape 101">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04" name="Freeform: Shape 103">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05" name="Freeform: Shape 104">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06" name="Freeform: Shape 105">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07" name="Freeform: Shape 106">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108" name="Freeform: Shape 107">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09" name="Freeform: Shape 108">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0C1ABEB6-C606-5205-D547-4332305C703F}"/>
              </a:ext>
            </a:extLst>
          </p:cNvPr>
          <p:cNvSpPr>
            <a:spLocks noGrp="1"/>
          </p:cNvSpPr>
          <p:nvPr>
            <p:ph type="title"/>
          </p:nvPr>
        </p:nvSpPr>
        <p:spPr>
          <a:xfrm>
            <a:off x="1198182" y="559813"/>
            <a:ext cx="3988369" cy="2236864"/>
          </a:xfrm>
        </p:spPr>
        <p:txBody>
          <a:bodyPr>
            <a:normAutofit/>
          </a:bodyPr>
          <a:lstStyle/>
          <a:p>
            <a:r>
              <a:rPr lang="en-US"/>
              <a:t>Our Approach – Tool Validation</a:t>
            </a:r>
          </a:p>
        </p:txBody>
      </p:sp>
      <p:sp>
        <p:nvSpPr>
          <p:cNvPr id="3" name="Content Placeholder 2">
            <a:extLst>
              <a:ext uri="{FF2B5EF4-FFF2-40B4-BE49-F238E27FC236}">
                <a16:creationId xmlns:a16="http://schemas.microsoft.com/office/drawing/2014/main" id="{2CA19662-8917-E1EE-42DD-CE367E5119EA}"/>
              </a:ext>
            </a:extLst>
          </p:cNvPr>
          <p:cNvSpPr>
            <a:spLocks noGrp="1"/>
          </p:cNvSpPr>
          <p:nvPr>
            <p:ph idx="1"/>
          </p:nvPr>
        </p:nvSpPr>
        <p:spPr>
          <a:xfrm>
            <a:off x="1185756" y="2955401"/>
            <a:ext cx="3988112" cy="3157686"/>
          </a:xfrm>
        </p:spPr>
        <p:txBody>
          <a:bodyPr>
            <a:normAutofit/>
          </a:bodyPr>
          <a:lstStyle/>
          <a:p>
            <a:r>
              <a:rPr lang="en-US" sz="1800" dirty="0"/>
              <a:t> TPS vs Chains</a:t>
            </a:r>
          </a:p>
          <a:p>
            <a:pPr lvl="1"/>
            <a:r>
              <a:rPr lang="en-US" sz="1800" dirty="0"/>
              <a:t>Our simulator reproduces realistic TPS levels and the correct relative ordering across BTC, BCH, LTC, and DOGE, confirming that throughput is plausibly calibrated.</a:t>
            </a:r>
          </a:p>
        </p:txBody>
      </p:sp>
      <p:pic>
        <p:nvPicPr>
          <p:cNvPr id="6" name="Picture 5" descr="A graph of different colored squares&#10;&#10;AI-generated content may be incorrect.">
            <a:extLst>
              <a:ext uri="{FF2B5EF4-FFF2-40B4-BE49-F238E27FC236}">
                <a16:creationId xmlns:a16="http://schemas.microsoft.com/office/drawing/2014/main" id="{261051EB-8E9B-3E89-2B2C-21AA978988B1}"/>
              </a:ext>
            </a:extLst>
          </p:cNvPr>
          <p:cNvPicPr>
            <a:picLocks noChangeAspect="1"/>
          </p:cNvPicPr>
          <p:nvPr/>
        </p:nvPicPr>
        <p:blipFill>
          <a:blip r:embed="rId2"/>
          <a:stretch>
            <a:fillRect/>
          </a:stretch>
        </p:blipFill>
        <p:spPr>
          <a:xfrm>
            <a:off x="5602903" y="1598040"/>
            <a:ext cx="6387190" cy="3656665"/>
          </a:xfrm>
          <a:prstGeom prst="rect">
            <a:avLst/>
          </a:prstGeom>
        </p:spPr>
      </p:pic>
      <p:grpSp>
        <p:nvGrpSpPr>
          <p:cNvPr id="111"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112" name="Freeform: Shape 111">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13"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115" name="Freeform: Shape 114">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6" name="Freeform: Shape 115">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7" name="Freeform: Shape 116">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8" name="Freeform: Shape 117">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9" name="Freeform: Shape 118">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20" name="Freeform: Shape 119">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21" name="Freeform: Shape 120">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14" name="Freeform: Shape 113">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548728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0" name="Rectangle 6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2"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73" name="Freeform: Shape 72">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4" name="Freeform: Shape 73">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76" name="Freeform: Shape 75">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77" name="Freeform: Shape 76">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78" name="Freeform: Shape 77">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79" name="Freeform: Shape 78">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80" name="Freeform: Shape 79">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3719C024-8DD3-23EC-3F75-74DD0A4294E3}"/>
              </a:ext>
            </a:extLst>
          </p:cNvPr>
          <p:cNvSpPr>
            <a:spLocks noGrp="1"/>
          </p:cNvSpPr>
          <p:nvPr>
            <p:ph type="title"/>
          </p:nvPr>
        </p:nvSpPr>
        <p:spPr>
          <a:xfrm>
            <a:off x="1198182" y="559813"/>
            <a:ext cx="3988369" cy="2236864"/>
          </a:xfrm>
        </p:spPr>
        <p:txBody>
          <a:bodyPr>
            <a:normAutofit/>
          </a:bodyPr>
          <a:lstStyle/>
          <a:p>
            <a:r>
              <a:rPr lang="en-US" dirty="0"/>
              <a:t>Our Approach – Tool Validation</a:t>
            </a:r>
          </a:p>
        </p:txBody>
      </p:sp>
      <p:sp>
        <p:nvSpPr>
          <p:cNvPr id="3" name="Content Placeholder 2">
            <a:extLst>
              <a:ext uri="{FF2B5EF4-FFF2-40B4-BE49-F238E27FC236}">
                <a16:creationId xmlns:a16="http://schemas.microsoft.com/office/drawing/2014/main" id="{F02081C5-F55B-107E-64E5-B1EC8EF2C13A}"/>
              </a:ext>
            </a:extLst>
          </p:cNvPr>
          <p:cNvSpPr>
            <a:spLocks noGrp="1"/>
          </p:cNvSpPr>
          <p:nvPr>
            <p:ph idx="1"/>
          </p:nvPr>
        </p:nvSpPr>
        <p:spPr>
          <a:xfrm>
            <a:off x="1185756" y="2955401"/>
            <a:ext cx="3988112" cy="3157686"/>
          </a:xfrm>
        </p:spPr>
        <p:txBody>
          <a:bodyPr>
            <a:normAutofit/>
          </a:bodyPr>
          <a:lstStyle/>
          <a:p>
            <a:r>
              <a:rPr lang="en-US" sz="1800"/>
              <a:t>Block-time vs Chains</a:t>
            </a:r>
          </a:p>
          <a:p>
            <a:pPr lvl="1"/>
            <a:r>
              <a:rPr lang="en-US" sz="1800"/>
              <a:t>Simulated average block times closely match each chain’s real target block interval, validating that our difficulty and timing model is realistic.</a:t>
            </a:r>
          </a:p>
        </p:txBody>
      </p:sp>
      <p:pic>
        <p:nvPicPr>
          <p:cNvPr id="5" name="Picture 4" descr="A graph of different colored bars&#10;&#10;AI-generated content may be incorrect.">
            <a:extLst>
              <a:ext uri="{FF2B5EF4-FFF2-40B4-BE49-F238E27FC236}">
                <a16:creationId xmlns:a16="http://schemas.microsoft.com/office/drawing/2014/main" id="{D7F71A85-9641-3D9E-FC2E-A5BB0248E785}"/>
              </a:ext>
            </a:extLst>
          </p:cNvPr>
          <p:cNvPicPr>
            <a:picLocks noChangeAspect="1"/>
          </p:cNvPicPr>
          <p:nvPr/>
        </p:nvPicPr>
        <p:blipFill>
          <a:blip r:embed="rId2"/>
          <a:stretch>
            <a:fillRect/>
          </a:stretch>
        </p:blipFill>
        <p:spPr>
          <a:xfrm>
            <a:off x="5602903" y="1598040"/>
            <a:ext cx="6387190" cy="3656665"/>
          </a:xfrm>
          <a:prstGeom prst="rect">
            <a:avLst/>
          </a:prstGeom>
        </p:spPr>
      </p:pic>
      <p:grpSp>
        <p:nvGrpSpPr>
          <p:cNvPr id="82"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83" name="Freeform: Shape 82">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4"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86" name="Freeform: Shape 85">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87" name="Freeform: Shape 86">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8" name="Freeform: Shape 87">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89" name="Freeform: Shape 88">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90" name="Freeform: Shape 89">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91" name="Freeform: Shape 90">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92" name="Freeform: Shape 91">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85" name="Freeform: Shape 84">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638698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8B5AEE-90DF-0FBF-7057-AA9626BEC15D}"/>
            </a:ext>
          </a:extLst>
        </p:cNvPr>
        <p:cNvGrpSpPr/>
        <p:nvPr/>
      </p:nvGrpSpPr>
      <p:grpSpPr>
        <a:xfrm>
          <a:off x="0" y="0"/>
          <a:ext cx="0" cy="0"/>
          <a:chOff x="0" y="0"/>
          <a:chExt cx="0" cy="0"/>
        </a:xfrm>
      </p:grpSpPr>
      <p:sp useBgFill="1">
        <p:nvSpPr>
          <p:cNvPr id="97" name="Rectangle 9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99" name="Rectangle 9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01"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02" name="Freeform: Shape 101">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3" name="Freeform: Shape 102">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04" name="Freeform: Shape 103">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05" name="Freeform: Shape 104">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06" name="Freeform: Shape 105">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07" name="Freeform: Shape 106">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108" name="Freeform: Shape 107">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09" name="Freeform: Shape 108">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C397DD1B-B657-F7DA-F321-6CB30C8DA17C}"/>
              </a:ext>
            </a:extLst>
          </p:cNvPr>
          <p:cNvSpPr>
            <a:spLocks noGrp="1"/>
          </p:cNvSpPr>
          <p:nvPr>
            <p:ph type="title"/>
          </p:nvPr>
        </p:nvSpPr>
        <p:spPr>
          <a:xfrm>
            <a:off x="1198182" y="559813"/>
            <a:ext cx="3988369" cy="2236864"/>
          </a:xfrm>
        </p:spPr>
        <p:txBody>
          <a:bodyPr>
            <a:normAutofit/>
          </a:bodyPr>
          <a:lstStyle/>
          <a:p>
            <a:r>
              <a:rPr lang="en-US" dirty="0"/>
              <a:t>Our Approach – Tool Validation</a:t>
            </a:r>
          </a:p>
        </p:txBody>
      </p:sp>
      <p:sp>
        <p:nvSpPr>
          <p:cNvPr id="3" name="Content Placeholder 2">
            <a:extLst>
              <a:ext uri="{FF2B5EF4-FFF2-40B4-BE49-F238E27FC236}">
                <a16:creationId xmlns:a16="http://schemas.microsoft.com/office/drawing/2014/main" id="{5A28665F-4F25-1CCC-D637-76CBCFBF9F5A}"/>
              </a:ext>
            </a:extLst>
          </p:cNvPr>
          <p:cNvSpPr>
            <a:spLocks noGrp="1"/>
          </p:cNvSpPr>
          <p:nvPr>
            <p:ph idx="1"/>
          </p:nvPr>
        </p:nvSpPr>
        <p:spPr>
          <a:xfrm>
            <a:off x="1185756" y="2955401"/>
            <a:ext cx="3988112" cy="3157686"/>
          </a:xfrm>
        </p:spPr>
        <p:txBody>
          <a:bodyPr>
            <a:normAutofit/>
          </a:bodyPr>
          <a:lstStyle/>
          <a:p>
            <a:r>
              <a:rPr lang="en-US" sz="1800" dirty="0"/>
              <a:t>TPS vs Chains</a:t>
            </a:r>
          </a:p>
          <a:p>
            <a:pPr lvl="1"/>
            <a:r>
              <a:rPr lang="en-US" sz="1800" dirty="0"/>
              <a:t>Our simulator reproduces realistic TPS levels and the correct relative ordering across 4, 6 and 9 shards of NEAR confirming that throughput is plausibly calibrated.</a:t>
            </a:r>
          </a:p>
        </p:txBody>
      </p:sp>
      <p:pic>
        <p:nvPicPr>
          <p:cNvPr id="6" name="Picture 5" descr="A graph of different colored bars&#10;&#10;AI-generated content may be incorrect.">
            <a:extLst>
              <a:ext uri="{FF2B5EF4-FFF2-40B4-BE49-F238E27FC236}">
                <a16:creationId xmlns:a16="http://schemas.microsoft.com/office/drawing/2014/main" id="{BE6B4F82-710C-E447-510A-B01F9043EF4B}"/>
              </a:ext>
            </a:extLst>
          </p:cNvPr>
          <p:cNvPicPr>
            <a:picLocks noChangeAspect="1"/>
          </p:cNvPicPr>
          <p:nvPr/>
        </p:nvPicPr>
        <p:blipFill>
          <a:blip r:embed="rId2"/>
          <a:stretch>
            <a:fillRect/>
          </a:stretch>
        </p:blipFill>
        <p:spPr>
          <a:xfrm>
            <a:off x="5602903" y="1598040"/>
            <a:ext cx="6387190" cy="3656665"/>
          </a:xfrm>
          <a:prstGeom prst="rect">
            <a:avLst/>
          </a:prstGeom>
        </p:spPr>
      </p:pic>
      <p:grpSp>
        <p:nvGrpSpPr>
          <p:cNvPr id="111"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112" name="Freeform: Shape 111">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13"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115" name="Freeform: Shape 114">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6" name="Freeform: Shape 115">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7" name="Freeform: Shape 116">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8" name="Freeform: Shape 117">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19" name="Freeform: Shape 118">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20" name="Freeform: Shape 119">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21" name="Freeform: Shape 120">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14" name="Freeform: Shape 113">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509974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BC6A00-6B82-27C6-6CAB-9383C4F3003C}"/>
            </a:ext>
          </a:extLst>
        </p:cNvPr>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4" name="Rectangle 123">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5"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26" name="Freeform: Shape 101">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7" name="Freeform: Shape 102">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28" name="Freeform: Shape 103">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29" name="Freeform: Shape 104">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30" name="Freeform: Shape 105">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31" name="Freeform: Shape 106">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132" name="Freeform: Shape 107">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33" name="Freeform: Shape 108">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8C461FDD-0075-2ECC-FBE7-94194E115AE8}"/>
              </a:ext>
            </a:extLst>
          </p:cNvPr>
          <p:cNvSpPr>
            <a:spLocks noGrp="1"/>
          </p:cNvSpPr>
          <p:nvPr>
            <p:ph type="title"/>
          </p:nvPr>
        </p:nvSpPr>
        <p:spPr>
          <a:xfrm>
            <a:off x="1198182" y="559813"/>
            <a:ext cx="3988369" cy="2236864"/>
          </a:xfrm>
        </p:spPr>
        <p:txBody>
          <a:bodyPr>
            <a:normAutofit/>
          </a:bodyPr>
          <a:lstStyle/>
          <a:p>
            <a:r>
              <a:rPr lang="en-US" dirty="0"/>
              <a:t>Our Approach – Tool Validation</a:t>
            </a:r>
          </a:p>
        </p:txBody>
      </p:sp>
      <p:sp>
        <p:nvSpPr>
          <p:cNvPr id="3" name="Content Placeholder 2">
            <a:extLst>
              <a:ext uri="{FF2B5EF4-FFF2-40B4-BE49-F238E27FC236}">
                <a16:creationId xmlns:a16="http://schemas.microsoft.com/office/drawing/2014/main" id="{B414F0BF-E80F-7647-47CB-E3E6E4112EC4}"/>
              </a:ext>
            </a:extLst>
          </p:cNvPr>
          <p:cNvSpPr>
            <a:spLocks noGrp="1"/>
          </p:cNvSpPr>
          <p:nvPr>
            <p:ph idx="1"/>
          </p:nvPr>
        </p:nvSpPr>
        <p:spPr>
          <a:xfrm>
            <a:off x="1185756" y="2955401"/>
            <a:ext cx="3988112" cy="3157686"/>
          </a:xfrm>
        </p:spPr>
        <p:txBody>
          <a:bodyPr>
            <a:normAutofit/>
          </a:bodyPr>
          <a:lstStyle/>
          <a:p>
            <a:r>
              <a:rPr lang="en-US" sz="1800" dirty="0"/>
              <a:t>Block-time vs Chains</a:t>
            </a:r>
          </a:p>
          <a:p>
            <a:pPr lvl="1"/>
            <a:r>
              <a:rPr lang="en-US" sz="1800" dirty="0"/>
              <a:t>Simulated average block times nearly matches the block-time claimed by NEAR and so maybe we can conclude that for validation we might need tweaks in the block-size to match that of NEAR.</a:t>
            </a:r>
          </a:p>
        </p:txBody>
      </p:sp>
      <p:pic>
        <p:nvPicPr>
          <p:cNvPr id="6" name="Picture 5" descr="A graph of different colored bars&#10;&#10;AI-generated content may be incorrect.">
            <a:extLst>
              <a:ext uri="{FF2B5EF4-FFF2-40B4-BE49-F238E27FC236}">
                <a16:creationId xmlns:a16="http://schemas.microsoft.com/office/drawing/2014/main" id="{AB31EE7C-7BDE-9B8F-C92C-42EBD2CA4E14}"/>
              </a:ext>
            </a:extLst>
          </p:cNvPr>
          <p:cNvPicPr>
            <a:picLocks noChangeAspect="1"/>
          </p:cNvPicPr>
          <p:nvPr/>
        </p:nvPicPr>
        <p:blipFill>
          <a:blip r:embed="rId2"/>
          <a:stretch>
            <a:fillRect/>
          </a:stretch>
        </p:blipFill>
        <p:spPr>
          <a:xfrm>
            <a:off x="5602903" y="1598040"/>
            <a:ext cx="6387190" cy="3656665"/>
          </a:xfrm>
          <a:prstGeom prst="rect">
            <a:avLst/>
          </a:prstGeom>
        </p:spPr>
      </p:pic>
      <p:grpSp>
        <p:nvGrpSpPr>
          <p:cNvPr id="134"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135" name="Freeform: Shape 111">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13"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136" name="Freeform: Shape 114">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37" name="Freeform: Shape 115">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38" name="Freeform: Shape 116">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39" name="Freeform: Shape 117">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40" name="Freeform: Shape 118">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41" name="Freeform: Shape 119">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42" name="Freeform: Shape 120">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43" name="Freeform: Shape 113">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57769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323DE4-2D5D-2DBA-8237-D560F7960FE5}"/>
            </a:ext>
          </a:extLst>
        </p:cNvPr>
        <p:cNvGrpSpPr/>
        <p:nvPr/>
      </p:nvGrpSpPr>
      <p:grpSpPr>
        <a:xfrm>
          <a:off x="0" y="0"/>
          <a:ext cx="0" cy="0"/>
          <a:chOff x="0" y="0"/>
          <a:chExt cx="0" cy="0"/>
        </a:xfrm>
      </p:grpSpPr>
      <p:sp useBgFill="1">
        <p:nvSpPr>
          <p:cNvPr id="261" name="Rectangle 26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63" name="Rectangle 26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5"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266" name="Freeform: Shape 265">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67" name="Freeform: Shape 266">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268" name="Freeform: Shape 267">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269" name="Freeform: Shape 268">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70" name="Freeform: Shape 269">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71" name="Freeform: Shape 270">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72" name="Freeform: Shape 271">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73" name="Freeform: Shape 272">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199EC26C-7FDF-C9DE-7B7F-20B729131611}"/>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Intra Region</a:t>
            </a:r>
          </a:p>
        </p:txBody>
      </p:sp>
      <p:sp>
        <p:nvSpPr>
          <p:cNvPr id="3" name="Content Placeholder 2">
            <a:extLst>
              <a:ext uri="{FF2B5EF4-FFF2-40B4-BE49-F238E27FC236}">
                <a16:creationId xmlns:a16="http://schemas.microsoft.com/office/drawing/2014/main" id="{D2A181AE-0D24-08AA-15CC-114A4EC42C81}"/>
              </a:ext>
            </a:extLst>
          </p:cNvPr>
          <p:cNvSpPr>
            <a:spLocks noGrp="1"/>
          </p:cNvSpPr>
          <p:nvPr>
            <p:ph idx="1"/>
          </p:nvPr>
        </p:nvSpPr>
        <p:spPr>
          <a:xfrm>
            <a:off x="6195372" y="169025"/>
            <a:ext cx="4977905" cy="2091182"/>
          </a:xfrm>
        </p:spPr>
        <p:txBody>
          <a:bodyPr anchor="ctr">
            <a:normAutofit/>
          </a:bodyPr>
          <a:lstStyle/>
          <a:p>
            <a:r>
              <a:rPr lang="en-US" sz="1800" dirty="0"/>
              <a:t>Best TPS</a:t>
            </a:r>
          </a:p>
          <a:p>
            <a:pPr lvl="1"/>
            <a:r>
              <a:rPr lang="en-US" sz="1800" dirty="0"/>
              <a:t>Here we have results for the best TPS for the intra-region memo sharding for a block size of 262,144 transactions.</a:t>
            </a:r>
          </a:p>
        </p:txBody>
      </p:sp>
      <p:pic>
        <p:nvPicPr>
          <p:cNvPr id="6" name="Picture 5" descr="A graph with orange and white bars&#10;&#10;AI-generated content may be incorrect.">
            <a:extLst>
              <a:ext uri="{FF2B5EF4-FFF2-40B4-BE49-F238E27FC236}">
                <a16:creationId xmlns:a16="http://schemas.microsoft.com/office/drawing/2014/main" id="{F389D50E-B3A6-A1CA-EA40-E8C6ECA2497E}"/>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75"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76" name="Freeform: Shape 275">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77"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79" name="Freeform: Shape 278">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0" name="Freeform: Shape 279">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1" name="Freeform: Shape 280">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2" name="Freeform: Shape 281">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3" name="Freeform: Shape 282">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4" name="Freeform: Shape 283">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5" name="Freeform: Shape 284">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8" name="Freeform: Shape 277">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287826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EAE3C2-59AC-AEC7-5095-48C6CE1A7AF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05EE6F36-1AD1-56BC-E188-0473EE4D9562}"/>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Intra Region</a:t>
            </a:r>
          </a:p>
        </p:txBody>
      </p:sp>
      <p:sp>
        <p:nvSpPr>
          <p:cNvPr id="3" name="Content Placeholder 2">
            <a:extLst>
              <a:ext uri="{FF2B5EF4-FFF2-40B4-BE49-F238E27FC236}">
                <a16:creationId xmlns:a16="http://schemas.microsoft.com/office/drawing/2014/main" id="{84957650-9BC1-CD57-1276-B3B8F98E605D}"/>
              </a:ext>
            </a:extLst>
          </p:cNvPr>
          <p:cNvSpPr>
            <a:spLocks noGrp="1"/>
          </p:cNvSpPr>
          <p:nvPr>
            <p:ph idx="1"/>
          </p:nvPr>
        </p:nvSpPr>
        <p:spPr>
          <a:xfrm>
            <a:off x="6195372" y="169025"/>
            <a:ext cx="4977905" cy="2091182"/>
          </a:xfrm>
        </p:spPr>
        <p:txBody>
          <a:bodyPr anchor="ctr">
            <a:normAutofit/>
          </a:bodyPr>
          <a:lstStyle/>
          <a:p>
            <a:r>
              <a:rPr lang="en-US" sz="1800" dirty="0"/>
              <a:t>Best Finality</a:t>
            </a:r>
          </a:p>
          <a:p>
            <a:pPr lvl="1"/>
            <a:r>
              <a:rPr lang="en-US" sz="1800" dirty="0"/>
              <a:t>Here we have results for the best finality for the intra-region memo sharding for block size of 2,100 transactions.</a:t>
            </a:r>
          </a:p>
        </p:txBody>
      </p:sp>
      <p:pic>
        <p:nvPicPr>
          <p:cNvPr id="5" name="Picture 4" descr="A graph with orange bars&#10;&#10;AI-generated content may be incorrect.">
            <a:extLst>
              <a:ext uri="{FF2B5EF4-FFF2-40B4-BE49-F238E27FC236}">
                <a16:creationId xmlns:a16="http://schemas.microsoft.com/office/drawing/2014/main" id="{31FEA7BE-1C95-C526-C2A6-E03E8BFC5011}"/>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4"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025783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85226C-AB95-46A0-EAD9-B47ED3C36FB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5"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6" name="Freeform: Shape 15">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Freeform: Shape 16">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74231BC7-8724-EB61-B2BF-E3595357D3B5}"/>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Intra Region</a:t>
            </a:r>
          </a:p>
        </p:txBody>
      </p:sp>
      <p:sp>
        <p:nvSpPr>
          <p:cNvPr id="3" name="Content Placeholder 2">
            <a:extLst>
              <a:ext uri="{FF2B5EF4-FFF2-40B4-BE49-F238E27FC236}">
                <a16:creationId xmlns:a16="http://schemas.microsoft.com/office/drawing/2014/main" id="{C91FD68D-7A3C-8DAC-74CF-1F38EA486364}"/>
              </a:ext>
            </a:extLst>
          </p:cNvPr>
          <p:cNvSpPr>
            <a:spLocks noGrp="1"/>
          </p:cNvSpPr>
          <p:nvPr>
            <p:ph idx="1"/>
          </p:nvPr>
        </p:nvSpPr>
        <p:spPr>
          <a:xfrm>
            <a:off x="6195372" y="169025"/>
            <a:ext cx="4977905" cy="2091182"/>
          </a:xfrm>
        </p:spPr>
        <p:txBody>
          <a:bodyPr anchor="ctr">
            <a:normAutofit/>
          </a:bodyPr>
          <a:lstStyle/>
          <a:p>
            <a:r>
              <a:rPr lang="en-US" sz="1800" dirty="0"/>
              <a:t>Sweet Spot</a:t>
            </a:r>
          </a:p>
          <a:p>
            <a:pPr lvl="1"/>
            <a:r>
              <a:rPr lang="en-US" sz="1800" dirty="0"/>
              <a:t>Here we have results for our sweet spot for the intra-region memo sharding for block size of 32,768 transactions.</a:t>
            </a:r>
          </a:p>
        </p:txBody>
      </p:sp>
      <p:pic>
        <p:nvPicPr>
          <p:cNvPr id="6" name="Picture 5" descr="A graph with orange bars&#10;&#10;AI-generated content may be incorrect.">
            <a:extLst>
              <a:ext uri="{FF2B5EF4-FFF2-40B4-BE49-F238E27FC236}">
                <a16:creationId xmlns:a16="http://schemas.microsoft.com/office/drawing/2014/main" id="{E7AA649C-BE68-37C6-74B5-7F8CCAC3F6BE}"/>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5"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6" name="Freeform: Shape 25">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7"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9" name="Freeform: Shape 28">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8" name="Freeform: Shape 27">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757952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D00F81-1636-378E-9975-C31493B9366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5"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6" name="Freeform: Shape 15">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Freeform: Shape 16">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FA6F91A8-60AC-29AD-553A-C1C61AAC70F1}"/>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US WAN Baseline</a:t>
            </a:r>
          </a:p>
        </p:txBody>
      </p:sp>
      <p:sp>
        <p:nvSpPr>
          <p:cNvPr id="3" name="Content Placeholder 2">
            <a:extLst>
              <a:ext uri="{FF2B5EF4-FFF2-40B4-BE49-F238E27FC236}">
                <a16:creationId xmlns:a16="http://schemas.microsoft.com/office/drawing/2014/main" id="{24DC1BD0-DCDE-7B2F-6233-C265BC58D55F}"/>
              </a:ext>
            </a:extLst>
          </p:cNvPr>
          <p:cNvSpPr>
            <a:spLocks noGrp="1"/>
          </p:cNvSpPr>
          <p:nvPr>
            <p:ph idx="1"/>
          </p:nvPr>
        </p:nvSpPr>
        <p:spPr>
          <a:xfrm>
            <a:off x="6195372" y="169025"/>
            <a:ext cx="4977905" cy="2091182"/>
          </a:xfrm>
        </p:spPr>
        <p:txBody>
          <a:bodyPr anchor="ctr">
            <a:normAutofit/>
          </a:bodyPr>
          <a:lstStyle/>
          <a:p>
            <a:r>
              <a:rPr lang="en-US" sz="1800" dirty="0"/>
              <a:t>Best TPS</a:t>
            </a:r>
          </a:p>
          <a:p>
            <a:pPr lvl="1"/>
            <a:r>
              <a:rPr lang="en-US" sz="1800" dirty="0"/>
              <a:t>Here we have results for the best TPS for the US WAN baseline for memo sharding for block size of 131,072 transactions.</a:t>
            </a:r>
          </a:p>
        </p:txBody>
      </p:sp>
      <p:pic>
        <p:nvPicPr>
          <p:cNvPr id="6" name="Picture 5" descr="A graph with orange bars&#10;&#10;AI-generated content may be incorrect.">
            <a:extLst>
              <a:ext uri="{FF2B5EF4-FFF2-40B4-BE49-F238E27FC236}">
                <a16:creationId xmlns:a16="http://schemas.microsoft.com/office/drawing/2014/main" id="{021F5713-77E7-1553-F1BA-036767B25D03}"/>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5"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6" name="Freeform: Shape 25">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7"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9" name="Freeform: Shape 28">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8" name="Freeform: Shape 27">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994631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BA0D16-5B7A-E6B9-7922-B8FDDD82953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0C14EF64-329A-7D9A-5DBF-F02267325D19}"/>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US WAN Baseline</a:t>
            </a:r>
          </a:p>
        </p:txBody>
      </p:sp>
      <p:sp>
        <p:nvSpPr>
          <p:cNvPr id="3" name="Content Placeholder 2">
            <a:extLst>
              <a:ext uri="{FF2B5EF4-FFF2-40B4-BE49-F238E27FC236}">
                <a16:creationId xmlns:a16="http://schemas.microsoft.com/office/drawing/2014/main" id="{809B7C16-0EE7-BB0C-B8A8-AEFD65D825E3}"/>
              </a:ext>
            </a:extLst>
          </p:cNvPr>
          <p:cNvSpPr>
            <a:spLocks noGrp="1"/>
          </p:cNvSpPr>
          <p:nvPr>
            <p:ph idx="1"/>
          </p:nvPr>
        </p:nvSpPr>
        <p:spPr>
          <a:xfrm>
            <a:off x="6195372" y="169025"/>
            <a:ext cx="4977905" cy="2091182"/>
          </a:xfrm>
        </p:spPr>
        <p:txBody>
          <a:bodyPr anchor="ctr">
            <a:normAutofit/>
          </a:bodyPr>
          <a:lstStyle/>
          <a:p>
            <a:r>
              <a:rPr lang="en-US" sz="1800" dirty="0"/>
              <a:t>Best Finality</a:t>
            </a:r>
          </a:p>
          <a:p>
            <a:pPr lvl="1"/>
            <a:r>
              <a:rPr lang="en-US" sz="1800" dirty="0"/>
              <a:t>Here we have results for the best Finality for the US WAN baseline for memo sharding for block size of 1,800 transactions.</a:t>
            </a:r>
          </a:p>
        </p:txBody>
      </p:sp>
      <p:pic>
        <p:nvPicPr>
          <p:cNvPr id="5" name="Picture 4" descr="A graph with orange bars&#10;&#10;AI-generated content may be incorrect.">
            <a:extLst>
              <a:ext uri="{FF2B5EF4-FFF2-40B4-BE49-F238E27FC236}">
                <a16:creationId xmlns:a16="http://schemas.microsoft.com/office/drawing/2014/main" id="{1E5CB39D-DB24-F7EF-9D3A-6FE830ED4814}"/>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4"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200172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9BB209-F91C-7B79-ED67-14E910FBC28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5"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6" name="Freeform: Shape 15">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Freeform: Shape 16">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EF53448A-6BFE-F5C2-EC82-7DE51F8A6C78}"/>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US WAN Baseline</a:t>
            </a:r>
          </a:p>
        </p:txBody>
      </p:sp>
      <p:sp>
        <p:nvSpPr>
          <p:cNvPr id="3" name="Content Placeholder 2">
            <a:extLst>
              <a:ext uri="{FF2B5EF4-FFF2-40B4-BE49-F238E27FC236}">
                <a16:creationId xmlns:a16="http://schemas.microsoft.com/office/drawing/2014/main" id="{2E82DE91-7D8C-CA96-2461-99CB36A1A87C}"/>
              </a:ext>
            </a:extLst>
          </p:cNvPr>
          <p:cNvSpPr>
            <a:spLocks noGrp="1"/>
          </p:cNvSpPr>
          <p:nvPr>
            <p:ph idx="1"/>
          </p:nvPr>
        </p:nvSpPr>
        <p:spPr>
          <a:xfrm>
            <a:off x="6195372" y="169025"/>
            <a:ext cx="4977905" cy="2091182"/>
          </a:xfrm>
        </p:spPr>
        <p:txBody>
          <a:bodyPr anchor="ctr">
            <a:normAutofit/>
          </a:bodyPr>
          <a:lstStyle/>
          <a:p>
            <a:r>
              <a:rPr lang="en-US" sz="1800" dirty="0"/>
              <a:t>Sweet Spot</a:t>
            </a:r>
          </a:p>
          <a:p>
            <a:pPr lvl="1"/>
            <a:r>
              <a:rPr lang="en-US" sz="1800" dirty="0"/>
              <a:t>Here we have results for the sweet spot for the US WAN baseline for memo sharding for block size of 65,536 transactions.</a:t>
            </a:r>
          </a:p>
        </p:txBody>
      </p:sp>
      <p:pic>
        <p:nvPicPr>
          <p:cNvPr id="6" name="Picture 5" descr="A graph with orange bars&#10;&#10;AI-generated content may be incorrect.">
            <a:extLst>
              <a:ext uri="{FF2B5EF4-FFF2-40B4-BE49-F238E27FC236}">
                <a16:creationId xmlns:a16="http://schemas.microsoft.com/office/drawing/2014/main" id="{0D47C5B7-EBAC-7BD4-7E1C-842CE15ACA4E}"/>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5"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6" name="Freeform: Shape 25">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7"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9" name="Freeform: Shape 28">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8" name="Freeform: Shape 27">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085103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12FD5D-BCD8-ACCF-C8CA-E903BF92299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68E74CF6-4887-0F5B-77E0-7508134B9486}"/>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Global WAN</a:t>
            </a:r>
          </a:p>
        </p:txBody>
      </p:sp>
      <p:sp>
        <p:nvSpPr>
          <p:cNvPr id="3" name="Content Placeholder 2">
            <a:extLst>
              <a:ext uri="{FF2B5EF4-FFF2-40B4-BE49-F238E27FC236}">
                <a16:creationId xmlns:a16="http://schemas.microsoft.com/office/drawing/2014/main" id="{8110D48C-C5A3-AAE2-8245-5238BCB7C32E}"/>
              </a:ext>
            </a:extLst>
          </p:cNvPr>
          <p:cNvSpPr>
            <a:spLocks noGrp="1"/>
          </p:cNvSpPr>
          <p:nvPr>
            <p:ph idx="1"/>
          </p:nvPr>
        </p:nvSpPr>
        <p:spPr>
          <a:xfrm>
            <a:off x="6195372" y="169025"/>
            <a:ext cx="4977905" cy="2091182"/>
          </a:xfrm>
        </p:spPr>
        <p:txBody>
          <a:bodyPr anchor="ctr">
            <a:normAutofit/>
          </a:bodyPr>
          <a:lstStyle/>
          <a:p>
            <a:r>
              <a:rPr lang="en-US" sz="1800" dirty="0"/>
              <a:t>Best TPS</a:t>
            </a:r>
          </a:p>
          <a:p>
            <a:pPr lvl="1"/>
            <a:r>
              <a:rPr lang="en-US" sz="1800" dirty="0"/>
              <a:t>Here we have results for the best TPS for the global WAN region for memo sharding for a block size of 262,144 transactions.</a:t>
            </a:r>
          </a:p>
        </p:txBody>
      </p:sp>
      <p:pic>
        <p:nvPicPr>
          <p:cNvPr id="5" name="Picture 4" descr="A graph with orange and white bars&#10;&#10;AI-generated content may be incorrect.">
            <a:extLst>
              <a:ext uri="{FF2B5EF4-FFF2-40B4-BE49-F238E27FC236}">
                <a16:creationId xmlns:a16="http://schemas.microsoft.com/office/drawing/2014/main" id="{BC8D8BBA-49F0-2917-5A05-BC929677417E}"/>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4"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267735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00A4FD-0AD1-88A5-0787-F837B74B08D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5"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6" name="Freeform: Shape 15">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Freeform: Shape 16">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FD06E385-AD1A-D59E-A1A3-942953927A5F}"/>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Global WAN</a:t>
            </a:r>
          </a:p>
        </p:txBody>
      </p:sp>
      <p:sp>
        <p:nvSpPr>
          <p:cNvPr id="3" name="Content Placeholder 2">
            <a:extLst>
              <a:ext uri="{FF2B5EF4-FFF2-40B4-BE49-F238E27FC236}">
                <a16:creationId xmlns:a16="http://schemas.microsoft.com/office/drawing/2014/main" id="{9E8F5B4A-B326-FE40-4DA5-2BFF8CD4AE66}"/>
              </a:ext>
            </a:extLst>
          </p:cNvPr>
          <p:cNvSpPr>
            <a:spLocks noGrp="1"/>
          </p:cNvSpPr>
          <p:nvPr>
            <p:ph idx="1"/>
          </p:nvPr>
        </p:nvSpPr>
        <p:spPr>
          <a:xfrm>
            <a:off x="6195372" y="169025"/>
            <a:ext cx="4977905" cy="2091182"/>
          </a:xfrm>
        </p:spPr>
        <p:txBody>
          <a:bodyPr anchor="ctr">
            <a:normAutofit/>
          </a:bodyPr>
          <a:lstStyle/>
          <a:p>
            <a:r>
              <a:rPr lang="en-US" sz="1800" dirty="0"/>
              <a:t>Best Finality</a:t>
            </a:r>
          </a:p>
          <a:p>
            <a:pPr lvl="1"/>
            <a:r>
              <a:rPr lang="en-US" sz="1800" dirty="0"/>
              <a:t>Here we have results for the best Finality for the global WAN region for memo sharding for a block size of 1,024 transactions.</a:t>
            </a:r>
          </a:p>
        </p:txBody>
      </p:sp>
      <p:pic>
        <p:nvPicPr>
          <p:cNvPr id="6" name="Picture 5" descr="A graph with orange bars&#10;&#10;AI-generated content may be incorrect.">
            <a:extLst>
              <a:ext uri="{FF2B5EF4-FFF2-40B4-BE49-F238E27FC236}">
                <a16:creationId xmlns:a16="http://schemas.microsoft.com/office/drawing/2014/main" id="{A035222E-FFA7-DBF9-BDA2-8185CE193534}"/>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5"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6" name="Freeform: Shape 25">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7"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9" name="Freeform: Shape 28">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8" name="Freeform: Shape 27">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1348461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78117B-F82B-DE7F-A5C7-FAAE063A8E7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4" name="Top left">
            <a:extLst>
              <a:ext uri="{FF2B5EF4-FFF2-40B4-BE49-F238E27FC236}">
                <a16:creationId xmlns:a16="http://schemas.microsoft.com/office/drawing/2014/main" id="{30C2D420-03A9-4AB5-9C8A-784654664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5" name="Freeform: Shape 14">
              <a:extLst>
                <a:ext uri="{FF2B5EF4-FFF2-40B4-BE49-F238E27FC236}">
                  <a16:creationId xmlns:a16="http://schemas.microsoft.com/office/drawing/2014/main" id="{8ACABB24-F7CD-4FB6-ADC2-BA8B6090F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Freeform: Shape 15">
              <a:extLst>
                <a:ext uri="{FF2B5EF4-FFF2-40B4-BE49-F238E27FC236}">
                  <a16:creationId xmlns:a16="http://schemas.microsoft.com/office/drawing/2014/main" id="{F63CD70C-B739-42A7-9846-79FB2804E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C0BC00AE-5BBE-4063-8F83-D4A141B48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3EECB1B8-9A34-47D7-B4F5-0D8B80D86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DCDCDB07-106E-4AD6-8CD4-927831694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7283BD4B-51FB-4643-A52C-2E4111966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5F1AD6CE-5252-4F04-9CA4-6B5B26CB7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6FBA2D29-8DB1-44B7-8310-7FA36270A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42AA003B-6D2C-FC90-E0F5-7D53A555DE96}"/>
              </a:ext>
            </a:extLst>
          </p:cNvPr>
          <p:cNvSpPr>
            <a:spLocks noGrp="1"/>
          </p:cNvSpPr>
          <p:nvPr>
            <p:ph type="title"/>
          </p:nvPr>
        </p:nvSpPr>
        <p:spPr>
          <a:xfrm>
            <a:off x="1198181" y="168425"/>
            <a:ext cx="4795282" cy="2091782"/>
          </a:xfrm>
        </p:spPr>
        <p:txBody>
          <a:bodyPr anchor="ctr">
            <a:normAutofit/>
          </a:bodyPr>
          <a:lstStyle/>
          <a:p>
            <a:pPr>
              <a:lnSpc>
                <a:spcPct val="90000"/>
              </a:lnSpc>
            </a:pPr>
            <a:r>
              <a:rPr lang="en-US" dirty="0"/>
              <a:t>Results of Simulation – Global WAN</a:t>
            </a:r>
          </a:p>
        </p:txBody>
      </p:sp>
      <p:sp>
        <p:nvSpPr>
          <p:cNvPr id="3" name="Content Placeholder 2">
            <a:extLst>
              <a:ext uri="{FF2B5EF4-FFF2-40B4-BE49-F238E27FC236}">
                <a16:creationId xmlns:a16="http://schemas.microsoft.com/office/drawing/2014/main" id="{69A252E7-FE58-E4D6-C65D-D43AD544A2F9}"/>
              </a:ext>
            </a:extLst>
          </p:cNvPr>
          <p:cNvSpPr>
            <a:spLocks noGrp="1"/>
          </p:cNvSpPr>
          <p:nvPr>
            <p:ph idx="1"/>
          </p:nvPr>
        </p:nvSpPr>
        <p:spPr>
          <a:xfrm>
            <a:off x="6195372" y="169025"/>
            <a:ext cx="4977905" cy="2091182"/>
          </a:xfrm>
        </p:spPr>
        <p:txBody>
          <a:bodyPr anchor="ctr">
            <a:normAutofit/>
          </a:bodyPr>
          <a:lstStyle/>
          <a:p>
            <a:r>
              <a:rPr lang="en-US" sz="1800" dirty="0"/>
              <a:t>Sweet spot</a:t>
            </a:r>
          </a:p>
          <a:p>
            <a:pPr lvl="1"/>
            <a:r>
              <a:rPr lang="en-US" sz="1800" dirty="0"/>
              <a:t>Here we have results for the sweet spot for the global WAN region for memo sharding for a block size of 65,536 transactions.</a:t>
            </a:r>
          </a:p>
        </p:txBody>
      </p:sp>
      <p:pic>
        <p:nvPicPr>
          <p:cNvPr id="5" name="Picture 4" descr="A graph with orange bars&#10;&#10;AI-generated content may be incorrect.">
            <a:extLst>
              <a:ext uri="{FF2B5EF4-FFF2-40B4-BE49-F238E27FC236}">
                <a16:creationId xmlns:a16="http://schemas.microsoft.com/office/drawing/2014/main" id="{854D0D5F-0F0C-3116-961B-2F1BEED86DAD}"/>
              </a:ext>
            </a:extLst>
          </p:cNvPr>
          <p:cNvPicPr>
            <a:picLocks noChangeAspect="1"/>
          </p:cNvPicPr>
          <p:nvPr/>
        </p:nvPicPr>
        <p:blipFill>
          <a:blip r:embed="rId2"/>
          <a:stretch>
            <a:fillRect/>
          </a:stretch>
        </p:blipFill>
        <p:spPr>
          <a:xfrm>
            <a:off x="862903" y="3486384"/>
            <a:ext cx="10515600" cy="2812927"/>
          </a:xfrm>
          <a:prstGeom prst="rect">
            <a:avLst/>
          </a:prstGeom>
        </p:spPr>
      </p:pic>
      <p:grpSp>
        <p:nvGrpSpPr>
          <p:cNvPr id="24" name="Bottom Right">
            <a:extLst>
              <a:ext uri="{FF2B5EF4-FFF2-40B4-BE49-F238E27FC236}">
                <a16:creationId xmlns:a16="http://schemas.microsoft.com/office/drawing/2014/main" id="{B1974323-6061-403E-B0D1-A73F283752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 name="Freeform: Shape 24">
              <a:extLst>
                <a:ext uri="{FF2B5EF4-FFF2-40B4-BE49-F238E27FC236}">
                  <a16:creationId xmlns:a16="http://schemas.microsoft.com/office/drawing/2014/main" id="{8361968C-F531-4231-BBDC-3415177EA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6" name="Graphic 157">
              <a:extLst>
                <a:ext uri="{FF2B5EF4-FFF2-40B4-BE49-F238E27FC236}">
                  <a16:creationId xmlns:a16="http://schemas.microsoft.com/office/drawing/2014/main" id="{E72294A1-7036-4100-8596-574E6EEB0B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8" name="Freeform: Shape 27">
                <a:extLst>
                  <a:ext uri="{FF2B5EF4-FFF2-40B4-BE49-F238E27FC236}">
                    <a16:creationId xmlns:a16="http://schemas.microsoft.com/office/drawing/2014/main" id="{BEDBF857-3C89-44F9-9C0D-B5439C63D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3F3B354C-0CC2-421F-89E2-6AA4EB15CF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0AB573DB-6079-4DBA-A027-A37A6FB6E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BCBCC42A-F810-45E8-A0E4-7659F0B3E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772F30E3-9A21-43C2-97B8-2209BE7D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2E54461-65B3-4F28-9F39-F68AE0C7E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542231B2-F2ED-49B7-A9A1-60A0C3A31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7" name="Freeform: Shape 26">
              <a:extLst>
                <a:ext uri="{FF2B5EF4-FFF2-40B4-BE49-F238E27FC236}">
                  <a16:creationId xmlns:a16="http://schemas.microsoft.com/office/drawing/2014/main" id="{7A628F82-CF87-44D1-A6D8-8C000BFE63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318948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8449D-7857-FADD-BEA9-ADD2A952CC4D}"/>
              </a:ext>
            </a:extLst>
          </p:cNvPr>
          <p:cNvSpPr>
            <a:spLocks noGrp="1"/>
          </p:cNvSpPr>
          <p:nvPr>
            <p:ph type="title"/>
          </p:nvPr>
        </p:nvSpPr>
        <p:spPr/>
        <p:txBody>
          <a:bodyPr/>
          <a:lstStyle/>
          <a:p>
            <a:r>
              <a:rPr lang="en-US" dirty="0"/>
              <a:t>Future Work</a:t>
            </a:r>
          </a:p>
        </p:txBody>
      </p:sp>
      <p:graphicFrame>
        <p:nvGraphicFramePr>
          <p:cNvPr id="34" name="Content Placeholder 2">
            <a:extLst>
              <a:ext uri="{FF2B5EF4-FFF2-40B4-BE49-F238E27FC236}">
                <a16:creationId xmlns:a16="http://schemas.microsoft.com/office/drawing/2014/main" id="{8182E7EC-6F28-B57F-885F-A2BC03E024E2}"/>
              </a:ext>
            </a:extLst>
          </p:cNvPr>
          <p:cNvGraphicFramePr>
            <a:graphicFrameLocks noGrp="1"/>
          </p:cNvGraphicFramePr>
          <p:nvPr>
            <p:ph idx="1"/>
            <p:extLst>
              <p:ext uri="{D42A27DB-BD31-4B8C-83A1-F6EECF244321}">
                <p14:modId xmlns:p14="http://schemas.microsoft.com/office/powerpoint/2010/main" val="391555087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7689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9" name="Freeform: Shape 8">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1" name="Freeform: Shape 10">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3" name="Freeform: Shape 12">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5"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6" name="Freeform: Shape 15">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24"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5" name="Freeform: Shape 24">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3" name="Rectangle 32">
            <a:extLst>
              <a:ext uri="{FF2B5EF4-FFF2-40B4-BE49-F238E27FC236}">
                <a16:creationId xmlns:a16="http://schemas.microsoft.com/office/drawing/2014/main" id="{3A6C273A-38F2-4D34-98BF-47B248862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5" name="Rectangle 34">
            <a:extLst>
              <a:ext uri="{FF2B5EF4-FFF2-40B4-BE49-F238E27FC236}">
                <a16:creationId xmlns:a16="http://schemas.microsoft.com/office/drawing/2014/main" id="{2E2CF659-EE5D-432C-B47F-10AC4A48A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7" name="Footer Placeholder 42">
            <a:extLst>
              <a:ext uri="{FF2B5EF4-FFF2-40B4-BE49-F238E27FC236}">
                <a16:creationId xmlns:a16="http://schemas.microsoft.com/office/drawing/2014/main" id="{03E51277-1095-412F-913B-8FA8021AA626}"/>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cap="all" spc="200">
              <a:latin typeface="Segoe UI Semilight" panose="020B0402040204020203" pitchFamily="34" charset="0"/>
              <a:cs typeface="Segoe UI Semilight" panose="020B0402040204020203" pitchFamily="34" charset="0"/>
            </a:endParaRPr>
          </a:p>
        </p:txBody>
      </p:sp>
      <p:grpSp>
        <p:nvGrpSpPr>
          <p:cNvPr id="39" name="Top Left">
            <a:extLst>
              <a:ext uri="{FF2B5EF4-FFF2-40B4-BE49-F238E27FC236}">
                <a16:creationId xmlns:a16="http://schemas.microsoft.com/office/drawing/2014/main" id="{FC280B3D-FC68-4DDC-950C-506B5C6838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87"/>
            <a:ext cx="7921775" cy="6887020"/>
            <a:chOff x="0" y="-3087"/>
            <a:chExt cx="7921775" cy="6887020"/>
          </a:xfrm>
        </p:grpSpPr>
        <p:sp>
          <p:nvSpPr>
            <p:cNvPr id="40" name="Freeform: Shape 39">
              <a:extLst>
                <a:ext uri="{FF2B5EF4-FFF2-40B4-BE49-F238E27FC236}">
                  <a16:creationId xmlns:a16="http://schemas.microsoft.com/office/drawing/2014/main" id="{4EA2AE61-06D9-484D-8DD1-BACA157CC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1" name="Freeform: Shape 40">
              <a:extLst>
                <a:ext uri="{FF2B5EF4-FFF2-40B4-BE49-F238E27FC236}">
                  <a16:creationId xmlns:a16="http://schemas.microsoft.com/office/drawing/2014/main" id="{712269F1-E4D6-4EEB-8A0F-059FAFC40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0919" y="61392"/>
              <a:ext cx="4450856" cy="6822541"/>
            </a:xfrm>
            <a:custGeom>
              <a:avLst/>
              <a:gdLst>
                <a:gd name="connsiteX0" fmla="*/ 545711 w 2478714"/>
                <a:gd name="connsiteY0" fmla="*/ 3799523 h 3799522"/>
                <a:gd name="connsiteX1" fmla="*/ 280820 w 2478714"/>
                <a:gd name="connsiteY1" fmla="*/ 3178874 h 3799522"/>
                <a:gd name="connsiteX2" fmla="*/ 43076 w 2478714"/>
                <a:gd name="connsiteY2" fmla="*/ 2663762 h 3799522"/>
                <a:gd name="connsiteX3" fmla="*/ 3167 w 2478714"/>
                <a:gd name="connsiteY3" fmla="*/ 2344769 h 3799522"/>
                <a:gd name="connsiteX4" fmla="*/ 117943 w 2478714"/>
                <a:gd name="connsiteY4" fmla="*/ 1976723 h 3799522"/>
                <a:gd name="connsiteX5" fmla="*/ 224242 w 2478714"/>
                <a:gd name="connsiteY5" fmla="*/ 1744123 h 3799522"/>
                <a:gd name="connsiteX6" fmla="*/ 447222 w 2478714"/>
                <a:gd name="connsiteY6" fmla="*/ 1569244 h 3799522"/>
                <a:gd name="connsiteX7" fmla="*/ 708588 w 2478714"/>
                <a:gd name="connsiteY7" fmla="*/ 1598295 h 3799522"/>
                <a:gd name="connsiteX8" fmla="*/ 1024532 w 2478714"/>
                <a:gd name="connsiteY8" fmla="*/ 1741837 h 3799522"/>
                <a:gd name="connsiteX9" fmla="*/ 1538692 w 2478714"/>
                <a:gd name="connsiteY9" fmla="*/ 1773460 h 3799522"/>
                <a:gd name="connsiteX10" fmla="*/ 1869019 w 2478714"/>
                <a:gd name="connsiteY10" fmla="*/ 1650016 h 3799522"/>
                <a:gd name="connsiteX11" fmla="*/ 2124670 w 2478714"/>
                <a:gd name="connsiteY11" fmla="*/ 1515047 h 3799522"/>
                <a:gd name="connsiteX12" fmla="*/ 2334410 w 2478714"/>
                <a:gd name="connsiteY12" fmla="*/ 1305401 h 3799522"/>
                <a:gd name="connsiteX13" fmla="*/ 2430232 w 2478714"/>
                <a:gd name="connsiteY13" fmla="*/ 933164 h 3799522"/>
                <a:gd name="connsiteX14" fmla="*/ 2430232 w 2478714"/>
                <a:gd name="connsiteY14" fmla="*/ 571786 h 3799522"/>
                <a:gd name="connsiteX15" fmla="*/ 2445472 w 2478714"/>
                <a:gd name="connsiteY15" fmla="*/ 315659 h 3799522"/>
                <a:gd name="connsiteX16" fmla="*/ 2478714 w 2478714"/>
                <a:gd name="connsiteY16" fmla="*/ 0 h 3799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8714" h="3799522">
                  <a:moveTo>
                    <a:pt x="545711" y="3799523"/>
                  </a:moveTo>
                  <a:cubicBezTo>
                    <a:pt x="492847" y="3532346"/>
                    <a:pt x="330541" y="3270313"/>
                    <a:pt x="280820" y="3178874"/>
                  </a:cubicBezTo>
                  <a:cubicBezTo>
                    <a:pt x="190047" y="3012281"/>
                    <a:pt x="98988" y="2844832"/>
                    <a:pt x="43076" y="2663762"/>
                  </a:cubicBezTo>
                  <a:cubicBezTo>
                    <a:pt x="11072" y="2560130"/>
                    <a:pt x="-7882" y="2452402"/>
                    <a:pt x="3167" y="2344769"/>
                  </a:cubicBezTo>
                  <a:cubicBezTo>
                    <a:pt x="16311" y="2216468"/>
                    <a:pt x="71175" y="2097310"/>
                    <a:pt x="117943" y="1976723"/>
                  </a:cubicBezTo>
                  <a:cubicBezTo>
                    <a:pt x="148899" y="1896904"/>
                    <a:pt x="177569" y="1815751"/>
                    <a:pt x="224242" y="1744123"/>
                  </a:cubicBezTo>
                  <a:cubicBezTo>
                    <a:pt x="277677" y="1662017"/>
                    <a:pt x="352829" y="1593437"/>
                    <a:pt x="447222" y="1569244"/>
                  </a:cubicBezTo>
                  <a:cubicBezTo>
                    <a:pt x="534090" y="1547051"/>
                    <a:pt x="624387" y="1565910"/>
                    <a:pt x="708588" y="1598295"/>
                  </a:cubicBezTo>
                  <a:cubicBezTo>
                    <a:pt x="816697" y="1640015"/>
                    <a:pt x="915948" y="1701546"/>
                    <a:pt x="1024532" y="1741837"/>
                  </a:cubicBezTo>
                  <a:cubicBezTo>
                    <a:pt x="1188743" y="1802797"/>
                    <a:pt x="1367814" y="1811750"/>
                    <a:pt x="1538692" y="1773460"/>
                  </a:cubicBezTo>
                  <a:cubicBezTo>
                    <a:pt x="1653659" y="1747647"/>
                    <a:pt x="1761863" y="1699355"/>
                    <a:pt x="1869019" y="1650016"/>
                  </a:cubicBezTo>
                  <a:cubicBezTo>
                    <a:pt x="1956744" y="1609630"/>
                    <a:pt x="2044279" y="1568291"/>
                    <a:pt x="2124670" y="1515047"/>
                  </a:cubicBezTo>
                  <a:cubicBezTo>
                    <a:pt x="2208204" y="1459706"/>
                    <a:pt x="2282976" y="1391222"/>
                    <a:pt x="2334410" y="1305401"/>
                  </a:cubicBezTo>
                  <a:cubicBezTo>
                    <a:pt x="2401181" y="1194054"/>
                    <a:pt x="2423565" y="1063276"/>
                    <a:pt x="2430232" y="933164"/>
                  </a:cubicBezTo>
                  <a:cubicBezTo>
                    <a:pt x="2436423" y="812864"/>
                    <a:pt x="2428517" y="692277"/>
                    <a:pt x="2430232" y="571786"/>
                  </a:cubicBezTo>
                  <a:cubicBezTo>
                    <a:pt x="2431470" y="486251"/>
                    <a:pt x="2438233" y="400907"/>
                    <a:pt x="2445472" y="315659"/>
                  </a:cubicBezTo>
                  <a:cubicBezTo>
                    <a:pt x="2454426" y="210217"/>
                    <a:pt x="2463284" y="104680"/>
                    <a:pt x="247871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088D87B2-D2A4-4577-89DC-7AF275C01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274" y="1582560"/>
              <a:ext cx="4133888" cy="5301373"/>
            </a:xfrm>
            <a:custGeom>
              <a:avLst/>
              <a:gdLst>
                <a:gd name="connsiteX0" fmla="*/ 2302193 w 2302192"/>
                <a:gd name="connsiteY0" fmla="*/ 2952373 h 2952373"/>
                <a:gd name="connsiteX1" fmla="*/ 2022729 w 2302192"/>
                <a:gd name="connsiteY1" fmla="*/ 2442309 h 2952373"/>
                <a:gd name="connsiteX2" fmla="*/ 1834039 w 2302192"/>
                <a:gd name="connsiteY2" fmla="*/ 1937199 h 2952373"/>
                <a:gd name="connsiteX3" fmla="*/ 1789748 w 2302192"/>
                <a:gd name="connsiteY3" fmla="*/ 1609063 h 2952373"/>
                <a:gd name="connsiteX4" fmla="*/ 1870139 w 2302192"/>
                <a:gd name="connsiteY4" fmla="*/ 1183962 h 2952373"/>
                <a:gd name="connsiteX5" fmla="*/ 2021110 w 2302192"/>
                <a:gd name="connsiteY5" fmla="*/ 743621 h 2952373"/>
                <a:gd name="connsiteX6" fmla="*/ 2010061 w 2302192"/>
                <a:gd name="connsiteY6" fmla="*/ 342047 h 2952373"/>
                <a:gd name="connsiteX7" fmla="*/ 1867376 w 2302192"/>
                <a:gd name="connsiteY7" fmla="*/ 55440 h 2952373"/>
                <a:gd name="connsiteX8" fmla="*/ 1652683 w 2302192"/>
                <a:gd name="connsiteY8" fmla="*/ 2862 h 2952373"/>
                <a:gd name="connsiteX9" fmla="*/ 1295305 w 2302192"/>
                <a:gd name="connsiteY9" fmla="*/ 234129 h 2952373"/>
                <a:gd name="connsiteX10" fmla="*/ 812101 w 2302192"/>
                <a:gd name="connsiteY10" fmla="*/ 886401 h 2952373"/>
                <a:gd name="connsiteX11" fmla="*/ 668846 w 2302192"/>
                <a:gd name="connsiteY11" fmla="*/ 1126145 h 2952373"/>
                <a:gd name="connsiteX12" fmla="*/ 498443 w 2302192"/>
                <a:gd name="connsiteY12" fmla="*/ 1405799 h 2952373"/>
                <a:gd name="connsiteX13" fmla="*/ 355759 w 2302192"/>
                <a:gd name="connsiteY13" fmla="*/ 1634304 h 2952373"/>
                <a:gd name="connsiteX14" fmla="*/ 161449 w 2302192"/>
                <a:gd name="connsiteY14" fmla="*/ 1913576 h 2952373"/>
                <a:gd name="connsiteX15" fmla="*/ 0 w 2302192"/>
                <a:gd name="connsiteY15" fmla="*/ 2189802 h 29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02192" h="2952373">
                  <a:moveTo>
                    <a:pt x="2302193" y="2952373"/>
                  </a:moveTo>
                  <a:cubicBezTo>
                    <a:pt x="2141125" y="2809308"/>
                    <a:pt x="2070068" y="2504603"/>
                    <a:pt x="2022729" y="2442309"/>
                  </a:cubicBezTo>
                  <a:cubicBezTo>
                    <a:pt x="1884140" y="2259810"/>
                    <a:pt x="1887760" y="2160274"/>
                    <a:pt x="1834039" y="1937199"/>
                  </a:cubicBezTo>
                  <a:cubicBezTo>
                    <a:pt x="1808131" y="1829376"/>
                    <a:pt x="1789367" y="1719838"/>
                    <a:pt x="1789748" y="1609063"/>
                  </a:cubicBezTo>
                  <a:cubicBezTo>
                    <a:pt x="1790224" y="1464092"/>
                    <a:pt x="1822418" y="1321122"/>
                    <a:pt x="1870139" y="1183962"/>
                  </a:cubicBezTo>
                  <a:cubicBezTo>
                    <a:pt x="1921288" y="1036896"/>
                    <a:pt x="1991868" y="896307"/>
                    <a:pt x="2021110" y="743621"/>
                  </a:cubicBezTo>
                  <a:cubicBezTo>
                    <a:pt x="2046637" y="610842"/>
                    <a:pt x="2036921" y="474730"/>
                    <a:pt x="2010061" y="342047"/>
                  </a:cubicBezTo>
                  <a:cubicBezTo>
                    <a:pt x="1988058" y="233367"/>
                    <a:pt x="1954340" y="122210"/>
                    <a:pt x="1867376" y="55440"/>
                  </a:cubicBezTo>
                  <a:cubicBezTo>
                    <a:pt x="1806512" y="8767"/>
                    <a:pt x="1728883" y="-7140"/>
                    <a:pt x="1652683" y="2862"/>
                  </a:cubicBezTo>
                  <a:cubicBezTo>
                    <a:pt x="1508474" y="21816"/>
                    <a:pt x="1395984" y="127068"/>
                    <a:pt x="1295305" y="234129"/>
                  </a:cubicBezTo>
                  <a:cubicBezTo>
                    <a:pt x="1109377" y="431772"/>
                    <a:pt x="953453" y="654657"/>
                    <a:pt x="812101" y="886401"/>
                  </a:cubicBezTo>
                  <a:cubicBezTo>
                    <a:pt x="763619" y="965934"/>
                    <a:pt x="716566" y="1046230"/>
                    <a:pt x="668846" y="1126145"/>
                  </a:cubicBezTo>
                  <a:cubicBezTo>
                    <a:pt x="612839" y="1219871"/>
                    <a:pt x="555308" y="1312644"/>
                    <a:pt x="498443" y="1405799"/>
                  </a:cubicBezTo>
                  <a:cubicBezTo>
                    <a:pt x="451676" y="1482475"/>
                    <a:pt x="405289" y="1559342"/>
                    <a:pt x="355759" y="1634304"/>
                  </a:cubicBezTo>
                  <a:cubicBezTo>
                    <a:pt x="293275" y="1728887"/>
                    <a:pt x="225362" y="1819946"/>
                    <a:pt x="161449" y="1913576"/>
                  </a:cubicBezTo>
                  <a:cubicBezTo>
                    <a:pt x="86487" y="2023495"/>
                    <a:pt x="0" y="2189802"/>
                    <a:pt x="0" y="2189802"/>
                  </a:cubicBezTo>
                </a:path>
              </a:pathLst>
            </a:custGeom>
            <a:noFill/>
            <a:ln w="9525" cap="rnd">
              <a:solidFill>
                <a:schemeClr val="accent2">
                  <a:alpha val="35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ACCB55F8-F950-431F-9B90-688950D9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087"/>
              <a:ext cx="17103" cy="17103"/>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27D0AA11-2E4E-479C-B953-547285E724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087"/>
              <a:ext cx="17103" cy="17103"/>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90D86C66-EDF0-4ABB-87F4-A2882A2E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931" y="3518322"/>
              <a:ext cx="2880722" cy="3317378"/>
            </a:xfrm>
            <a:custGeom>
              <a:avLst/>
              <a:gdLst>
                <a:gd name="connsiteX0" fmla="*/ 1604296 w 1604295"/>
                <a:gd name="connsiteY0" fmla="*/ 1847472 h 1847472"/>
                <a:gd name="connsiteX1" fmla="*/ 1517809 w 1604295"/>
                <a:gd name="connsiteY1" fmla="*/ 1544292 h 1847472"/>
                <a:gd name="connsiteX2" fmla="*/ 1394841 w 1604295"/>
                <a:gd name="connsiteY2" fmla="*/ 1183771 h 1847472"/>
                <a:gd name="connsiteX3" fmla="*/ 1318355 w 1604295"/>
                <a:gd name="connsiteY3" fmla="*/ 695233 h 1847472"/>
                <a:gd name="connsiteX4" fmla="*/ 1359884 w 1604295"/>
                <a:gd name="connsiteY4" fmla="*/ 397863 h 1847472"/>
                <a:gd name="connsiteX5" fmla="*/ 1359884 w 1604295"/>
                <a:gd name="connsiteY5" fmla="*/ 236700 h 1847472"/>
                <a:gd name="connsiteX6" fmla="*/ 1351598 w 1604295"/>
                <a:gd name="connsiteY6" fmla="*/ 67250 h 1847472"/>
                <a:gd name="connsiteX7" fmla="*/ 1316641 w 1604295"/>
                <a:gd name="connsiteY7" fmla="*/ 10767 h 1847472"/>
                <a:gd name="connsiteX8" fmla="*/ 1195292 w 1604295"/>
                <a:gd name="connsiteY8" fmla="*/ 34008 h 1847472"/>
                <a:gd name="connsiteX9" fmla="*/ 1005745 w 1604295"/>
                <a:gd name="connsiteY9" fmla="*/ 254988 h 1847472"/>
                <a:gd name="connsiteX10" fmla="*/ 763048 w 1604295"/>
                <a:gd name="connsiteY10" fmla="*/ 587315 h 1847472"/>
                <a:gd name="connsiteX11" fmla="*/ 548640 w 1604295"/>
                <a:gd name="connsiteY11" fmla="*/ 861444 h 1847472"/>
                <a:gd name="connsiteX12" fmla="*/ 328803 w 1604295"/>
                <a:gd name="connsiteY12" fmla="*/ 1145480 h 1847472"/>
                <a:gd name="connsiteX13" fmla="*/ 0 w 1604295"/>
                <a:gd name="connsiteY13" fmla="*/ 1607157 h 184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04295" h="1847472">
                  <a:moveTo>
                    <a:pt x="1604296" y="1847472"/>
                  </a:moveTo>
                  <a:cubicBezTo>
                    <a:pt x="1573721" y="1753270"/>
                    <a:pt x="1548479" y="1638399"/>
                    <a:pt x="1517809" y="1544292"/>
                  </a:cubicBezTo>
                  <a:cubicBezTo>
                    <a:pt x="1478471" y="1423515"/>
                    <a:pt x="1432846" y="1304929"/>
                    <a:pt x="1394841" y="1183771"/>
                  </a:cubicBezTo>
                  <a:cubicBezTo>
                    <a:pt x="1345025" y="1024893"/>
                    <a:pt x="1305497" y="860778"/>
                    <a:pt x="1318355" y="695233"/>
                  </a:cubicBezTo>
                  <a:cubicBezTo>
                    <a:pt x="1326071" y="595316"/>
                    <a:pt x="1353312" y="497780"/>
                    <a:pt x="1359884" y="397863"/>
                  </a:cubicBezTo>
                  <a:cubicBezTo>
                    <a:pt x="1363409" y="344237"/>
                    <a:pt x="1359503" y="290421"/>
                    <a:pt x="1359884" y="236700"/>
                  </a:cubicBezTo>
                  <a:cubicBezTo>
                    <a:pt x="1360265" y="179740"/>
                    <a:pt x="1366076" y="122114"/>
                    <a:pt x="1351598" y="67250"/>
                  </a:cubicBezTo>
                  <a:cubicBezTo>
                    <a:pt x="1345692" y="44866"/>
                    <a:pt x="1335691" y="23530"/>
                    <a:pt x="1316641" y="10767"/>
                  </a:cubicBezTo>
                  <a:cubicBezTo>
                    <a:pt x="1279874" y="-13998"/>
                    <a:pt x="1233202" y="8290"/>
                    <a:pt x="1195292" y="34008"/>
                  </a:cubicBezTo>
                  <a:cubicBezTo>
                    <a:pt x="1114330" y="89062"/>
                    <a:pt x="1060990" y="173644"/>
                    <a:pt x="1005745" y="254988"/>
                  </a:cubicBezTo>
                  <a:cubicBezTo>
                    <a:pt x="928688" y="368526"/>
                    <a:pt x="847058" y="478825"/>
                    <a:pt x="763048" y="587315"/>
                  </a:cubicBezTo>
                  <a:cubicBezTo>
                    <a:pt x="691991" y="679041"/>
                    <a:pt x="621697" y="771338"/>
                    <a:pt x="548640" y="861444"/>
                  </a:cubicBezTo>
                  <a:cubicBezTo>
                    <a:pt x="425672" y="1012987"/>
                    <a:pt x="453866" y="995747"/>
                    <a:pt x="328803" y="1145480"/>
                  </a:cubicBezTo>
                  <a:cubicBezTo>
                    <a:pt x="294418" y="1186628"/>
                    <a:pt x="21146" y="1558103"/>
                    <a:pt x="0" y="1607157"/>
                  </a:cubicBezTo>
                </a:path>
              </a:pathLst>
            </a:custGeom>
            <a:noFill/>
            <a:ln w="9525" cap="rnd">
              <a:solidFill>
                <a:schemeClr val="accent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D026082B-E695-4987-8C03-332366C6C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69" y="2957679"/>
              <a:ext cx="2196245" cy="3010367"/>
            </a:xfrm>
            <a:custGeom>
              <a:avLst/>
              <a:gdLst>
                <a:gd name="connsiteX0" fmla="*/ 1223105 w 1223105"/>
                <a:gd name="connsiteY0" fmla="*/ 0 h 1676495"/>
                <a:gd name="connsiteX1" fmla="*/ 1000792 w 1223105"/>
                <a:gd name="connsiteY1" fmla="*/ 254794 h 1676495"/>
                <a:gd name="connsiteX2" fmla="*/ 744760 w 1223105"/>
                <a:gd name="connsiteY2" fmla="*/ 651891 h 1676495"/>
                <a:gd name="connsiteX3" fmla="*/ 345758 w 1223105"/>
                <a:gd name="connsiteY3" fmla="*/ 1231773 h 1676495"/>
                <a:gd name="connsiteX4" fmla="*/ 0 w 1223105"/>
                <a:gd name="connsiteY4" fmla="*/ 1676495 h 1676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1676495">
                  <a:moveTo>
                    <a:pt x="1223105" y="0"/>
                  </a:moveTo>
                  <a:cubicBezTo>
                    <a:pt x="1136523" y="72771"/>
                    <a:pt x="1066324" y="162401"/>
                    <a:pt x="1000792" y="254794"/>
                  </a:cubicBezTo>
                  <a:cubicBezTo>
                    <a:pt x="909733" y="383286"/>
                    <a:pt x="827723" y="517970"/>
                    <a:pt x="744760" y="651891"/>
                  </a:cubicBezTo>
                  <a:cubicBezTo>
                    <a:pt x="621030" y="851726"/>
                    <a:pt x="497777" y="1052608"/>
                    <a:pt x="345758" y="1231773"/>
                  </a:cubicBezTo>
                  <a:cubicBezTo>
                    <a:pt x="248888" y="1345978"/>
                    <a:pt x="61722" y="1540764"/>
                    <a:pt x="0" y="1676495"/>
                  </a:cubicBezTo>
                </a:path>
              </a:pathLst>
            </a:custGeom>
            <a:noFill/>
            <a:ln w="9525" cap="rnd">
              <a:solidFill>
                <a:schemeClr val="accent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461A8835-D9FC-4CAB-AF19-A5513B17B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34043" y="2855696"/>
              <a:ext cx="1200999" cy="3994030"/>
            </a:xfrm>
            <a:custGeom>
              <a:avLst/>
              <a:gdLst>
                <a:gd name="connsiteX0" fmla="*/ 668846 w 668845"/>
                <a:gd name="connsiteY0" fmla="*/ 2224305 h 2224304"/>
                <a:gd name="connsiteX1" fmla="*/ 486918 w 668845"/>
                <a:gd name="connsiteY1" fmla="*/ 1944365 h 2224304"/>
                <a:gd name="connsiteX2" fmla="*/ 376809 w 668845"/>
                <a:gd name="connsiteY2" fmla="*/ 1659663 h 2224304"/>
                <a:gd name="connsiteX3" fmla="*/ 319373 w 668845"/>
                <a:gd name="connsiteY3" fmla="*/ 1425157 h 2224304"/>
                <a:gd name="connsiteX4" fmla="*/ 264319 w 668845"/>
                <a:gd name="connsiteY4" fmla="*/ 1130834 h 2224304"/>
                <a:gd name="connsiteX5" fmla="*/ 278702 w 668845"/>
                <a:gd name="connsiteY5" fmla="*/ 882041 h 2224304"/>
                <a:gd name="connsiteX6" fmla="*/ 302609 w 668845"/>
                <a:gd name="connsiteY6" fmla="*/ 736118 h 2224304"/>
                <a:gd name="connsiteX7" fmla="*/ 360045 w 668845"/>
                <a:gd name="connsiteY7" fmla="*/ 444177 h 2224304"/>
                <a:gd name="connsiteX8" fmla="*/ 386334 w 668845"/>
                <a:gd name="connsiteY8" fmla="*/ 233675 h 2224304"/>
                <a:gd name="connsiteX9" fmla="*/ 0 w 668845"/>
                <a:gd name="connsiteY9" fmla="*/ 56795 h 22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45" h="2224304">
                  <a:moveTo>
                    <a:pt x="668846" y="2224305"/>
                  </a:moveTo>
                  <a:cubicBezTo>
                    <a:pt x="599218" y="2137151"/>
                    <a:pt x="537210" y="2043996"/>
                    <a:pt x="486918" y="1944365"/>
                  </a:cubicBezTo>
                  <a:cubicBezTo>
                    <a:pt x="441008" y="1853306"/>
                    <a:pt x="404717" y="1757770"/>
                    <a:pt x="376809" y="1659663"/>
                  </a:cubicBezTo>
                  <a:cubicBezTo>
                    <a:pt x="354806" y="1582224"/>
                    <a:pt x="337757" y="1503548"/>
                    <a:pt x="319373" y="1425157"/>
                  </a:cubicBezTo>
                  <a:cubicBezTo>
                    <a:pt x="296418" y="1327811"/>
                    <a:pt x="270510" y="1230657"/>
                    <a:pt x="264319" y="1130834"/>
                  </a:cubicBezTo>
                  <a:cubicBezTo>
                    <a:pt x="259080" y="1047681"/>
                    <a:pt x="266891" y="964528"/>
                    <a:pt x="278702" y="882041"/>
                  </a:cubicBezTo>
                  <a:cubicBezTo>
                    <a:pt x="285655" y="833274"/>
                    <a:pt x="293751" y="784601"/>
                    <a:pt x="302609" y="736118"/>
                  </a:cubicBezTo>
                  <a:cubicBezTo>
                    <a:pt x="320516" y="638582"/>
                    <a:pt x="339471" y="541237"/>
                    <a:pt x="360045" y="444177"/>
                  </a:cubicBezTo>
                  <a:cubicBezTo>
                    <a:pt x="374809" y="374549"/>
                    <a:pt x="389763" y="304541"/>
                    <a:pt x="386334" y="233675"/>
                  </a:cubicBezTo>
                  <a:cubicBezTo>
                    <a:pt x="383191" y="168809"/>
                    <a:pt x="391287" y="-120751"/>
                    <a:pt x="0" y="56795"/>
                  </a:cubicBezTo>
                </a:path>
              </a:pathLst>
            </a:custGeom>
            <a:noFill/>
            <a:ln w="9525" cap="rnd">
              <a:solidFill>
                <a:schemeClr val="accent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54E6BA76-9515-415F-BAC9-76958DA6E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7437" y="5668418"/>
              <a:ext cx="1982111" cy="1181308"/>
            </a:xfrm>
            <a:custGeom>
              <a:avLst/>
              <a:gdLst>
                <a:gd name="connsiteX0" fmla="*/ 1103852 w 1103852"/>
                <a:gd name="connsiteY0" fmla="*/ 657879 h 657879"/>
                <a:gd name="connsiteX1" fmla="*/ 883063 w 1103852"/>
                <a:gd name="connsiteY1" fmla="*/ 177724 h 657879"/>
                <a:gd name="connsiteX2" fmla="*/ 678085 w 1103852"/>
                <a:gd name="connsiteY2" fmla="*/ 17132 h 657879"/>
                <a:gd name="connsiteX3" fmla="*/ 461962 w 1103852"/>
                <a:gd name="connsiteY3" fmla="*/ 17132 h 657879"/>
                <a:gd name="connsiteX4" fmla="*/ 136398 w 1103852"/>
                <a:gd name="connsiteY4" fmla="*/ 267735 h 657879"/>
                <a:gd name="connsiteX5" fmla="*/ 0 w 1103852"/>
                <a:gd name="connsiteY5" fmla="*/ 650830 h 65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852" h="657879">
                  <a:moveTo>
                    <a:pt x="1103852" y="657879"/>
                  </a:moveTo>
                  <a:cubicBezTo>
                    <a:pt x="1071563" y="576250"/>
                    <a:pt x="937546" y="246494"/>
                    <a:pt x="883063" y="177724"/>
                  </a:cubicBezTo>
                  <a:cubicBezTo>
                    <a:pt x="828104" y="108382"/>
                    <a:pt x="761238" y="46279"/>
                    <a:pt x="678085" y="17132"/>
                  </a:cubicBezTo>
                  <a:cubicBezTo>
                    <a:pt x="608171" y="-7347"/>
                    <a:pt x="533210" y="-4013"/>
                    <a:pt x="461962" y="17132"/>
                  </a:cubicBezTo>
                  <a:cubicBezTo>
                    <a:pt x="326898" y="57137"/>
                    <a:pt x="214027" y="150101"/>
                    <a:pt x="136398" y="267735"/>
                  </a:cubicBezTo>
                  <a:cubicBezTo>
                    <a:pt x="86773" y="343078"/>
                    <a:pt x="16764" y="562153"/>
                    <a:pt x="0" y="65083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4C120B3D-CF1C-49AE-B5B4-6BF589737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25817"/>
              <a:ext cx="2282549" cy="5138883"/>
            </a:xfrm>
            <a:custGeom>
              <a:avLst/>
              <a:gdLst>
                <a:gd name="connsiteX0" fmla="*/ 0 w 1271168"/>
                <a:gd name="connsiteY0" fmla="*/ 2861882 h 2861881"/>
                <a:gd name="connsiteX1" fmla="*/ 115157 w 1271168"/>
                <a:gd name="connsiteY1" fmla="*/ 2685002 h 2861881"/>
                <a:gd name="connsiteX2" fmla="*/ 277178 w 1271168"/>
                <a:gd name="connsiteY2" fmla="*/ 2461070 h 2861881"/>
                <a:gd name="connsiteX3" fmla="*/ 421958 w 1271168"/>
                <a:gd name="connsiteY3" fmla="*/ 2209514 h 2861881"/>
                <a:gd name="connsiteX4" fmla="*/ 690848 w 1271168"/>
                <a:gd name="connsiteY4" fmla="*/ 1751267 h 2861881"/>
                <a:gd name="connsiteX5" fmla="*/ 830580 w 1271168"/>
                <a:gd name="connsiteY5" fmla="*/ 1451039 h 2861881"/>
                <a:gd name="connsiteX6" fmla="*/ 917067 w 1271168"/>
                <a:gd name="connsiteY6" fmla="*/ 1276541 h 2861881"/>
                <a:gd name="connsiteX7" fmla="*/ 1114901 w 1271168"/>
                <a:gd name="connsiteY7" fmla="*/ 965835 h 2861881"/>
                <a:gd name="connsiteX8" fmla="*/ 1204627 w 1271168"/>
                <a:gd name="connsiteY8" fmla="*/ 819626 h 2861881"/>
                <a:gd name="connsiteX9" fmla="*/ 1271111 w 1271168"/>
                <a:gd name="connsiteY9" fmla="*/ 585311 h 2861881"/>
                <a:gd name="connsiteX10" fmla="*/ 1128141 w 1271168"/>
                <a:gd name="connsiteY10" fmla="*/ 292894 h 2861881"/>
                <a:gd name="connsiteX11" fmla="*/ 882110 w 1271168"/>
                <a:gd name="connsiteY11" fmla="*/ 135065 h 2861881"/>
                <a:gd name="connsiteX12" fmla="*/ 574929 w 1271168"/>
                <a:gd name="connsiteY12" fmla="*/ 0 h 286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1168" h="2861881">
                  <a:moveTo>
                    <a:pt x="0" y="2861882"/>
                  </a:moveTo>
                  <a:cubicBezTo>
                    <a:pt x="0" y="2861882"/>
                    <a:pt x="67151" y="2751201"/>
                    <a:pt x="115157" y="2685002"/>
                  </a:cubicBezTo>
                  <a:cubicBezTo>
                    <a:pt x="169259" y="2610326"/>
                    <a:pt x="226981" y="2538317"/>
                    <a:pt x="277178" y="2461070"/>
                  </a:cubicBezTo>
                  <a:cubicBezTo>
                    <a:pt x="329946" y="2379917"/>
                    <a:pt x="374142" y="2293715"/>
                    <a:pt x="421958" y="2209514"/>
                  </a:cubicBezTo>
                  <a:cubicBezTo>
                    <a:pt x="509492" y="2055495"/>
                    <a:pt x="609695" y="1908715"/>
                    <a:pt x="690848" y="1751267"/>
                  </a:cubicBezTo>
                  <a:cubicBezTo>
                    <a:pt x="741426" y="1653159"/>
                    <a:pt x="784670" y="1551432"/>
                    <a:pt x="830580" y="1451039"/>
                  </a:cubicBezTo>
                  <a:cubicBezTo>
                    <a:pt x="857631" y="1391984"/>
                    <a:pt x="885635" y="1333405"/>
                    <a:pt x="917067" y="1276541"/>
                  </a:cubicBezTo>
                  <a:cubicBezTo>
                    <a:pt x="976408" y="1169003"/>
                    <a:pt x="1046417" y="1067848"/>
                    <a:pt x="1114901" y="965835"/>
                  </a:cubicBezTo>
                  <a:cubicBezTo>
                    <a:pt x="1146810" y="918305"/>
                    <a:pt x="1177671" y="870109"/>
                    <a:pt x="1204627" y="819626"/>
                  </a:cubicBezTo>
                  <a:cubicBezTo>
                    <a:pt x="1243679" y="746665"/>
                    <a:pt x="1272635" y="667703"/>
                    <a:pt x="1271111" y="585311"/>
                  </a:cubicBezTo>
                  <a:cubicBezTo>
                    <a:pt x="1269111" y="473012"/>
                    <a:pt x="1209485" y="371284"/>
                    <a:pt x="1128141" y="292894"/>
                  </a:cubicBezTo>
                  <a:cubicBezTo>
                    <a:pt x="1057561" y="224790"/>
                    <a:pt x="971836" y="175260"/>
                    <a:pt x="882110" y="135065"/>
                  </a:cubicBezTo>
                  <a:cubicBezTo>
                    <a:pt x="779907" y="89249"/>
                    <a:pt x="672560" y="54673"/>
                    <a:pt x="574929" y="0"/>
                  </a:cubicBezTo>
                </a:path>
              </a:pathLst>
            </a:custGeom>
            <a:noFill/>
            <a:ln w="9525" cap="rnd">
              <a:solidFill>
                <a:schemeClr val="accent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5F7B6392-DF04-4EF6-A433-4A7A757D65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53524"/>
              <a:ext cx="1650357" cy="4733534"/>
            </a:xfrm>
            <a:custGeom>
              <a:avLst/>
              <a:gdLst>
                <a:gd name="connsiteX0" fmla="*/ 0 w 919096"/>
                <a:gd name="connsiteY0" fmla="*/ 2636139 h 2636139"/>
                <a:gd name="connsiteX1" fmla="*/ 274415 w 919096"/>
                <a:gd name="connsiteY1" fmla="*/ 2218277 h 2636139"/>
                <a:gd name="connsiteX2" fmla="*/ 607981 w 919096"/>
                <a:gd name="connsiteY2" fmla="*/ 1655921 h 2636139"/>
                <a:gd name="connsiteX3" fmla="*/ 792290 w 919096"/>
                <a:gd name="connsiteY3" fmla="*/ 1163003 h 2636139"/>
                <a:gd name="connsiteX4" fmla="*/ 914400 w 919096"/>
                <a:gd name="connsiteY4" fmla="*/ 808863 h 2636139"/>
                <a:gd name="connsiteX5" fmla="*/ 847344 w 919096"/>
                <a:gd name="connsiteY5" fmla="*/ 516922 h 2636139"/>
                <a:gd name="connsiteX6" fmla="*/ 610362 w 919096"/>
                <a:gd name="connsiteY6" fmla="*/ 366141 h 2636139"/>
                <a:gd name="connsiteX7" fmla="*/ 361379 w 919096"/>
                <a:gd name="connsiteY7" fmla="*/ 222599 h 2636139"/>
                <a:gd name="connsiteX8" fmla="*/ 67056 w 919096"/>
                <a:gd name="connsiteY8" fmla="*/ 0 h 263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9096" h="2636139">
                  <a:moveTo>
                    <a:pt x="0" y="2636139"/>
                  </a:moveTo>
                  <a:cubicBezTo>
                    <a:pt x="0" y="2636139"/>
                    <a:pt x="162020" y="2392394"/>
                    <a:pt x="274415" y="2218277"/>
                  </a:cubicBezTo>
                  <a:cubicBezTo>
                    <a:pt x="392906" y="2034730"/>
                    <a:pt x="518732" y="1854994"/>
                    <a:pt x="607981" y="1655921"/>
                  </a:cubicBezTo>
                  <a:cubicBezTo>
                    <a:pt x="679799" y="1495806"/>
                    <a:pt x="726091" y="1325594"/>
                    <a:pt x="792290" y="1163003"/>
                  </a:cubicBezTo>
                  <a:cubicBezTo>
                    <a:pt x="839724" y="1046607"/>
                    <a:pt x="897922" y="933164"/>
                    <a:pt x="914400" y="808863"/>
                  </a:cubicBezTo>
                  <a:cubicBezTo>
                    <a:pt x="928116" y="705326"/>
                    <a:pt x="913543" y="596932"/>
                    <a:pt x="847344" y="516922"/>
                  </a:cubicBezTo>
                  <a:cubicBezTo>
                    <a:pt x="786956" y="444056"/>
                    <a:pt x="696087" y="407956"/>
                    <a:pt x="610362" y="366141"/>
                  </a:cubicBezTo>
                  <a:cubicBezTo>
                    <a:pt x="524161" y="324136"/>
                    <a:pt x="442722" y="273272"/>
                    <a:pt x="361379" y="222599"/>
                  </a:cubicBezTo>
                  <a:cubicBezTo>
                    <a:pt x="245459" y="150400"/>
                    <a:pt x="126968" y="121348"/>
                    <a:pt x="6705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CFB987BC-4338-4C63-8DB9-5CB9DC489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379002"/>
              <a:ext cx="1123546" cy="4116271"/>
            </a:xfrm>
            <a:custGeom>
              <a:avLst/>
              <a:gdLst>
                <a:gd name="connsiteX0" fmla="*/ 0 w 625711"/>
                <a:gd name="connsiteY0" fmla="*/ 2292382 h 2292381"/>
                <a:gd name="connsiteX1" fmla="*/ 181070 w 625711"/>
                <a:gd name="connsiteY1" fmla="*/ 2019967 h 2292381"/>
                <a:gd name="connsiteX2" fmla="*/ 385000 w 625711"/>
                <a:gd name="connsiteY2" fmla="*/ 1640967 h 2292381"/>
                <a:gd name="connsiteX3" fmla="*/ 514255 w 625711"/>
                <a:gd name="connsiteY3" fmla="*/ 1376839 h 2292381"/>
                <a:gd name="connsiteX4" fmla="*/ 606171 w 625711"/>
                <a:gd name="connsiteY4" fmla="*/ 1015079 h 2292381"/>
                <a:gd name="connsiteX5" fmla="*/ 606171 w 625711"/>
                <a:gd name="connsiteY5" fmla="*/ 673418 h 2292381"/>
                <a:gd name="connsiteX6" fmla="*/ 485489 w 625711"/>
                <a:gd name="connsiteY6" fmla="*/ 475297 h 2292381"/>
                <a:gd name="connsiteX7" fmla="*/ 313182 w 625711"/>
                <a:gd name="connsiteY7" fmla="*/ 328898 h 2292381"/>
                <a:gd name="connsiteX8" fmla="*/ 173831 w 625711"/>
                <a:gd name="connsiteY8" fmla="*/ 189643 h 2292381"/>
                <a:gd name="connsiteX9" fmla="*/ 0 w 625711"/>
                <a:gd name="connsiteY9" fmla="*/ 0 h 229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5711" h="2292381">
                  <a:moveTo>
                    <a:pt x="0" y="2292382"/>
                  </a:moveTo>
                  <a:cubicBezTo>
                    <a:pt x="0" y="2292382"/>
                    <a:pt x="110776" y="2140363"/>
                    <a:pt x="181070" y="2019967"/>
                  </a:cubicBezTo>
                  <a:cubicBezTo>
                    <a:pt x="253460" y="1896047"/>
                    <a:pt x="318325" y="1768031"/>
                    <a:pt x="385000" y="1640967"/>
                  </a:cubicBezTo>
                  <a:cubicBezTo>
                    <a:pt x="430625" y="1554099"/>
                    <a:pt x="478536" y="1468184"/>
                    <a:pt x="514255" y="1376839"/>
                  </a:cubicBezTo>
                  <a:cubicBezTo>
                    <a:pt x="559689" y="1260634"/>
                    <a:pt x="585788" y="1138333"/>
                    <a:pt x="606171" y="1015079"/>
                  </a:cubicBezTo>
                  <a:cubicBezTo>
                    <a:pt x="625031" y="900779"/>
                    <a:pt x="638556" y="784003"/>
                    <a:pt x="606171" y="673418"/>
                  </a:cubicBezTo>
                  <a:cubicBezTo>
                    <a:pt x="584168" y="598075"/>
                    <a:pt x="540258" y="531590"/>
                    <a:pt x="485489" y="475297"/>
                  </a:cubicBezTo>
                  <a:cubicBezTo>
                    <a:pt x="432911" y="421195"/>
                    <a:pt x="369475" y="379095"/>
                    <a:pt x="313182" y="328898"/>
                  </a:cubicBezTo>
                  <a:cubicBezTo>
                    <a:pt x="264128" y="285179"/>
                    <a:pt x="219361" y="237077"/>
                    <a:pt x="173831" y="189643"/>
                  </a:cubicBezTo>
                  <a:cubicBezTo>
                    <a:pt x="109347" y="122111"/>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F0B5029E-655F-4CB5-BCA2-B62400CE7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798206"/>
              <a:ext cx="756945" cy="3350210"/>
            </a:xfrm>
            <a:custGeom>
              <a:avLst/>
              <a:gdLst>
                <a:gd name="connsiteX0" fmla="*/ 0 w 421548"/>
                <a:gd name="connsiteY0" fmla="*/ 0 h 1865756"/>
                <a:gd name="connsiteX1" fmla="*/ 258699 w 421548"/>
                <a:gd name="connsiteY1" fmla="*/ 330803 h 1865756"/>
                <a:gd name="connsiteX2" fmla="*/ 408051 w 421548"/>
                <a:gd name="connsiteY2" fmla="*/ 617887 h 1865756"/>
                <a:gd name="connsiteX3" fmla="*/ 408051 w 421548"/>
                <a:gd name="connsiteY3" fmla="*/ 910781 h 1865756"/>
                <a:gd name="connsiteX4" fmla="*/ 336233 w 421548"/>
                <a:gd name="connsiteY4" fmla="*/ 1269683 h 1865756"/>
                <a:gd name="connsiteX5" fmla="*/ 186881 w 421548"/>
                <a:gd name="connsiteY5" fmla="*/ 1582674 h 1865756"/>
                <a:gd name="connsiteX6" fmla="*/ 0 w 421548"/>
                <a:gd name="connsiteY6" fmla="*/ 1865757 h 1865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548" h="1865756">
                  <a:moveTo>
                    <a:pt x="0" y="0"/>
                  </a:moveTo>
                  <a:cubicBezTo>
                    <a:pt x="0" y="0"/>
                    <a:pt x="155734" y="188309"/>
                    <a:pt x="258699" y="330803"/>
                  </a:cubicBezTo>
                  <a:cubicBezTo>
                    <a:pt x="322517" y="419100"/>
                    <a:pt x="383096" y="512255"/>
                    <a:pt x="408051" y="617887"/>
                  </a:cubicBezTo>
                  <a:cubicBezTo>
                    <a:pt x="430625" y="713613"/>
                    <a:pt x="420815" y="812768"/>
                    <a:pt x="408051" y="910781"/>
                  </a:cubicBezTo>
                  <a:cubicBezTo>
                    <a:pt x="392240" y="1032129"/>
                    <a:pt x="376142" y="1154049"/>
                    <a:pt x="336233" y="1269683"/>
                  </a:cubicBezTo>
                  <a:cubicBezTo>
                    <a:pt x="298418" y="1379125"/>
                    <a:pt x="246412" y="1483138"/>
                    <a:pt x="186881" y="1582674"/>
                  </a:cubicBezTo>
                  <a:cubicBezTo>
                    <a:pt x="122777" y="1689640"/>
                    <a:pt x="0" y="1865757"/>
                    <a:pt x="0" y="1865757"/>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966F436B-D502-4927-A05D-0691A99F65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1247513"/>
              <a:ext cx="515229" cy="2438941"/>
            </a:xfrm>
            <a:custGeom>
              <a:avLst/>
              <a:gdLst>
                <a:gd name="connsiteX0" fmla="*/ 11621 w 286935"/>
                <a:gd name="connsiteY0" fmla="*/ 1358265 h 1358264"/>
                <a:gd name="connsiteX1" fmla="*/ 163830 w 286935"/>
                <a:gd name="connsiteY1" fmla="*/ 1157287 h 1358264"/>
                <a:gd name="connsiteX2" fmla="*/ 258604 w 286935"/>
                <a:gd name="connsiteY2" fmla="*/ 858679 h 1358264"/>
                <a:gd name="connsiteX3" fmla="*/ 284417 w 286935"/>
                <a:gd name="connsiteY3" fmla="*/ 577310 h 1358264"/>
                <a:gd name="connsiteX4" fmla="*/ 215456 w 286935"/>
                <a:gd name="connsiteY4" fmla="*/ 330422 h 1358264"/>
                <a:gd name="connsiteX5" fmla="*/ 0 w 286935"/>
                <a:gd name="connsiteY5" fmla="*/ 0 h 135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935" h="1358264">
                  <a:moveTo>
                    <a:pt x="11621" y="1358265"/>
                  </a:moveTo>
                  <a:cubicBezTo>
                    <a:pt x="11621" y="1358265"/>
                    <a:pt x="104299" y="1269016"/>
                    <a:pt x="163830" y="1157287"/>
                  </a:cubicBezTo>
                  <a:cubicBezTo>
                    <a:pt x="213074" y="1064800"/>
                    <a:pt x="237458" y="961453"/>
                    <a:pt x="258604" y="858679"/>
                  </a:cubicBezTo>
                  <a:cubicBezTo>
                    <a:pt x="277749" y="765905"/>
                    <a:pt x="293180" y="671512"/>
                    <a:pt x="284417" y="577310"/>
                  </a:cubicBezTo>
                  <a:cubicBezTo>
                    <a:pt x="276511" y="491680"/>
                    <a:pt x="250412" y="409099"/>
                    <a:pt x="215456" y="330422"/>
                  </a:cubicBezTo>
                  <a:cubicBezTo>
                    <a:pt x="153353" y="190405"/>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63D19BC0-342A-4662-8B01-078F5BC25F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1752232"/>
              <a:ext cx="300409" cy="1599679"/>
            </a:xfrm>
            <a:custGeom>
              <a:avLst/>
              <a:gdLst>
                <a:gd name="connsiteX0" fmla="*/ 0 w 167300"/>
                <a:gd name="connsiteY0" fmla="*/ 0 h 890873"/>
                <a:gd name="connsiteX1" fmla="*/ 143732 w 167300"/>
                <a:gd name="connsiteY1" fmla="*/ 233077 h 890873"/>
                <a:gd name="connsiteX2" fmla="*/ 160973 w 167300"/>
                <a:gd name="connsiteY2" fmla="*/ 482822 h 890873"/>
                <a:gd name="connsiteX3" fmla="*/ 0 w 167300"/>
                <a:gd name="connsiteY3" fmla="*/ 890873 h 890873"/>
              </a:gdLst>
              <a:ahLst/>
              <a:cxnLst>
                <a:cxn ang="0">
                  <a:pos x="connsiteX0" y="connsiteY0"/>
                </a:cxn>
                <a:cxn ang="0">
                  <a:pos x="connsiteX1" y="connsiteY1"/>
                </a:cxn>
                <a:cxn ang="0">
                  <a:pos x="connsiteX2" y="connsiteY2"/>
                </a:cxn>
                <a:cxn ang="0">
                  <a:pos x="connsiteX3" y="connsiteY3"/>
                </a:cxn>
              </a:cxnLst>
              <a:rect l="l" t="t" r="r" b="b"/>
              <a:pathLst>
                <a:path w="167300" h="890873">
                  <a:moveTo>
                    <a:pt x="0" y="0"/>
                  </a:moveTo>
                  <a:cubicBezTo>
                    <a:pt x="0" y="0"/>
                    <a:pt x="110585" y="127254"/>
                    <a:pt x="143732" y="233077"/>
                  </a:cubicBezTo>
                  <a:cubicBezTo>
                    <a:pt x="168974" y="313563"/>
                    <a:pt x="172593" y="399098"/>
                    <a:pt x="160973" y="482822"/>
                  </a:cubicBezTo>
                  <a:cubicBezTo>
                    <a:pt x="136970" y="655892"/>
                    <a:pt x="0" y="890873"/>
                    <a:pt x="0" y="890873"/>
                  </a:cubicBezTo>
                </a:path>
              </a:pathLst>
            </a:custGeom>
            <a:noFill/>
            <a:ln w="9525" cap="rnd">
              <a:solidFill>
                <a:schemeClr val="accent2">
                  <a:alpha val="35000"/>
                </a:schemeClr>
              </a:solidFill>
              <a:prstDash val="lgDash"/>
              <a:round/>
            </a:ln>
          </p:spPr>
          <p:txBody>
            <a:bodyPr rtlCol="0" anchor="ctr"/>
            <a:lstStyle/>
            <a:p>
              <a:endParaRPr lang="en-US"/>
            </a:p>
          </p:txBody>
        </p:sp>
        <p:sp>
          <p:nvSpPr>
            <p:cNvPr id="55" name="Freeform: Shape 54">
              <a:extLst>
                <a:ext uri="{FF2B5EF4-FFF2-40B4-BE49-F238E27FC236}">
                  <a16:creationId xmlns:a16="http://schemas.microsoft.com/office/drawing/2014/main" id="{DF32521F-B67B-4D14-BB6E-0DD27E1C7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31253" y="14016"/>
              <a:ext cx="5523537" cy="3012568"/>
            </a:xfrm>
            <a:custGeom>
              <a:avLst/>
              <a:gdLst>
                <a:gd name="connsiteX0" fmla="*/ 3076099 w 3076098"/>
                <a:gd name="connsiteY0" fmla="*/ 12287 h 1677721"/>
                <a:gd name="connsiteX1" fmla="*/ 3054287 w 3076098"/>
                <a:gd name="connsiteY1" fmla="*/ 609029 h 1677721"/>
                <a:gd name="connsiteX2" fmla="*/ 3054287 w 3076098"/>
                <a:gd name="connsiteY2" fmla="*/ 824770 h 1677721"/>
                <a:gd name="connsiteX3" fmla="*/ 3002375 w 3076098"/>
                <a:gd name="connsiteY3" fmla="*/ 1158240 h 1677721"/>
                <a:gd name="connsiteX4" fmla="*/ 2945797 w 3076098"/>
                <a:gd name="connsiteY4" fmla="*/ 1277112 h 1677721"/>
                <a:gd name="connsiteX5" fmla="*/ 2706815 w 3076098"/>
                <a:gd name="connsiteY5" fmla="*/ 1492853 h 1677721"/>
                <a:gd name="connsiteX6" fmla="*/ 2451735 w 3076098"/>
                <a:gd name="connsiteY6" fmla="*/ 1618583 h 1677721"/>
                <a:gd name="connsiteX7" fmla="*/ 2128457 w 3076098"/>
                <a:gd name="connsiteY7" fmla="*/ 1677448 h 1677721"/>
                <a:gd name="connsiteX8" fmla="*/ 1672495 w 3076098"/>
                <a:gd name="connsiteY8" fmla="*/ 1505522 h 1677721"/>
                <a:gd name="connsiteX9" fmla="*/ 1445038 w 3076098"/>
                <a:gd name="connsiteY9" fmla="*/ 1230916 h 1677721"/>
                <a:gd name="connsiteX10" fmla="*/ 1381506 w 3076098"/>
                <a:gd name="connsiteY10" fmla="*/ 1044035 h 1677721"/>
                <a:gd name="connsiteX11" fmla="*/ 1260253 w 3076098"/>
                <a:gd name="connsiteY11" fmla="*/ 837533 h 1677721"/>
                <a:gd name="connsiteX12" fmla="*/ 1108520 w 3076098"/>
                <a:gd name="connsiteY12" fmla="*/ 772954 h 1677721"/>
                <a:gd name="connsiteX13" fmla="*/ 955358 w 3076098"/>
                <a:gd name="connsiteY13" fmla="*/ 751427 h 1677721"/>
                <a:gd name="connsiteX14" fmla="*/ 763810 w 3076098"/>
                <a:gd name="connsiteY14" fmla="*/ 764762 h 1677721"/>
                <a:gd name="connsiteX15" fmla="*/ 651224 w 3076098"/>
                <a:gd name="connsiteY15" fmla="*/ 728186 h 1677721"/>
                <a:gd name="connsiteX16" fmla="*/ 510730 w 3076098"/>
                <a:gd name="connsiteY16" fmla="*/ 587788 h 1677721"/>
                <a:gd name="connsiteX17" fmla="*/ 323183 w 3076098"/>
                <a:gd name="connsiteY17" fmla="*/ 353187 h 1677721"/>
                <a:gd name="connsiteX18" fmla="*/ 0 w 3076098"/>
                <a:gd name="connsiteY18" fmla="*/ 0 h 167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76098" h="1677721">
                  <a:moveTo>
                    <a:pt x="3076099" y="12287"/>
                  </a:moveTo>
                  <a:cubicBezTo>
                    <a:pt x="3069336" y="183071"/>
                    <a:pt x="3053525" y="438150"/>
                    <a:pt x="3054287" y="609029"/>
                  </a:cubicBezTo>
                  <a:cubicBezTo>
                    <a:pt x="3054572" y="680942"/>
                    <a:pt x="3056477" y="752856"/>
                    <a:pt x="3054287" y="824770"/>
                  </a:cubicBezTo>
                  <a:cubicBezTo>
                    <a:pt x="3050858" y="937832"/>
                    <a:pt x="3038285" y="1051084"/>
                    <a:pt x="3002375" y="1158240"/>
                  </a:cubicBezTo>
                  <a:cubicBezTo>
                    <a:pt x="2988374" y="1200055"/>
                    <a:pt x="2969895" y="1240155"/>
                    <a:pt x="2945797" y="1277112"/>
                  </a:cubicBezTo>
                  <a:cubicBezTo>
                    <a:pt x="2886742" y="1367885"/>
                    <a:pt x="2798636" y="1434846"/>
                    <a:pt x="2706815" y="1492853"/>
                  </a:cubicBezTo>
                  <a:cubicBezTo>
                    <a:pt x="2626424" y="1543717"/>
                    <a:pt x="2541080" y="1586103"/>
                    <a:pt x="2451735" y="1618583"/>
                  </a:cubicBezTo>
                  <a:cubicBezTo>
                    <a:pt x="2347817" y="1656398"/>
                    <a:pt x="2238851" y="1680591"/>
                    <a:pt x="2128457" y="1677448"/>
                  </a:cubicBezTo>
                  <a:cubicBezTo>
                    <a:pt x="1962436" y="1672781"/>
                    <a:pt x="1804702" y="1606677"/>
                    <a:pt x="1672495" y="1505522"/>
                  </a:cubicBezTo>
                  <a:cubicBezTo>
                    <a:pt x="1576483" y="1432084"/>
                    <a:pt x="1493520" y="1341501"/>
                    <a:pt x="1445038" y="1230916"/>
                  </a:cubicBezTo>
                  <a:cubicBezTo>
                    <a:pt x="1418653" y="1170623"/>
                    <a:pt x="1401794" y="1106710"/>
                    <a:pt x="1381506" y="1044035"/>
                  </a:cubicBezTo>
                  <a:cubicBezTo>
                    <a:pt x="1356360" y="966026"/>
                    <a:pt x="1324261" y="887730"/>
                    <a:pt x="1260253" y="837533"/>
                  </a:cubicBezTo>
                  <a:cubicBezTo>
                    <a:pt x="1216628" y="803243"/>
                    <a:pt x="1162717" y="786194"/>
                    <a:pt x="1108520" y="772954"/>
                  </a:cubicBezTo>
                  <a:cubicBezTo>
                    <a:pt x="1058228" y="760667"/>
                    <a:pt x="1007078" y="750570"/>
                    <a:pt x="955358" y="751427"/>
                  </a:cubicBezTo>
                  <a:cubicBezTo>
                    <a:pt x="891064" y="752475"/>
                    <a:pt x="827818" y="770001"/>
                    <a:pt x="763810" y="764762"/>
                  </a:cubicBezTo>
                  <a:cubicBezTo>
                    <a:pt x="723995" y="761524"/>
                    <a:pt x="685514" y="748760"/>
                    <a:pt x="651224" y="728186"/>
                  </a:cubicBezTo>
                  <a:cubicBezTo>
                    <a:pt x="594074" y="693896"/>
                    <a:pt x="552545" y="639985"/>
                    <a:pt x="510730" y="587788"/>
                  </a:cubicBezTo>
                  <a:cubicBezTo>
                    <a:pt x="448151" y="509683"/>
                    <a:pt x="384524" y="432245"/>
                    <a:pt x="323183" y="353187"/>
                  </a:cubicBezTo>
                  <a:cubicBezTo>
                    <a:pt x="246221" y="253937"/>
                    <a:pt x="94202" y="82868"/>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56F73602-5ACB-4102-894B-D140E71E67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7455" y="75587"/>
              <a:ext cx="4681672" cy="2637228"/>
            </a:xfrm>
            <a:custGeom>
              <a:avLst/>
              <a:gdLst>
                <a:gd name="connsiteX0" fmla="*/ 2568321 w 2607257"/>
                <a:gd name="connsiteY0" fmla="*/ 18002 h 1468691"/>
                <a:gd name="connsiteX1" fmla="*/ 2590609 w 2607257"/>
                <a:gd name="connsiteY1" fmla="*/ 258509 h 1468691"/>
                <a:gd name="connsiteX2" fmla="*/ 2606802 w 2607257"/>
                <a:gd name="connsiteY2" fmla="*/ 563118 h 1468691"/>
                <a:gd name="connsiteX3" fmla="*/ 2587181 w 2607257"/>
                <a:gd name="connsiteY3" fmla="*/ 910400 h 1468691"/>
                <a:gd name="connsiteX4" fmla="*/ 2568702 w 2607257"/>
                <a:gd name="connsiteY4" fmla="*/ 1001554 h 1468691"/>
                <a:gd name="connsiteX5" fmla="*/ 2407063 w 2607257"/>
                <a:gd name="connsiteY5" fmla="*/ 1262348 h 1468691"/>
                <a:gd name="connsiteX6" fmla="*/ 2211896 w 2607257"/>
                <a:gd name="connsiteY6" fmla="*/ 1390078 h 1468691"/>
                <a:gd name="connsiteX7" fmla="*/ 1936623 w 2607257"/>
                <a:gd name="connsiteY7" fmla="*/ 1466660 h 1468691"/>
                <a:gd name="connsiteX8" fmla="*/ 1749933 w 2607257"/>
                <a:gd name="connsiteY8" fmla="*/ 1447514 h 1468691"/>
                <a:gd name="connsiteX9" fmla="*/ 1594295 w 2607257"/>
                <a:gd name="connsiteY9" fmla="*/ 1351788 h 1468691"/>
                <a:gd name="connsiteX10" fmla="*/ 1512951 w 2607257"/>
                <a:gd name="connsiteY10" fmla="*/ 1227392 h 1468691"/>
                <a:gd name="connsiteX11" fmla="*/ 1500949 w 2607257"/>
                <a:gd name="connsiteY11" fmla="*/ 992886 h 1468691"/>
                <a:gd name="connsiteX12" fmla="*/ 1541621 w 2607257"/>
                <a:gd name="connsiteY12" fmla="*/ 803910 h 1468691"/>
                <a:gd name="connsiteX13" fmla="*/ 1541621 w 2607257"/>
                <a:gd name="connsiteY13" fmla="*/ 665131 h 1468691"/>
                <a:gd name="connsiteX14" fmla="*/ 1429131 w 2607257"/>
                <a:gd name="connsiteY14" fmla="*/ 526352 h 1468691"/>
                <a:gd name="connsiteX15" fmla="*/ 1163383 w 2607257"/>
                <a:gd name="connsiteY15" fmla="*/ 449771 h 1468691"/>
                <a:gd name="connsiteX16" fmla="*/ 811530 w 2607257"/>
                <a:gd name="connsiteY16" fmla="*/ 406718 h 1468691"/>
                <a:gd name="connsiteX17" fmla="*/ 574548 w 2607257"/>
                <a:gd name="connsiteY17" fmla="*/ 354044 h 1468691"/>
                <a:gd name="connsiteX18" fmla="*/ 284893 w 2607257"/>
                <a:gd name="connsiteY18" fmla="*/ 224885 h 1468691"/>
                <a:gd name="connsiteX19" fmla="*/ 0 w 2607257"/>
                <a:gd name="connsiteY19" fmla="*/ 0 h 146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07257" h="1468691">
                  <a:moveTo>
                    <a:pt x="2568321" y="18002"/>
                  </a:moveTo>
                  <a:cubicBezTo>
                    <a:pt x="2574989" y="70009"/>
                    <a:pt x="2587752" y="206121"/>
                    <a:pt x="2590609" y="258509"/>
                  </a:cubicBezTo>
                  <a:cubicBezTo>
                    <a:pt x="2596134" y="360045"/>
                    <a:pt x="2604707" y="461486"/>
                    <a:pt x="2606802" y="563118"/>
                  </a:cubicBezTo>
                  <a:cubicBezTo>
                    <a:pt x="2609088" y="679228"/>
                    <a:pt x="2602802" y="795338"/>
                    <a:pt x="2587181" y="910400"/>
                  </a:cubicBezTo>
                  <a:cubicBezTo>
                    <a:pt x="2582990" y="941165"/>
                    <a:pt x="2577274" y="971645"/>
                    <a:pt x="2568702" y="1001554"/>
                  </a:cubicBezTo>
                  <a:cubicBezTo>
                    <a:pt x="2540222" y="1101471"/>
                    <a:pt x="2482501" y="1190816"/>
                    <a:pt x="2407063" y="1262348"/>
                  </a:cubicBezTo>
                  <a:cubicBezTo>
                    <a:pt x="2350294" y="1316165"/>
                    <a:pt x="2283047" y="1357313"/>
                    <a:pt x="2211896" y="1390078"/>
                  </a:cubicBezTo>
                  <a:cubicBezTo>
                    <a:pt x="2124742" y="1430179"/>
                    <a:pt x="2032159" y="1458754"/>
                    <a:pt x="1936623" y="1466660"/>
                  </a:cubicBezTo>
                  <a:cubicBezTo>
                    <a:pt x="1873567" y="1471898"/>
                    <a:pt x="1809845" y="1467517"/>
                    <a:pt x="1749933" y="1447514"/>
                  </a:cubicBezTo>
                  <a:cubicBezTo>
                    <a:pt x="1691449" y="1428083"/>
                    <a:pt x="1638109" y="1395222"/>
                    <a:pt x="1594295" y="1351788"/>
                  </a:cubicBezTo>
                  <a:cubicBezTo>
                    <a:pt x="1558576" y="1316450"/>
                    <a:pt x="1530001" y="1274540"/>
                    <a:pt x="1512951" y="1227392"/>
                  </a:cubicBezTo>
                  <a:cubicBezTo>
                    <a:pt x="1485900" y="1152811"/>
                    <a:pt x="1487519" y="1071467"/>
                    <a:pt x="1500949" y="992886"/>
                  </a:cubicBezTo>
                  <a:cubicBezTo>
                    <a:pt x="1511808" y="929354"/>
                    <a:pt x="1529810" y="867251"/>
                    <a:pt x="1541621" y="803910"/>
                  </a:cubicBezTo>
                  <a:cubicBezTo>
                    <a:pt x="1550194" y="757714"/>
                    <a:pt x="1554194" y="710279"/>
                    <a:pt x="1541621" y="665131"/>
                  </a:cubicBezTo>
                  <a:cubicBezTo>
                    <a:pt x="1525143" y="605981"/>
                    <a:pt x="1481233" y="559403"/>
                    <a:pt x="1429131" y="526352"/>
                  </a:cubicBezTo>
                  <a:cubicBezTo>
                    <a:pt x="1350455" y="476536"/>
                    <a:pt x="1256157" y="461772"/>
                    <a:pt x="1163383" y="449771"/>
                  </a:cubicBezTo>
                  <a:cubicBezTo>
                    <a:pt x="1046131" y="434626"/>
                    <a:pt x="928306" y="424720"/>
                    <a:pt x="811530" y="406718"/>
                  </a:cubicBezTo>
                  <a:cubicBezTo>
                    <a:pt x="731425" y="394335"/>
                    <a:pt x="652081" y="377571"/>
                    <a:pt x="574548" y="354044"/>
                  </a:cubicBezTo>
                  <a:cubicBezTo>
                    <a:pt x="472916" y="323279"/>
                    <a:pt x="375094" y="280702"/>
                    <a:pt x="284893" y="224885"/>
                  </a:cubicBezTo>
                  <a:cubicBezTo>
                    <a:pt x="181832" y="161068"/>
                    <a:pt x="90868" y="80296"/>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E87FA368-45DC-4276-A257-F67A12B2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0305" y="31802"/>
              <a:ext cx="3763077" cy="2110194"/>
            </a:xfrm>
            <a:custGeom>
              <a:avLst/>
              <a:gdLst>
                <a:gd name="connsiteX0" fmla="*/ 1950434 w 2095685"/>
                <a:gd name="connsiteY0" fmla="*/ 0 h 1175182"/>
                <a:gd name="connsiteX1" fmla="*/ 2077307 w 2095685"/>
                <a:gd name="connsiteY1" fmla="*/ 479108 h 1175182"/>
                <a:gd name="connsiteX2" fmla="*/ 2089309 w 2095685"/>
                <a:gd name="connsiteY2" fmla="*/ 826008 h 1175182"/>
                <a:gd name="connsiteX3" fmla="*/ 1987582 w 2095685"/>
                <a:gd name="connsiteY3" fmla="*/ 1101185 h 1175182"/>
                <a:gd name="connsiteX4" fmla="*/ 1818037 w 2095685"/>
                <a:gd name="connsiteY4" fmla="*/ 1173004 h 1175182"/>
                <a:gd name="connsiteX5" fmla="*/ 1694402 w 2095685"/>
                <a:gd name="connsiteY5" fmla="*/ 1157097 h 1175182"/>
                <a:gd name="connsiteX6" fmla="*/ 1594676 w 2095685"/>
                <a:gd name="connsiteY6" fmla="*/ 1013555 h 1175182"/>
                <a:gd name="connsiteX7" fmla="*/ 1664494 w 2095685"/>
                <a:gd name="connsiteY7" fmla="*/ 790289 h 1175182"/>
                <a:gd name="connsiteX8" fmla="*/ 1684401 w 2095685"/>
                <a:gd name="connsiteY8" fmla="*/ 527114 h 1175182"/>
                <a:gd name="connsiteX9" fmla="*/ 1550765 w 2095685"/>
                <a:gd name="connsiteY9" fmla="*/ 343662 h 1175182"/>
                <a:gd name="connsiteX10" fmla="*/ 1315402 w 2095685"/>
                <a:gd name="connsiteY10" fmla="*/ 265938 h 1175182"/>
                <a:gd name="connsiteX11" fmla="*/ 876586 w 2095685"/>
                <a:gd name="connsiteY11" fmla="*/ 200120 h 1175182"/>
                <a:gd name="connsiteX12" fmla="*/ 591312 w 2095685"/>
                <a:gd name="connsiteY12" fmla="*/ 186119 h 1175182"/>
                <a:gd name="connsiteX13" fmla="*/ 0 w 2095685"/>
                <a:gd name="connsiteY13" fmla="*/ 16669 h 117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5685" h="1175182">
                  <a:moveTo>
                    <a:pt x="1950434" y="0"/>
                  </a:moveTo>
                  <a:cubicBezTo>
                    <a:pt x="1973485" y="77629"/>
                    <a:pt x="2063115" y="399383"/>
                    <a:pt x="2077307" y="479108"/>
                  </a:cubicBezTo>
                  <a:cubicBezTo>
                    <a:pt x="2097786" y="593693"/>
                    <a:pt x="2100167" y="710089"/>
                    <a:pt x="2089309" y="826008"/>
                  </a:cubicBezTo>
                  <a:cubicBezTo>
                    <a:pt x="2079784" y="927545"/>
                    <a:pt x="2061401" y="1032891"/>
                    <a:pt x="1987582" y="1101185"/>
                  </a:cubicBezTo>
                  <a:cubicBezTo>
                    <a:pt x="1941481" y="1143762"/>
                    <a:pt x="1880616" y="1165670"/>
                    <a:pt x="1818037" y="1173004"/>
                  </a:cubicBezTo>
                  <a:cubicBezTo>
                    <a:pt x="1775746" y="1177957"/>
                    <a:pt x="1732693" y="1175195"/>
                    <a:pt x="1694402" y="1157097"/>
                  </a:cubicBezTo>
                  <a:cubicBezTo>
                    <a:pt x="1638110" y="1130427"/>
                    <a:pt x="1600295" y="1075373"/>
                    <a:pt x="1594676" y="1013555"/>
                  </a:cubicBezTo>
                  <a:cubicBezTo>
                    <a:pt x="1587532" y="934879"/>
                    <a:pt x="1635633" y="864870"/>
                    <a:pt x="1664494" y="790289"/>
                  </a:cubicBezTo>
                  <a:cubicBezTo>
                    <a:pt x="1696974" y="706279"/>
                    <a:pt x="1708594" y="613791"/>
                    <a:pt x="1684401" y="527114"/>
                  </a:cubicBezTo>
                  <a:cubicBezTo>
                    <a:pt x="1663351" y="451580"/>
                    <a:pt x="1616488" y="386620"/>
                    <a:pt x="1550765" y="343662"/>
                  </a:cubicBezTo>
                  <a:cubicBezTo>
                    <a:pt x="1480947" y="298133"/>
                    <a:pt x="1397508" y="282131"/>
                    <a:pt x="1315402" y="265938"/>
                  </a:cubicBezTo>
                  <a:cubicBezTo>
                    <a:pt x="1170051" y="237173"/>
                    <a:pt x="1024128" y="212027"/>
                    <a:pt x="876586" y="200120"/>
                  </a:cubicBezTo>
                  <a:cubicBezTo>
                    <a:pt x="781717" y="192500"/>
                    <a:pt x="686276" y="193643"/>
                    <a:pt x="591312" y="186119"/>
                  </a:cubicBezTo>
                  <a:cubicBezTo>
                    <a:pt x="465296" y="176213"/>
                    <a:pt x="160211" y="193453"/>
                    <a:pt x="0" y="16669"/>
                  </a:cubicBezTo>
                </a:path>
              </a:pathLst>
            </a:custGeom>
            <a:noFill/>
            <a:ln w="9525" cap="rnd">
              <a:solidFill>
                <a:schemeClr val="accent2">
                  <a:alpha val="35000"/>
                </a:schemeClr>
              </a:solidFill>
              <a:prstDash val="lgDash"/>
              <a:round/>
            </a:ln>
          </p:spPr>
          <p:txBody>
            <a:bodyPr rtlCol="0" anchor="ctr"/>
            <a:lstStyle/>
            <a:p>
              <a:endParaRPr lang="en-US"/>
            </a:p>
          </p:txBody>
        </p:sp>
      </p:grpSp>
      <p:grpSp>
        <p:nvGrpSpPr>
          <p:cNvPr id="59" name="Bottom Right">
            <a:extLst>
              <a:ext uri="{FF2B5EF4-FFF2-40B4-BE49-F238E27FC236}">
                <a16:creationId xmlns:a16="http://schemas.microsoft.com/office/drawing/2014/main" id="{88540B56-6256-419C-AC81-7B56D0DD72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0" name="Freeform: Shape 59">
              <a:extLst>
                <a:ext uri="{FF2B5EF4-FFF2-40B4-BE49-F238E27FC236}">
                  <a16:creationId xmlns:a16="http://schemas.microsoft.com/office/drawing/2014/main" id="{EB5E9C2F-6749-4023-8E94-45C1C3FC6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1" name="Graphic 157">
              <a:extLst>
                <a:ext uri="{FF2B5EF4-FFF2-40B4-BE49-F238E27FC236}">
                  <a16:creationId xmlns:a16="http://schemas.microsoft.com/office/drawing/2014/main" id="{D87C11F9-4A6E-44BC-BF6C-0468EFD71B2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3" name="Freeform: Shape 62">
                <a:extLst>
                  <a:ext uri="{FF2B5EF4-FFF2-40B4-BE49-F238E27FC236}">
                    <a16:creationId xmlns:a16="http://schemas.microsoft.com/office/drawing/2014/main" id="{2B1B9F72-6727-48A7-A229-1B9E8620C6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4" name="Freeform: Shape 63">
                <a:extLst>
                  <a:ext uri="{FF2B5EF4-FFF2-40B4-BE49-F238E27FC236}">
                    <a16:creationId xmlns:a16="http://schemas.microsoft.com/office/drawing/2014/main" id="{F112D38F-1CDF-4293-96FC-2190D0395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CF3E4DE9-57D9-4C4C-BE4E-7F081A1B3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6BB673C9-C994-4CA3-B78E-F65C5F8C6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9B6FF51D-0B4A-4C30-AEC8-D66E88C98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DCF516A0-FBBD-4A87-9E93-708625DE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9" name="Freeform: Shape 68">
                <a:extLst>
                  <a:ext uri="{FF2B5EF4-FFF2-40B4-BE49-F238E27FC236}">
                    <a16:creationId xmlns:a16="http://schemas.microsoft.com/office/drawing/2014/main" id="{6F1EDD83-3119-40A9-B093-626EB1B12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2" name="Freeform: Shape 61">
              <a:extLst>
                <a:ext uri="{FF2B5EF4-FFF2-40B4-BE49-F238E27FC236}">
                  <a16:creationId xmlns:a16="http://schemas.microsoft.com/office/drawing/2014/main" id="{BA5F46DB-9B25-49AD-BC98-191E88919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D6466DA-31A6-E292-1347-9F912D4E9793}"/>
              </a:ext>
            </a:extLst>
          </p:cNvPr>
          <p:cNvSpPr>
            <a:spLocks noGrp="1"/>
          </p:cNvSpPr>
          <p:nvPr>
            <p:ph type="title"/>
          </p:nvPr>
        </p:nvSpPr>
        <p:spPr>
          <a:xfrm>
            <a:off x="994404" y="731041"/>
            <a:ext cx="10191942" cy="3173034"/>
          </a:xfrm>
        </p:spPr>
        <p:txBody>
          <a:bodyPr vert="horz" lIns="91440" tIns="45720" rIns="91440" bIns="45720" rtlCol="0" anchor="b">
            <a:normAutofit/>
          </a:bodyPr>
          <a:lstStyle/>
          <a:p>
            <a:pPr algn="ctr"/>
            <a:r>
              <a:rPr lang="en-US" sz="6600" kern="1200">
                <a:solidFill>
                  <a:schemeClr val="tx2"/>
                </a:solidFill>
                <a:latin typeface="+mj-lt"/>
                <a:ea typeface="+mj-ea"/>
                <a:cs typeface="+mj-cs"/>
              </a:rPr>
              <a:t>Questions?</a:t>
            </a:r>
          </a:p>
        </p:txBody>
      </p:sp>
      <p:grpSp>
        <p:nvGrpSpPr>
          <p:cNvPr id="71" name="Cross">
            <a:extLst>
              <a:ext uri="{FF2B5EF4-FFF2-40B4-BE49-F238E27FC236}">
                <a16:creationId xmlns:a16="http://schemas.microsoft.com/office/drawing/2014/main" id="{DDB99EF5-8801-40E2-83D3-196FADCBBA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30939" y="3874229"/>
            <a:ext cx="118872" cy="118872"/>
            <a:chOff x="1175347" y="3733800"/>
            <a:chExt cx="118872" cy="118872"/>
          </a:xfrm>
        </p:grpSpPr>
        <p:cxnSp>
          <p:nvCxnSpPr>
            <p:cNvPr id="72" name="Straight Connector 71">
              <a:extLst>
                <a:ext uri="{FF2B5EF4-FFF2-40B4-BE49-F238E27FC236}">
                  <a16:creationId xmlns:a16="http://schemas.microsoft.com/office/drawing/2014/main" id="{50FE3A76-C0EC-41F2-92AD-1A75BA3771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73" name="Straight Connector 72">
              <a:extLst>
                <a:ext uri="{FF2B5EF4-FFF2-40B4-BE49-F238E27FC236}">
                  <a16:creationId xmlns:a16="http://schemas.microsoft.com/office/drawing/2014/main" id="{C22AF00A-AACB-4D06-A706-4231FD4EC6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11270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1966</TotalTime>
  <Words>1423</Words>
  <Application>Microsoft Macintosh PowerPoint</Application>
  <PresentationFormat>Widescreen</PresentationFormat>
  <Paragraphs>129</Paragraphs>
  <Slides>32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Arial</vt:lpstr>
      <vt:lpstr>Avenir Next LT Pro</vt:lpstr>
      <vt:lpstr>AvenirNext LT Pro Medium</vt:lpstr>
      <vt:lpstr>Posterama</vt:lpstr>
      <vt:lpstr>Segoe UI Semilight</vt:lpstr>
      <vt:lpstr>ExploreVTI</vt:lpstr>
      <vt:lpstr>Sharding Simulations</vt:lpstr>
      <vt:lpstr>Contents</vt:lpstr>
      <vt:lpstr>Motivation</vt:lpstr>
      <vt:lpstr>Motivation</vt:lpstr>
      <vt:lpstr>What is Blockchain Sharding?</vt:lpstr>
      <vt:lpstr>What is Blockchain Sharding?</vt:lpstr>
      <vt:lpstr>Different Sharding Techniques (Previous Work)</vt:lpstr>
      <vt:lpstr>Different Sharding Techniques (Previous Work)</vt:lpstr>
      <vt:lpstr>Different Sharding Techniques (Previous Work)</vt:lpstr>
      <vt:lpstr>Our Approach - Introduction</vt:lpstr>
      <vt:lpstr>Our Approach – MEMO Architecture</vt:lpstr>
      <vt:lpstr>Our Approach - Design</vt:lpstr>
      <vt:lpstr>Our Approach – Design</vt:lpstr>
      <vt:lpstr>Our Approach – Network Communication</vt:lpstr>
      <vt:lpstr>Our Approach – Network Communication (No Metronome)</vt:lpstr>
      <vt:lpstr>Our Approach – Network Communication (Leader Metronome)</vt:lpstr>
      <vt:lpstr>Our Approach – Tool Validation</vt:lpstr>
      <vt:lpstr>Our Approach – Tool Validation</vt:lpstr>
      <vt:lpstr>Our Approach – Tool Validation</vt:lpstr>
      <vt:lpstr>Our Approach – Tool Validation</vt:lpstr>
      <vt:lpstr>Our Approach – Tool Validation</vt:lpstr>
      <vt:lpstr>Results of Simulation – Intra Region</vt:lpstr>
      <vt:lpstr>Results of Simulation – Intra Region</vt:lpstr>
      <vt:lpstr>Results of Simulation – Intra Region</vt:lpstr>
      <vt:lpstr>Results of Simulation – US WAN Baseline</vt:lpstr>
      <vt:lpstr>Results of Simulation – US WAN Baseline</vt:lpstr>
      <vt:lpstr>Results of Simulation – US WAN Baseline</vt:lpstr>
      <vt:lpstr>Results of Simulation – Global WAN</vt:lpstr>
      <vt:lpstr>Results of Simulation – Global WAN</vt:lpstr>
      <vt:lpstr>Results of Simulation – Global WAN</vt:lpstr>
      <vt:lpstr>Future Work</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 Amit Gandhi</dc:creator>
  <cp:lastModifiedBy>Om Amit Gandhi</cp:lastModifiedBy>
  <cp:revision>22</cp:revision>
  <dcterms:created xsi:type="dcterms:W3CDTF">2025-10-14T19:42:42Z</dcterms:created>
  <dcterms:modified xsi:type="dcterms:W3CDTF">2026-01-22T21:38:31Z</dcterms:modified>
</cp:coreProperties>
</file>